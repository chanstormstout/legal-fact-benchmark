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83c38ff55a43d3" /><Relationship Type="http://schemas.openxmlformats.org/officeDocument/2006/relationships/extended-properties" Target="/docProps/app.xml" Id="Rd1f46f0761204b56" /><Relationship Type="http://schemas.openxmlformats.org/officeDocument/2006/relationships/officeDocument" Target="/ppt/presentation.xml" Id="R51725c31c3c04ac5" /></Relationships>
</file>

<file path=ppt/presentation.xml><?xml version="1.0" encoding="utf-8"?>
<p:presentation xmlns:p="http://schemas.openxmlformats.org/presentationml/2006/main">
  <p:sldMasterIdLst>
    <p:sldMasterId xmlns:r="http://schemas.openxmlformats.org/officeDocument/2006/relationships" id="2147483648" r:id="R8d35ca36016d456e"/>
  </p:sldMasterIdLst>
  <p:notesMasterIdLst>
    <p:notesMasterId xmlns:r="http://schemas.openxmlformats.org/officeDocument/2006/relationships" r:id="R64645995358a4561"/>
  </p:notesMasterIdLst>
  <p:sldIdLst>
    <p:sldId xmlns:r="http://schemas.openxmlformats.org/officeDocument/2006/relationships" id="256" r:id="R8060ebc1633345b9"/>
    <p:sldId xmlns:r="http://schemas.openxmlformats.org/officeDocument/2006/relationships" id="257" r:id="R84710962dfca4027"/>
    <p:sldId xmlns:r="http://schemas.openxmlformats.org/officeDocument/2006/relationships" id="258" r:id="R71f278f4ba9043e8"/>
    <p:sldId xmlns:r="http://schemas.openxmlformats.org/officeDocument/2006/relationships" id="259" r:id="R95271279b6444059"/>
    <p:sldId xmlns:r="http://schemas.openxmlformats.org/officeDocument/2006/relationships" id="260" r:id="Rfba10acbb1314c3f"/>
    <p:sldId xmlns:r="http://schemas.openxmlformats.org/officeDocument/2006/relationships" id="261" r:id="R8124d2f1c6494904"/>
    <p:sldId xmlns:r="http://schemas.openxmlformats.org/officeDocument/2006/relationships" id="262" r:id="R515a4b21bb5e49bd"/>
    <p:sldId xmlns:r="http://schemas.openxmlformats.org/officeDocument/2006/relationships" id="263" r:id="R03d7edbf60444d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f3f4a0f8fa4aa3" /><Relationship Type="http://schemas.openxmlformats.org/officeDocument/2006/relationships/slideMaster" Target="/ppt/slideMasters/slideMaster1.xml" Id="R8d35ca36016d456e" /><Relationship Type="http://schemas.openxmlformats.org/officeDocument/2006/relationships/notesMaster" Target="/ppt/notesMasters/notesMaster1.xml" Id="R64645995358a4561" /><Relationship Type="http://schemas.openxmlformats.org/officeDocument/2006/relationships/presProps" Target="/ppt/presProps.xml" Id="R4a553240439d48f7" /><Relationship Type="http://schemas.openxmlformats.org/officeDocument/2006/relationships/tableStyles" Target="/ppt/tableStyles.xml" Id="R4230c471aa1248e9" /><Relationship Type="http://schemas.openxmlformats.org/officeDocument/2006/relationships/slide" Target="/ppt/slides/slide1.xml" Id="R8060ebc1633345b9" /><Relationship Type="http://schemas.openxmlformats.org/officeDocument/2006/relationships/slide" Target="/ppt/slides/slide2.xml" Id="R84710962dfca4027" /><Relationship Type="http://schemas.openxmlformats.org/officeDocument/2006/relationships/slide" Target="/ppt/slides/slide3.xml" Id="R71f278f4ba9043e8" /><Relationship Type="http://schemas.openxmlformats.org/officeDocument/2006/relationships/slide" Target="/ppt/slides/slide4.xml" Id="R95271279b6444059" /><Relationship Type="http://schemas.openxmlformats.org/officeDocument/2006/relationships/slide" Target="/ppt/slides/slide5.xml" Id="Rfba10acbb1314c3f" /><Relationship Type="http://schemas.openxmlformats.org/officeDocument/2006/relationships/slide" Target="/ppt/slides/slide6.xml" Id="R8124d2f1c6494904" /><Relationship Type="http://schemas.openxmlformats.org/officeDocument/2006/relationships/slide" Target="/ppt/slides/slide7.xml" Id="R515a4b21bb5e49bd" /><Relationship Type="http://schemas.openxmlformats.org/officeDocument/2006/relationships/slide" Target="/ppt/slides/slide8.xml" Id="R03d7edbf60444d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b076a1fa9648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026be3d6e940ff" /><Relationship Type="http://schemas.openxmlformats.org/officeDocument/2006/relationships/notesMaster" Target="/ppt/notesMasters/notesMaster1.xml" Id="Rc9f9d0613d9543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d11cdb09224f90" /><Relationship Type="http://schemas.openxmlformats.org/officeDocument/2006/relationships/notesMaster" Target="/ppt/notesMasters/notesMaster1.xml" Id="R38d369035c3942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f0043d6d7b46aa" /><Relationship Type="http://schemas.openxmlformats.org/officeDocument/2006/relationships/notesMaster" Target="/ppt/notesMasters/notesMaster1.xml" Id="R4a789c46dc1440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93e5594bc54f95" /><Relationship Type="http://schemas.openxmlformats.org/officeDocument/2006/relationships/notesMaster" Target="/ppt/notesMasters/notesMaster1.xml" Id="Rf30f282793a14b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01ece0a8324b3b" /><Relationship Type="http://schemas.openxmlformats.org/officeDocument/2006/relationships/notesMaster" Target="/ppt/notesMasters/notesMaster1.xml" Id="Re5232c53be004c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6b28e377b74b0e" /><Relationship Type="http://schemas.openxmlformats.org/officeDocument/2006/relationships/notesMaster" Target="/ppt/notesMasters/notesMaster1.xml" Id="Re9088df9edbc44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6244b22cf74574" /><Relationship Type="http://schemas.openxmlformats.org/officeDocument/2006/relationships/notesMaster" Target="/ppt/notesMasters/notesMaster1.xml" Id="R2406f16769d549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92f042dd254cb9" /><Relationship Type="http://schemas.openxmlformats.org/officeDocument/2006/relationships/notesMaster" Target="/ppt/notesMasters/notesMaster1.xml" Id="R1c6c818bf7f547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makes expressions reusable as fact categories while preserving case-specific identity and statement status. B discovers recurring relational combinations across cases. C builds arguments from sourced, reviewed rules and handles rebuttals. Point to the direct A-to-C line: B assists retrieval/comparison but is neither the only factual entry nor a source of legal rules. The present corpus is judgments, so version one supports retrospective discovery and argument reconstruction, not predecision prediction. The full project also includes factors, elements, requests and issues; these slides focus on algorithms connecting those layers.</a:t>
            </a:r>
          </a:p>
          <a:p xmlns:a="http://schemas.openxmlformats.org/drawingml/2006/main">
            <a:r>
              <a:t/>
            </a:r>
          </a:p>
          <a:p xmlns:a="http://schemas.openxmlformats.org/drawingml/2006/main">
            <a:r>
              <a:t>Sources: Canonicalizing Legal Facts (1).pdf; supplied team assignment and full Evidence-to-Conclusion pipeline. Whiteboard excluded. Design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fictional K1 statements may share PAID_FULL as content, but allegation and court finding belong to different canonical statement classes. Status must affect computation rather than remain unused metadata. A payment family organizes classes without permitting substitution. Preserve parties, contract, time, source span and speaker for each instance. Extract/check slots, retrieve with BM25/embeddings, then test mutual entailment of each abstract-signature condition in both orders before EQ. Missing information, disagreement or added behavior blocks merging. Nondelivery and refusal to deliver illustrate similar wording without equivalence. The original PDF already requires provenance/status; implementation and merge decisions are the proposed work, not those requirements as novelty.</a:t>
            </a:r>
          </a:p>
          <a:p xmlns:a="http://schemas.openxmlformats.org/drawingml/2006/main">
            <a:r>
              <a:t/>
            </a:r>
          </a:p>
          <a:p xmlns:a="http://schemas.openxmlformats.org/drawingml/2006/main">
            <a:r>
              <a:t>Sources: PDF pp2–6; EDC https://aclanthology.org/2024.emnlp-main.548/; Design §§2–3. Hypothetical text, not an actual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Nodes are abstract signatures with shared status/context; edges are checked EQ judgments. Missing edges are either unchecked or non-equivalent, distinguished in storage but both unavailable for co-clustering. Greedy ab leaves c and d singleton; joint ac/bd retains two checked relations without chaining unchecked edges. Binary zij represents same-cluster membership; non-EQ pairs are zero and triangle constraints enforce a partition. Maximize within-cluster EQ edges. Components up to 80 nodes receive 60 seconds; larger ones use full-admission greedy fallback. Recompute affected old/new components after evidence changes and version the result. This is a conditional graph-objective advantage, not improved language judgment. Compare greedy on the same EQ graph and the complete PDF representative-checking pipeline, EDC with shared schema, Cequel and LSCK. Retain greedy if extra solving does not improve correct reuse. Coral marks the example selection, not an established contribution.</a:t>
            </a:r>
          </a:p>
          <a:p xmlns:a="http://schemas.openxmlformats.org/drawingml/2006/main">
            <a:r>
              <a:t/>
            </a:r>
          </a:p>
          <a:p xmlns:a="http://schemas.openxmlformats.org/drawingml/2006/main">
            <a:r>
              <a:t>Sources: Design §3; Bansal et al. Correlation Clustering https://doi.org/10.1023/B:MACH.0000033116.57574.95; Cequel https://arxiv.org/html/2504.15640v2; LSCK https://arxiv.org/html/2601.11118v1. Graph is a constructed mechanism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Initially K1 is paid and K2 undelivered. Co-occurrence in one case is not a same-contract witness; repeating K in the query makes the join fail. A later K1 nondelivery finding supplies a witness. Allegation and court-found views run separately. Begin with one atom and extend by one sharing an entity/event variable. Canonicalize variables/atom order and execute typed joins. Initially use 2–4 content atoms and at most six variables. Count one support per case/request/stage, with dispute groups separately tracking independent recurrence and a fixed denominator. Added conjunctions only shrink witness sets, supporting pruning of valid known-infrequent prefixes. Unknown counts/timeouts are not zero. gSpan already preserves structure, so give it the same typed graph, identities and states and compare cost/coverage rather than claiming exclusive relational ability.</a:t>
            </a:r>
          </a:p>
          <a:p xmlns:a="http://schemas.openxmlformats.org/drawingml/2006/main">
            <a:r>
              <a:t/>
            </a:r>
          </a:p>
          <a:p xmlns:a="http://schemas.openxmlformats.org/drawingml/2006/main">
            <a:r>
              <a:t>Sources: Design §4.2–4.3; WARMR https://www.cs.helsinki.fi/u/htoivone/pubs/dmkd99.pdf; gSpan https://sites.cs.ucsb.edu/~xyan/papers/gSpan-short.pdf. Hypothetical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Redundant patterns waste reading effort. Dictionary calls retain b, s and K bindings; uncovered facts remain literal. Integer programming jointly chooses entries, witness calls and literals to minimize definition, invocation and residual bits. Fix field/ID widths, charge overlapping macros fully and reconstruct every atom. Discovery requires witnesses in at least five dispute groups; selected entries require actual use in at least three groups. These are different constraints at different stages. Version one permits one call per pattern/unit to limit long-case dominance; removing that cap is an ablation. At 300 seconds retain the best feasible solution and report the gap. Optimality guarantees no worse bits than greedy only for the same candidates/code, not legal value. Compare KG-MDL, SLIM/Snor, maximum coverage and same-code greedy. Change the objective or use greedy if small savings reduce expert utility. The three displayed calls are illustrations, not measured support or code lengths.</a:t>
            </a:r>
          </a:p>
          <a:p xmlns:a="http://schemas.openxmlformats.org/drawingml/2006/main">
            <a:r>
              <a:t/>
            </a:r>
          </a:p>
          <a:p xmlns:a="http://schemas.openxmlformats.org/drawingml/2006/main">
            <a:r>
              <a:t>Sources: Design §4.4–4.7; KG-MDL https://arxiv.org/abs/2309.12908; SLIM https://eda.rg.cispa.io/pubs/2012/slim-smets%2Cvreeken.pdf; Snor https://eda.rg.cispa.io/pubs/2025/snor-vanleeuwen%2Cvreeken.pdf.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Extract conditions, exceptions and scope from law, obtain expert review, compile to shared predicates and build arguments with source/rule IDs. A source record states what the document says; defeasible projections produce object-level facts so contrary records coexist and rebut. In the K1 example, A supports no extension and B supports extension; projections mutually rebut. R combines A with other premises, while r2 uses extension to attack that application of r1. The red path abbreviates r2 visually; implementation retains its node. With equal priority, grounded iteration from empty leaves R unresolved. This is neither voting nor model credibility selection. Use reviewed partial priorities and the documented last-link elitist comparison. Undercuts are not blocked by conclusion priority; rebuts directly target defeasible subarguments. The package is finite, function-free and has a positive-dependency DAG, though attacks can cycle. Construction limits prevent certified conclusions from incomplete graphs.</a:t>
            </a:r>
          </a:p>
          <a:p xmlns:a="http://schemas.openxmlformats.org/drawingml/2006/main">
            <a:r>
              <a:t/>
            </a:r>
          </a:p>
          <a:p xmlns:a="http://schemas.openxmlformats.org/drawingml/2006/main">
            <a:r>
              <a:t>Sources: Design §5; ASPIC+ tutorial https://journals.sagepub.com/doi/10.1080/19462166.2013.869766; ANGRY https://arxiv.org/html/2508.10976v1. Diagram assumes equal-priority conflicting projections.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running example lacks K1's due date; payment plus nondelivery cannot fill that legal premise. Distinguish reviewed rule policies. If explicit exclusion of extension is required, missing evidence prevents an argument. If ordinary conditions permit default application and extension attacks it, an argument can exist without an extension record, without inventing a no-extension fact. Source-based policy must be fixed before the case, not chosen to obtain a conclusion. Unreviewed policies do not execute. Conflicting extension arguments remain unresolved as on the previous slide. Traces include sources, projections, rule version, attacks, status and gaps. The hypothesis is fewer omitted conditions/arbitrary decisions, not guaranteed legal truth. Reuse a mature ASPIC+ engine supporting the same semantics; retain a simple checklist when equally effective.</a:t>
            </a:r>
          </a:p>
          <a:p xmlns:a="http://schemas.openxmlformats.org/drawingml/2006/main">
            <a:r>
              <a:t/>
            </a:r>
          </a:p>
          <a:p xmlns:a="http://schemas.openxmlformats.org/drawingml/2006/main">
            <a:r>
              <a:t>Sources: Design §§5.3–5.6. All legal conditions on this slide are illustrative, not jurisdiction-specific legal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implementable, falsifiable choices combining established algorithms. A's conditional advantage is strict admission plus joint legal-merge competition, with all additional checking costs counted. B's hypothesis concerns binding, explicit language and redundancy reduction; equally informed gSpan/KG-MDL may match it. C uses mature formal semantics; the challenge is faithful compilation of sources, rules, exceptions and priorities. Start with one issue. Separate development/discovery/confirmation by related dispute groups and separate reviewed-input from automatic-input experiments. Evaluate coverage, correct output and cost together; singleton-only or reject-all cannot win through zero errors. The local inventory contains 6,954 mixed-domain records without ready gold. Small mechanism checks validate abstract/synthetic examples, not real-case performance. The meeting should settle protected legal distinctions, the first issue and expert-review arrangements.</a:t>
            </a:r>
          </a:p>
          <a:p xmlns:a="http://schemas.openxmlformats.org/drawingml/2006/main">
            <a:r>
              <a:t/>
            </a:r>
          </a:p>
          <a:p xmlns:a="http://schemas.openxmlformats.org/drawingml/2006/main">
            <a:r>
              <a:t>Sources: Design §§1,6–8 and 文献与选型依据.md. ClassMATe https://aclanthology.org/2025.tacl-1.55/; legal formalization https://arxiv.org/html/2506.08899v3. No empirical superiority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9b4c9bbadb49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314ea5d2a24ea3" /><Relationship Type="http://schemas.openxmlformats.org/officeDocument/2006/relationships/slideLayout" Target="/ppt/slideLayouts/slideLayout1.xml" Id="Ref593518f36448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593518f36448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f8a137922846bf" /><Relationship Type="http://schemas.openxmlformats.org/officeDocument/2006/relationships/notesSlide" Target="/ppt/notesSlides/notesSlide1.xml" Id="Rd19cb3a76bd249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43b83ab28742c5" /><Relationship Type="http://schemas.openxmlformats.org/officeDocument/2006/relationships/notesSlide" Target="/ppt/notesSlides/notesSlide2.xml" Id="Rbfe82d38d88149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3f3e8237ed495c" /><Relationship Type="http://schemas.openxmlformats.org/officeDocument/2006/relationships/notesSlide" Target="/ppt/notesSlides/notesSlide3.xml" Id="R946e61a1499349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47fe966f144967" /><Relationship Type="http://schemas.openxmlformats.org/officeDocument/2006/relationships/notesSlide" Target="/ppt/notesSlides/notesSlide4.xml" Id="R5f63cb157cbb41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ad5cbfefce41f0" /><Relationship Type="http://schemas.openxmlformats.org/officeDocument/2006/relationships/notesSlide" Target="/ppt/notesSlides/notesSlide5.xml" Id="R9521215cdd344a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87be18855644f2" /><Relationship Type="http://schemas.openxmlformats.org/officeDocument/2006/relationships/notesSlide" Target="/ppt/notesSlides/notesSlide6.xml" Id="Recb88ba5abff46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27673026117457f" /><Relationship Type="http://schemas.openxmlformats.org/officeDocument/2006/relationships/notesSlide" Target="/ppt/notesSlides/notesSlide7.xml" Id="R05fd6cb127614e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1127402b04476e" /><Relationship Type="http://schemas.openxmlformats.org/officeDocument/2006/relationships/notesSlide" Target="/ppt/notesSlides/notesSlide8.xml" Id="Re0b5399a7fc34c2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text-1">
            <a:extLst xmlns:a="http://schemas.openxmlformats.org/drawingml/2006/main">
              <a:ext uri="{FF2B5EF4-FFF2-40B4-BE49-F238E27FC236}">
                <a16:creationId xmlns:a16="http://schemas.microsoft.com/office/drawing/2014/main" id="{A6348B82-FEC7-482A-9B6B-0160CE23B242}"/>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Legal fact algorithms</a:t>
            </a:r>
          </a:p>
        </p:txBody>
      </p:sp>
      <p:sp>
        <p:nvSpPr>
          <p:cNvPr id="2" name="text-2">
            <a:extLst xmlns:a="http://schemas.openxmlformats.org/drawingml/2006/main">
              <a:ext uri="{FF2B5EF4-FFF2-40B4-BE49-F238E27FC236}">
                <a16:creationId xmlns:a16="http://schemas.microsoft.com/office/drawing/2014/main" id="{A7936BD6-00E9-4DA9-91ED-9D5BF1CDC12C}"/>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A research design for comparing cases and reconstructing legal reasoning</a:t>
            </a:r>
          </a:p>
        </p:txBody>
      </p:sp>
      <p:sp>
        <p:nvSpPr>
          <p:cNvPr id="3" name="text-3">
            <a:extLst xmlns:a="http://schemas.openxmlformats.org/drawingml/2006/main">
              <a:ext uri="{FF2B5EF4-FFF2-40B4-BE49-F238E27FC236}">
                <a16:creationId xmlns:a16="http://schemas.microsoft.com/office/drawing/2014/main" id="{647B2BE8-9B73-4F8E-ABAE-2DE2AC752A8A}"/>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01</a:t>
            </a:r>
          </a:p>
        </p:txBody>
      </p:sp>
      <p:sp>
        <p:nvSpPr>
          <p:cNvPr id="4" name="shape-4">
            <a:extLst xmlns:a="http://schemas.openxmlformats.org/drawingml/2006/main">
              <a:ext uri="{FF2B5EF4-FFF2-40B4-BE49-F238E27FC236}">
                <a16:creationId xmlns:a16="http://schemas.microsoft.com/office/drawing/2014/main" id="{B38C7DB4-9D34-438A-A6A2-E039427D85B4}"/>
              </a:ext>
            </a:extLst>
          </p:cNvPr>
          <p:cNvSpPr>
            <a:spLocks xmlns:a="http://schemas.openxmlformats.org/drawingml/2006/main" noGrp="1"/>
          </p:cNvSpPr>
          <p:nvPr/>
        </p:nvSpPr>
        <p:spPr>
          <a:xfrm xmlns:a="http://schemas.openxmlformats.org/drawingml/2006/main">
            <a:off x="790575" y="2371725"/>
            <a:ext cx="62865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5" name="shape-5">
            <a:extLst xmlns:a="http://schemas.openxmlformats.org/drawingml/2006/main">
              <a:ext uri="{FF2B5EF4-FFF2-40B4-BE49-F238E27FC236}">
                <a16:creationId xmlns:a16="http://schemas.microsoft.com/office/drawing/2014/main" id="{B1D5768F-916E-4E61-BB30-2C1091EBC83C}"/>
              </a:ext>
            </a:extLst>
          </p:cNvPr>
          <p:cNvSpPr>
            <a:spLocks xmlns:a="http://schemas.openxmlformats.org/drawingml/2006/main" noGrp="1"/>
          </p:cNvSpPr>
          <p:nvPr/>
        </p:nvSpPr>
        <p:spPr>
          <a:xfrm xmlns:a="http://schemas.openxmlformats.org/drawingml/2006/main">
            <a:off x="1266825" y="2371725"/>
            <a:ext cx="152400" cy="152400"/>
          </a:xfrm>
          <a:prstGeom xmlns:a="http://schemas.openxmlformats.org/drawingml/2006/main" prst="rect">
            <a:avLst/>
          </a:prstGeom>
          <a:solidFill xmlns:a="http://schemas.openxmlformats.org/drawingml/2006/main">
            <a:srgbClr val="EAF0F6"/>
          </a:solidFill>
          <a:ln xmlns:a="http://schemas.openxmlformats.org/drawingml/2006/main" w="19050">
            <a:solidFill>
              <a:srgbClr val="63758A"/>
            </a:solidFill>
          </a:ln>
        </p:spPr>
      </p:sp>
      <p:sp>
        <p:nvSpPr>
          <p:cNvPr id="6" name="">
            <a:extLst xmlns:a="http://schemas.openxmlformats.org/drawingml/2006/main">
              <a:ext uri="{FF2B5EF4-FFF2-40B4-BE49-F238E27FC236}">
                <a16:creationId xmlns:a16="http://schemas.microsoft.com/office/drawing/2014/main" id="{7A305094-F296-44CC-9E56-FFB437DD6FE0}"/>
              </a:ext>
            </a:extLst>
          </p:cNvPr>
          <p:cNvSpPr>
            <a:spLocks xmlns:a="http://schemas.openxmlformats.org/drawingml/2006/main" noGrp="1"/>
          </p:cNvSpPr>
          <p:nvPr/>
        </p:nvSpPr>
        <p:spPr>
          <a:xfrm xmlns:a="http://schemas.openxmlformats.org/drawingml/2006/main" flipV="0">
            <a:off x="904875" y="2657475"/>
            <a:ext cx="4000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7" name="">
            <a:extLst xmlns:a="http://schemas.openxmlformats.org/drawingml/2006/main">
              <a:ext uri="{FF2B5EF4-FFF2-40B4-BE49-F238E27FC236}">
                <a16:creationId xmlns:a16="http://schemas.microsoft.com/office/drawing/2014/main" id="{71DF086C-B9EA-4C1B-9D3F-2939F4B350EF}"/>
              </a:ext>
            </a:extLst>
          </p:cNvPr>
          <p:cNvSpPr>
            <a:spLocks xmlns:a="http://schemas.openxmlformats.org/drawingml/2006/main" noGrp="1"/>
          </p:cNvSpPr>
          <p:nvPr/>
        </p:nvSpPr>
        <p:spPr>
          <a:xfrm xmlns:a="http://schemas.openxmlformats.org/drawingml/2006/main" flipV="0">
            <a:off x="904875" y="2771775"/>
            <a:ext cx="4000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8" name="">
            <a:extLst xmlns:a="http://schemas.openxmlformats.org/drawingml/2006/main">
              <a:ext uri="{FF2B5EF4-FFF2-40B4-BE49-F238E27FC236}">
                <a16:creationId xmlns:a16="http://schemas.microsoft.com/office/drawing/2014/main" id="{97756B28-8B94-4442-AEBC-FEE220F374B6}"/>
              </a:ext>
            </a:extLst>
          </p:cNvPr>
          <p:cNvSpPr>
            <a:spLocks xmlns:a="http://schemas.openxmlformats.org/drawingml/2006/main" noGrp="1"/>
          </p:cNvSpPr>
          <p:nvPr/>
        </p:nvSpPr>
        <p:spPr>
          <a:xfrm xmlns:a="http://schemas.openxmlformats.org/drawingml/2006/main" flipV="0">
            <a:off x="904875" y="2886075"/>
            <a:ext cx="4000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9" name="text-6">
            <a:extLst xmlns:a="http://schemas.openxmlformats.org/drawingml/2006/main">
              <a:ext uri="{FF2B5EF4-FFF2-40B4-BE49-F238E27FC236}">
                <a16:creationId xmlns:a16="http://schemas.microsoft.com/office/drawing/2014/main" id="{354C3867-DACF-4A70-A224-45957006C4DC}"/>
              </a:ext>
            </a:extLst>
          </p:cNvPr>
          <p:cNvSpPr>
            <a:spLocks xmlns:a="http://schemas.openxmlformats.org/drawingml/2006/main" noGrp="1"/>
          </p:cNvSpPr>
          <p:nvPr/>
        </p:nvSpPr>
        <p:spPr>
          <a:xfrm xmlns:a="http://schemas.openxmlformats.org/drawingml/2006/main">
            <a:off x="552450" y="3371850"/>
            <a:ext cx="152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172C36"/>
                </a:solidFill>
                <a:latin typeface="Helvetica Neue"/>
                <a:ea typeface="Helvetica Neue"/>
                <a:cs typeface="Helvetica Neue"/>
              </a:defRPr>
            </a:pPr>
            <a:r>
              <a:rPr sz="1875" b="1">
                <a:solidFill>
                  <a:srgbClr val="172C36"/>
                </a:solidFill>
                <a:latin typeface="Helvetica Neue"/>
                <a:ea typeface="Helvetica Neue"/>
                <a:cs typeface="Helvetica Neue"/>
              </a:rPr>
              <a:t>Judgment</a:t>
            </a:r>
          </a:p>
          <a:p xmlns:a="http://schemas.openxmlformats.org/drawingml/2006/main">
            <a:pPr algn="ctr">
              <a:defRPr sz="1875" b="1">
                <a:solidFill>
                  <a:srgbClr val="172C36"/>
                </a:solidFill>
                <a:latin typeface="Helvetica Neue"/>
                <a:ea typeface="Helvetica Neue"/>
                <a:cs typeface="Helvetica Neue"/>
              </a:defRPr>
            </a:pPr>
            <a:r>
              <a:rPr sz="1875" b="1">
                <a:solidFill>
                  <a:srgbClr val="172C36"/>
                </a:solidFill>
                <a:latin typeface="Helvetica Neue"/>
                <a:ea typeface="Helvetica Neue"/>
                <a:cs typeface="Helvetica Neue"/>
              </a:rPr>
              <a:t>passages</a:t>
            </a:r>
          </a:p>
        </p:txBody>
      </p:sp>
      <p:sp>
        <p:nvSpPr>
          <p:cNvPr id="10" name="shape-7">
            <a:extLst xmlns:a="http://schemas.openxmlformats.org/drawingml/2006/main">
              <a:ext uri="{FF2B5EF4-FFF2-40B4-BE49-F238E27FC236}">
                <a16:creationId xmlns:a16="http://schemas.microsoft.com/office/drawing/2014/main" id="{DB823031-366B-4DF3-A784-6412D6FF9230}"/>
              </a:ext>
            </a:extLst>
          </p:cNvPr>
          <p:cNvSpPr>
            <a:spLocks xmlns:a="http://schemas.openxmlformats.org/drawingml/2006/main" noGrp="1"/>
          </p:cNvSpPr>
          <p:nvPr/>
        </p:nvSpPr>
        <p:spPr>
          <a:xfrm xmlns:a="http://schemas.openxmlformats.org/drawingml/2006/main">
            <a:off x="2476500" y="2314575"/>
            <a:ext cx="2333625" cy="990600"/>
          </a:xfrm>
          <a:prstGeom xmlns:a="http://schemas.openxmlformats.org/drawingml/2006/main" prst="roundRect">
            <a:avLst>
              <a:gd name="adj" fmla="val 9615"/>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A</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Canonical facts</a:t>
            </a:r>
          </a:p>
        </p:txBody>
      </p:sp>
      <p:sp>
        <p:nvSpPr>
          <p:cNvPr id="11" name="shape-8">
            <a:extLst xmlns:a="http://schemas.openxmlformats.org/drawingml/2006/main">
              <a:ext uri="{FF2B5EF4-FFF2-40B4-BE49-F238E27FC236}">
                <a16:creationId xmlns:a16="http://schemas.microsoft.com/office/drawing/2014/main" id="{2DAF65A4-F2C1-4D84-9A3F-DEE1C1C2D37E}"/>
              </a:ext>
            </a:extLst>
          </p:cNvPr>
          <p:cNvSpPr>
            <a:spLocks xmlns:a="http://schemas.openxmlformats.org/drawingml/2006/main" noGrp="1"/>
          </p:cNvSpPr>
          <p:nvPr/>
        </p:nvSpPr>
        <p:spPr>
          <a:xfrm xmlns:a="http://schemas.openxmlformats.org/drawingml/2006/main">
            <a:off x="5648325" y="2314575"/>
            <a:ext cx="2333625" cy="990600"/>
          </a:xfrm>
          <a:prstGeom xmlns:a="http://schemas.openxmlformats.org/drawingml/2006/main" prst="roundRect">
            <a:avLst>
              <a:gd name="adj" fmla="val 9615"/>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B</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Fact patterns</a:t>
            </a:r>
          </a:p>
        </p:txBody>
      </p:sp>
      <p:sp>
        <p:nvSpPr>
          <p:cNvPr id="12" name="shape-9">
            <a:extLst xmlns:a="http://schemas.openxmlformats.org/drawingml/2006/main">
              <a:ext uri="{FF2B5EF4-FFF2-40B4-BE49-F238E27FC236}">
                <a16:creationId xmlns:a16="http://schemas.microsoft.com/office/drawing/2014/main" id="{A666A946-803C-438B-869E-412F3BB24F7A}"/>
              </a:ext>
            </a:extLst>
          </p:cNvPr>
          <p:cNvSpPr>
            <a:spLocks xmlns:a="http://schemas.openxmlformats.org/drawingml/2006/main" noGrp="1"/>
          </p:cNvSpPr>
          <p:nvPr/>
        </p:nvSpPr>
        <p:spPr>
          <a:xfrm xmlns:a="http://schemas.openxmlformats.org/drawingml/2006/main">
            <a:off x="8829675" y="2314575"/>
            <a:ext cx="2714625" cy="990600"/>
          </a:xfrm>
          <a:prstGeom xmlns:a="http://schemas.openxmlformats.org/drawingml/2006/main" prst="roundRect">
            <a:avLst>
              <a:gd name="adj" fmla="val 9615"/>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C</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Legal arguments</a:t>
            </a:r>
          </a:p>
        </p:txBody>
      </p:sp>
      <p:sp>
        <p:nvSpPr>
          <p:cNvPr id="13" name="">
            <a:extLst xmlns:a="http://schemas.openxmlformats.org/drawingml/2006/main">
              <a:ext uri="{FF2B5EF4-FFF2-40B4-BE49-F238E27FC236}">
                <a16:creationId xmlns:a16="http://schemas.microsoft.com/office/drawing/2014/main" id="{75462D9A-5128-4BE6-AEF7-DF3025B14158}"/>
              </a:ext>
            </a:extLst>
          </p:cNvPr>
          <p:cNvSpPr>
            <a:spLocks xmlns:a="http://schemas.openxmlformats.org/drawingml/2006/main" noGrp="1"/>
          </p:cNvSpPr>
          <p:nvPr/>
        </p:nvSpPr>
        <p:spPr>
          <a:xfrm xmlns:a="http://schemas.openxmlformats.org/drawingml/2006/main" flipV="0">
            <a:off x="1571625" y="2809875"/>
            <a:ext cx="90487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4" name="">
            <a:extLst xmlns:a="http://schemas.openxmlformats.org/drawingml/2006/main">
              <a:ext uri="{FF2B5EF4-FFF2-40B4-BE49-F238E27FC236}">
                <a16:creationId xmlns:a16="http://schemas.microsoft.com/office/drawing/2014/main" id="{29090D17-6E60-496E-92DA-EF5D8E49F1E3}"/>
              </a:ext>
            </a:extLst>
          </p:cNvPr>
          <p:cNvSpPr>
            <a:spLocks xmlns:a="http://schemas.openxmlformats.org/drawingml/2006/main" noGrp="1"/>
          </p:cNvSpPr>
          <p:nvPr/>
        </p:nvSpPr>
        <p:spPr>
          <a:xfrm xmlns:a="http://schemas.openxmlformats.org/drawingml/2006/main">
            <a:off x="2400300" y="27717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5" name="">
            <a:extLst xmlns:a="http://schemas.openxmlformats.org/drawingml/2006/main">
              <a:ext uri="{FF2B5EF4-FFF2-40B4-BE49-F238E27FC236}">
                <a16:creationId xmlns:a16="http://schemas.microsoft.com/office/drawing/2014/main" id="{71FA6C7A-82A7-4CAC-866C-7AF5D0D63F52}"/>
              </a:ext>
            </a:extLst>
          </p:cNvPr>
          <p:cNvSpPr>
            <a:spLocks xmlns:a="http://schemas.openxmlformats.org/drawingml/2006/main" noGrp="1"/>
          </p:cNvSpPr>
          <p:nvPr/>
        </p:nvSpPr>
        <p:spPr>
          <a:xfrm xmlns:a="http://schemas.openxmlformats.org/drawingml/2006/main" flipV="0">
            <a:off x="4810125" y="2809875"/>
            <a:ext cx="83820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6" name="">
            <a:extLst xmlns:a="http://schemas.openxmlformats.org/drawingml/2006/main">
              <a:ext uri="{FF2B5EF4-FFF2-40B4-BE49-F238E27FC236}">
                <a16:creationId xmlns:a16="http://schemas.microsoft.com/office/drawing/2014/main" id="{BFDE0EE1-6118-421B-B7BD-7FE1C2738B1A}"/>
              </a:ext>
            </a:extLst>
          </p:cNvPr>
          <p:cNvSpPr>
            <a:spLocks xmlns:a="http://schemas.openxmlformats.org/drawingml/2006/main" noGrp="1"/>
          </p:cNvSpPr>
          <p:nvPr/>
        </p:nvSpPr>
        <p:spPr>
          <a:xfrm xmlns:a="http://schemas.openxmlformats.org/drawingml/2006/main">
            <a:off x="5572125" y="27717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7" name="">
            <a:extLst xmlns:a="http://schemas.openxmlformats.org/drawingml/2006/main">
              <a:ext uri="{FF2B5EF4-FFF2-40B4-BE49-F238E27FC236}">
                <a16:creationId xmlns:a16="http://schemas.microsoft.com/office/drawing/2014/main" id="{169AAEBC-BDE9-4254-9C33-87DAEDA685A1}"/>
              </a:ext>
            </a:extLst>
          </p:cNvPr>
          <p:cNvSpPr>
            <a:spLocks xmlns:a="http://schemas.openxmlformats.org/drawingml/2006/main" noGrp="1"/>
          </p:cNvSpPr>
          <p:nvPr/>
        </p:nvSpPr>
        <p:spPr>
          <a:xfrm xmlns:a="http://schemas.openxmlformats.org/drawingml/2006/main" flipV="0">
            <a:off x="7981950" y="2809875"/>
            <a:ext cx="847725" cy="0"/>
          </a:xfrm>
          <a:prstGeom xmlns:a="http://schemas.openxmlformats.org/drawingml/2006/main" prst="line">
            <a:avLst/>
          </a:prstGeom>
          <a:noFill xmlns:a="http://schemas.openxmlformats.org/drawingml/2006/main"/>
          <a:ln xmlns:a="http://schemas.openxmlformats.org/drawingml/2006/main" w="19050">
            <a:solidFill>
              <a:srgbClr val="63758A"/>
            </a:solidFill>
            <a:prstDash val="dash"/>
          </a:ln>
        </p:spPr>
      </p:sp>
      <p:sp>
        <p:nvSpPr>
          <p:cNvPr id="18" name="">
            <a:extLst xmlns:a="http://schemas.openxmlformats.org/drawingml/2006/main">
              <a:ext uri="{FF2B5EF4-FFF2-40B4-BE49-F238E27FC236}">
                <a16:creationId xmlns:a16="http://schemas.microsoft.com/office/drawing/2014/main" id="{3B714669-5B9D-4936-B1C4-4089987C53A3}"/>
              </a:ext>
            </a:extLst>
          </p:cNvPr>
          <p:cNvSpPr>
            <a:spLocks xmlns:a="http://schemas.openxmlformats.org/drawingml/2006/main" noGrp="1"/>
          </p:cNvSpPr>
          <p:nvPr/>
        </p:nvSpPr>
        <p:spPr>
          <a:xfrm xmlns:a="http://schemas.openxmlformats.org/drawingml/2006/main">
            <a:off x="8753475" y="27717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63758A"/>
          </a:solidFill>
          <a:ln xmlns:a="http://schemas.openxmlformats.org/drawingml/2006/main" w="9525">
            <a:solidFill>
              <a:srgbClr val="63758A"/>
            </a:solidFill>
          </a:ln>
        </p:spPr>
      </p:sp>
      <p:sp>
        <p:nvSpPr>
          <p:cNvPr id="19" name="text-10">
            <a:extLst xmlns:a="http://schemas.openxmlformats.org/drawingml/2006/main">
              <a:ext uri="{FF2B5EF4-FFF2-40B4-BE49-F238E27FC236}">
                <a16:creationId xmlns:a16="http://schemas.microsoft.com/office/drawing/2014/main" id="{BDDAF772-634F-4C88-8ECD-9294A6271033}"/>
              </a:ext>
            </a:extLst>
          </p:cNvPr>
          <p:cNvSpPr>
            <a:spLocks xmlns:a="http://schemas.openxmlformats.org/drawingml/2006/main" noGrp="1"/>
          </p:cNvSpPr>
          <p:nvPr/>
        </p:nvSpPr>
        <p:spPr>
          <a:xfrm xmlns:a="http://schemas.openxmlformats.org/drawingml/2006/main">
            <a:off x="7962900" y="2390775"/>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a:solidFill>
                  <a:srgbClr val="566B76"/>
                </a:solidFill>
                <a:latin typeface="Helvetica Neue"/>
                <a:ea typeface="Helvetica Neue"/>
                <a:cs typeface="Helvetica Neue"/>
              </a:defRPr>
            </a:pPr>
            <a:r>
              <a:rPr sz="1425" b="0">
                <a:solidFill>
                  <a:srgbClr val="566B76"/>
                </a:solidFill>
                <a:latin typeface="Helvetica Neue"/>
                <a:ea typeface="Helvetica Neue"/>
                <a:cs typeface="Helvetica Neue"/>
              </a:rPr>
              <a:t>optional</a:t>
            </a:r>
          </a:p>
        </p:txBody>
      </p:sp>
      <p:sp>
        <p:nvSpPr>
          <p:cNvPr id="20" name="text-11">
            <a:extLst xmlns:a="http://schemas.openxmlformats.org/drawingml/2006/main">
              <a:ext uri="{FF2B5EF4-FFF2-40B4-BE49-F238E27FC236}">
                <a16:creationId xmlns:a16="http://schemas.microsoft.com/office/drawing/2014/main" id="{AE1CBF65-4DB3-4DC2-A295-18C5A27FB71F}"/>
              </a:ext>
            </a:extLst>
          </p:cNvPr>
          <p:cNvSpPr>
            <a:spLocks xmlns:a="http://schemas.openxmlformats.org/drawingml/2006/main" noGrp="1"/>
          </p:cNvSpPr>
          <p:nvPr/>
        </p:nvSpPr>
        <p:spPr>
          <a:xfrm xmlns:a="http://schemas.openxmlformats.org/drawingml/2006/main">
            <a:off x="2362200" y="3562350"/>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Which expressions</a:t>
            </a:r>
          </a:p>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share a meaning?</a:t>
            </a:r>
          </a:p>
        </p:txBody>
      </p:sp>
      <p:sp>
        <p:nvSpPr>
          <p:cNvPr id="21" name="text-12">
            <a:extLst xmlns:a="http://schemas.openxmlformats.org/drawingml/2006/main">
              <a:ext uri="{FF2B5EF4-FFF2-40B4-BE49-F238E27FC236}">
                <a16:creationId xmlns:a16="http://schemas.microsoft.com/office/drawing/2014/main" id="{BA948E17-451E-4A39-82FB-B77771BD5A50}"/>
              </a:ext>
            </a:extLst>
          </p:cNvPr>
          <p:cNvSpPr>
            <a:spLocks xmlns:a="http://schemas.openxmlformats.org/drawingml/2006/main" noGrp="1"/>
          </p:cNvSpPr>
          <p:nvPr/>
        </p:nvSpPr>
        <p:spPr>
          <a:xfrm xmlns:a="http://schemas.openxmlformats.org/drawingml/2006/main">
            <a:off x="5476875" y="3562350"/>
            <a:ext cx="26765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Which relationships</a:t>
            </a:r>
          </a:p>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repeat across cases?</a:t>
            </a:r>
          </a:p>
        </p:txBody>
      </p:sp>
      <p:sp>
        <p:nvSpPr>
          <p:cNvPr id="22" name="text-13">
            <a:extLst xmlns:a="http://schemas.openxmlformats.org/drawingml/2006/main">
              <a:ext uri="{FF2B5EF4-FFF2-40B4-BE49-F238E27FC236}">
                <a16:creationId xmlns:a16="http://schemas.microsoft.com/office/drawing/2014/main" id="{FAE97D3D-DB70-404C-A12C-38F71A737D1F}"/>
              </a:ext>
            </a:extLst>
          </p:cNvPr>
          <p:cNvSpPr>
            <a:spLocks xmlns:a="http://schemas.openxmlformats.org/drawingml/2006/main" noGrp="1"/>
          </p:cNvSpPr>
          <p:nvPr/>
        </p:nvSpPr>
        <p:spPr>
          <a:xfrm xmlns:a="http://schemas.openxmlformats.org/drawingml/2006/main">
            <a:off x="8829675" y="3562350"/>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Which conclusions</a:t>
            </a:r>
          </a:p>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survive objections?</a:t>
            </a:r>
          </a:p>
        </p:txBody>
      </p:sp>
      <p:sp>
        <p:nvSpPr>
          <p:cNvPr id="23" name="shape-14">
            <a:extLst xmlns:a="http://schemas.openxmlformats.org/drawingml/2006/main">
              <a:ext uri="{FF2B5EF4-FFF2-40B4-BE49-F238E27FC236}">
                <a16:creationId xmlns:a16="http://schemas.microsoft.com/office/drawing/2014/main" id="{6D59CC17-C50F-4001-9D9B-E8E61C7B4421}"/>
              </a:ext>
            </a:extLst>
          </p:cNvPr>
          <p:cNvSpPr>
            <a:spLocks xmlns:a="http://schemas.openxmlformats.org/drawingml/2006/main" noGrp="1"/>
          </p:cNvSpPr>
          <p:nvPr/>
        </p:nvSpPr>
        <p:spPr>
          <a:xfrm xmlns:a="http://schemas.openxmlformats.org/drawingml/2006/main">
            <a:off x="9429750" y="1495425"/>
            <a:ext cx="34290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24" name="">
            <a:extLst xmlns:a="http://schemas.openxmlformats.org/drawingml/2006/main">
              <a:ext uri="{FF2B5EF4-FFF2-40B4-BE49-F238E27FC236}">
                <a16:creationId xmlns:a16="http://schemas.microsoft.com/office/drawing/2014/main" id="{550C4C6B-F047-4064-A39E-9144A96248EE}"/>
              </a:ext>
            </a:extLst>
          </p:cNvPr>
          <p:cNvSpPr>
            <a:spLocks xmlns:a="http://schemas.openxmlformats.org/drawingml/2006/main" noGrp="1"/>
          </p:cNvSpPr>
          <p:nvPr/>
        </p:nvSpPr>
        <p:spPr>
          <a:xfrm xmlns:a="http://schemas.openxmlformats.org/drawingml/2006/main" flipV="0">
            <a:off x="9505950" y="1628775"/>
            <a:ext cx="1905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25" name="">
            <a:extLst xmlns:a="http://schemas.openxmlformats.org/drawingml/2006/main">
              <a:ext uri="{FF2B5EF4-FFF2-40B4-BE49-F238E27FC236}">
                <a16:creationId xmlns:a16="http://schemas.microsoft.com/office/drawing/2014/main" id="{4F4CB8AE-2272-4D8E-ABD0-D85884F5E3B7}"/>
              </a:ext>
            </a:extLst>
          </p:cNvPr>
          <p:cNvSpPr>
            <a:spLocks xmlns:a="http://schemas.openxmlformats.org/drawingml/2006/main" noGrp="1"/>
          </p:cNvSpPr>
          <p:nvPr/>
        </p:nvSpPr>
        <p:spPr>
          <a:xfrm xmlns:a="http://schemas.openxmlformats.org/drawingml/2006/main" flipV="0">
            <a:off x="9505950" y="1733550"/>
            <a:ext cx="1905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26" name="">
            <a:extLst xmlns:a="http://schemas.openxmlformats.org/drawingml/2006/main">
              <a:ext uri="{FF2B5EF4-FFF2-40B4-BE49-F238E27FC236}">
                <a16:creationId xmlns:a16="http://schemas.microsoft.com/office/drawing/2014/main" id="{6357A130-BD3C-4827-B101-8C58B89B409C}"/>
              </a:ext>
            </a:extLst>
          </p:cNvPr>
          <p:cNvSpPr>
            <a:spLocks xmlns:a="http://schemas.openxmlformats.org/drawingml/2006/main" noGrp="1"/>
          </p:cNvSpPr>
          <p:nvPr/>
        </p:nvSpPr>
        <p:spPr>
          <a:xfrm xmlns:a="http://schemas.openxmlformats.org/drawingml/2006/main" flipV="0">
            <a:off x="9505950" y="1838325"/>
            <a:ext cx="1905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27" name="shape-15">
            <a:extLst xmlns:a="http://schemas.openxmlformats.org/drawingml/2006/main">
              <a:ext uri="{FF2B5EF4-FFF2-40B4-BE49-F238E27FC236}">
                <a16:creationId xmlns:a16="http://schemas.microsoft.com/office/drawing/2014/main" id="{4BA64360-B7F3-4168-9910-FE02B6C6BDF0}"/>
              </a:ext>
            </a:extLst>
          </p:cNvPr>
          <p:cNvSpPr>
            <a:spLocks xmlns:a="http://schemas.openxmlformats.org/drawingml/2006/main" noGrp="1"/>
          </p:cNvSpPr>
          <p:nvPr/>
        </p:nvSpPr>
        <p:spPr>
          <a:xfrm xmlns:a="http://schemas.openxmlformats.org/drawingml/2006/main">
            <a:off x="9772650" y="1495425"/>
            <a:ext cx="34290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28" name="">
            <a:extLst xmlns:a="http://schemas.openxmlformats.org/drawingml/2006/main">
              <a:ext uri="{FF2B5EF4-FFF2-40B4-BE49-F238E27FC236}">
                <a16:creationId xmlns:a16="http://schemas.microsoft.com/office/drawing/2014/main" id="{D687092D-F9C1-452E-A613-1F0D5BA8F672}"/>
              </a:ext>
            </a:extLst>
          </p:cNvPr>
          <p:cNvSpPr>
            <a:spLocks xmlns:a="http://schemas.openxmlformats.org/drawingml/2006/main" noGrp="1"/>
          </p:cNvSpPr>
          <p:nvPr/>
        </p:nvSpPr>
        <p:spPr>
          <a:xfrm xmlns:a="http://schemas.openxmlformats.org/drawingml/2006/main" flipV="0">
            <a:off x="9848850" y="1628775"/>
            <a:ext cx="1905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29" name="">
            <a:extLst xmlns:a="http://schemas.openxmlformats.org/drawingml/2006/main">
              <a:ext uri="{FF2B5EF4-FFF2-40B4-BE49-F238E27FC236}">
                <a16:creationId xmlns:a16="http://schemas.microsoft.com/office/drawing/2014/main" id="{599CD5AB-87F6-40C2-89F5-76C42F52A4B0}"/>
              </a:ext>
            </a:extLst>
          </p:cNvPr>
          <p:cNvSpPr>
            <a:spLocks xmlns:a="http://schemas.openxmlformats.org/drawingml/2006/main" noGrp="1"/>
          </p:cNvSpPr>
          <p:nvPr/>
        </p:nvSpPr>
        <p:spPr>
          <a:xfrm xmlns:a="http://schemas.openxmlformats.org/drawingml/2006/main" flipV="0">
            <a:off x="9848850" y="1733550"/>
            <a:ext cx="1905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30" name="">
            <a:extLst xmlns:a="http://schemas.openxmlformats.org/drawingml/2006/main">
              <a:ext uri="{FF2B5EF4-FFF2-40B4-BE49-F238E27FC236}">
                <a16:creationId xmlns:a16="http://schemas.microsoft.com/office/drawing/2014/main" id="{6FCEE53F-81B2-4223-93DC-2E06D13E0963}"/>
              </a:ext>
            </a:extLst>
          </p:cNvPr>
          <p:cNvSpPr>
            <a:spLocks xmlns:a="http://schemas.openxmlformats.org/drawingml/2006/main" noGrp="1"/>
          </p:cNvSpPr>
          <p:nvPr/>
        </p:nvSpPr>
        <p:spPr>
          <a:xfrm xmlns:a="http://schemas.openxmlformats.org/drawingml/2006/main" flipV="0">
            <a:off x="9848850" y="1838325"/>
            <a:ext cx="1905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31" name="">
            <a:extLst xmlns:a="http://schemas.openxmlformats.org/drawingml/2006/main">
              <a:ext uri="{FF2B5EF4-FFF2-40B4-BE49-F238E27FC236}">
                <a16:creationId xmlns:a16="http://schemas.microsoft.com/office/drawing/2014/main" id="{F897FF9F-DE4C-498A-A782-7C5961182918}"/>
              </a:ext>
            </a:extLst>
          </p:cNvPr>
          <p:cNvSpPr>
            <a:spLocks xmlns:a="http://schemas.openxmlformats.org/drawingml/2006/main" noGrp="1"/>
          </p:cNvSpPr>
          <p:nvPr/>
        </p:nvSpPr>
        <p:spPr>
          <a:xfrm xmlns:a="http://schemas.openxmlformats.org/drawingml/2006/main" flipV="0">
            <a:off x="9772650" y="1466850"/>
            <a:ext cx="0" cy="533400"/>
          </a:xfrm>
          <a:prstGeom xmlns:a="http://schemas.openxmlformats.org/drawingml/2006/main" prst="line">
            <a:avLst/>
          </a:prstGeom>
          <a:noFill xmlns:a="http://schemas.openxmlformats.org/drawingml/2006/main"/>
          <a:ln xmlns:a="http://schemas.openxmlformats.org/drawingml/2006/main" w="23813">
            <a:solidFill>
              <a:srgbClr val="172C36"/>
            </a:solidFill>
            <a:prstDash val="solid"/>
          </a:ln>
        </p:spPr>
      </p:sp>
      <p:sp>
        <p:nvSpPr>
          <p:cNvPr id="32" name="">
            <a:extLst xmlns:a="http://schemas.openxmlformats.org/drawingml/2006/main">
              <a:ext uri="{FF2B5EF4-FFF2-40B4-BE49-F238E27FC236}">
                <a16:creationId xmlns:a16="http://schemas.microsoft.com/office/drawing/2014/main" id="{D11BEB91-28E7-477F-9CF6-DE57C56F2EBB}"/>
              </a:ext>
            </a:extLst>
          </p:cNvPr>
          <p:cNvSpPr>
            <a:spLocks xmlns:a="http://schemas.openxmlformats.org/drawingml/2006/main" noGrp="1"/>
          </p:cNvSpPr>
          <p:nvPr/>
        </p:nvSpPr>
        <p:spPr>
          <a:xfrm xmlns:a="http://schemas.openxmlformats.org/drawingml/2006/main" flipV="0">
            <a:off x="9772650" y="1971675"/>
            <a:ext cx="0" cy="34290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3" name="">
            <a:extLst xmlns:a="http://schemas.openxmlformats.org/drawingml/2006/main">
              <a:ext uri="{FF2B5EF4-FFF2-40B4-BE49-F238E27FC236}">
                <a16:creationId xmlns:a16="http://schemas.microsoft.com/office/drawing/2014/main" id="{EB0F1243-908D-4F74-A0E6-DD0C47A8F275}"/>
              </a:ext>
            </a:extLst>
          </p:cNvPr>
          <p:cNvSpPr>
            <a:spLocks xmlns:a="http://schemas.openxmlformats.org/drawingml/2006/main" noGrp="1"/>
          </p:cNvSpPr>
          <p:nvPr/>
        </p:nvSpPr>
        <p:spPr>
          <a:xfrm xmlns:a="http://schemas.openxmlformats.org/drawingml/2006/main">
            <a:off x="9734550" y="2238375"/>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172C36"/>
          </a:solidFill>
          <a:ln xmlns:a="http://schemas.openxmlformats.org/drawingml/2006/main" w="9525">
            <a:solidFill>
              <a:srgbClr val="172C36"/>
            </a:solidFill>
          </a:ln>
        </p:spPr>
      </p:sp>
      <p:sp>
        <p:nvSpPr>
          <p:cNvPr id="34" name="text-16">
            <a:extLst xmlns:a="http://schemas.openxmlformats.org/drawingml/2006/main">
              <a:ext uri="{FF2B5EF4-FFF2-40B4-BE49-F238E27FC236}">
                <a16:creationId xmlns:a16="http://schemas.microsoft.com/office/drawing/2014/main" id="{A0011AE0-A63D-49DB-8322-3300B02CFE14}"/>
              </a:ext>
            </a:extLst>
          </p:cNvPr>
          <p:cNvSpPr>
            <a:spLocks xmlns:a="http://schemas.openxmlformats.org/drawingml/2006/main" noGrp="1"/>
          </p:cNvSpPr>
          <p:nvPr/>
        </p:nvSpPr>
        <p:spPr>
          <a:xfrm xmlns:a="http://schemas.openxmlformats.org/drawingml/2006/main">
            <a:off x="10306050" y="1524000"/>
            <a:ext cx="128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72C36"/>
                </a:solidFill>
                <a:latin typeface="Helvetica Neue"/>
                <a:ea typeface="Helvetica Neue"/>
                <a:cs typeface="Helvetica Neue"/>
              </a:defRPr>
            </a:pPr>
            <a:r>
              <a:rPr sz="1650" b="1">
                <a:solidFill>
                  <a:srgbClr val="172C36"/>
                </a:solidFill>
                <a:latin typeface="Helvetica Neue"/>
                <a:ea typeface="Helvetica Neue"/>
                <a:cs typeface="Helvetica Neue"/>
              </a:rPr>
              <a:t>Authorities</a:t>
            </a:r>
          </a:p>
        </p:txBody>
      </p:sp>
      <p:sp>
        <p:nvSpPr>
          <p:cNvPr id="35" name="">
            <a:extLst xmlns:a="http://schemas.openxmlformats.org/drawingml/2006/main">
              <a:ext uri="{FF2B5EF4-FFF2-40B4-BE49-F238E27FC236}">
                <a16:creationId xmlns:a16="http://schemas.microsoft.com/office/drawing/2014/main" id="{D17AF353-4076-45D5-ADF5-EBABC0E8FF74}"/>
              </a:ext>
            </a:extLst>
          </p:cNvPr>
          <p:cNvSpPr>
            <a:spLocks xmlns:a="http://schemas.openxmlformats.org/drawingml/2006/main" noGrp="1"/>
          </p:cNvSpPr>
          <p:nvPr/>
        </p:nvSpPr>
        <p:spPr>
          <a:xfrm xmlns:a="http://schemas.openxmlformats.org/drawingml/2006/main" flipV="0">
            <a:off x="4810125" y="3133725"/>
            <a:ext cx="40957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6" name="">
            <a:extLst xmlns:a="http://schemas.openxmlformats.org/drawingml/2006/main">
              <a:ext uri="{FF2B5EF4-FFF2-40B4-BE49-F238E27FC236}">
                <a16:creationId xmlns:a16="http://schemas.microsoft.com/office/drawing/2014/main" id="{68FB17CB-8D64-4B78-879D-9A5FD5F1CB3A}"/>
              </a:ext>
            </a:extLst>
          </p:cNvPr>
          <p:cNvSpPr>
            <a:spLocks xmlns:a="http://schemas.openxmlformats.org/drawingml/2006/main" noGrp="1"/>
          </p:cNvSpPr>
          <p:nvPr/>
        </p:nvSpPr>
        <p:spPr>
          <a:xfrm xmlns:a="http://schemas.openxmlformats.org/drawingml/2006/main" flipV="0">
            <a:off x="5219700" y="3133725"/>
            <a:ext cx="0" cy="165735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7" name="">
            <a:extLst xmlns:a="http://schemas.openxmlformats.org/drawingml/2006/main">
              <a:ext uri="{FF2B5EF4-FFF2-40B4-BE49-F238E27FC236}">
                <a16:creationId xmlns:a16="http://schemas.microsoft.com/office/drawing/2014/main" id="{BB592C0F-4991-4E13-95D8-1564BEF8EF29}"/>
              </a:ext>
            </a:extLst>
          </p:cNvPr>
          <p:cNvSpPr>
            <a:spLocks xmlns:a="http://schemas.openxmlformats.org/drawingml/2006/main" noGrp="1"/>
          </p:cNvSpPr>
          <p:nvPr/>
        </p:nvSpPr>
        <p:spPr>
          <a:xfrm xmlns:a="http://schemas.openxmlformats.org/drawingml/2006/main" flipV="0">
            <a:off x="5219700" y="4791075"/>
            <a:ext cx="320992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8" name="">
            <a:extLst xmlns:a="http://schemas.openxmlformats.org/drawingml/2006/main">
              <a:ext uri="{FF2B5EF4-FFF2-40B4-BE49-F238E27FC236}">
                <a16:creationId xmlns:a16="http://schemas.microsoft.com/office/drawing/2014/main" id="{CFF9EE0F-1509-4193-AD79-E320A033A1DB}"/>
              </a:ext>
            </a:extLst>
          </p:cNvPr>
          <p:cNvSpPr>
            <a:spLocks xmlns:a="http://schemas.openxmlformats.org/drawingml/2006/main" noGrp="1"/>
          </p:cNvSpPr>
          <p:nvPr/>
        </p:nvSpPr>
        <p:spPr>
          <a:xfrm xmlns:a="http://schemas.openxmlformats.org/drawingml/2006/main" flipV="0">
            <a:off x="8429625" y="3133725"/>
            <a:ext cx="0" cy="165735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9" name="">
            <a:extLst xmlns:a="http://schemas.openxmlformats.org/drawingml/2006/main">
              <a:ext uri="{FF2B5EF4-FFF2-40B4-BE49-F238E27FC236}">
                <a16:creationId xmlns:a16="http://schemas.microsoft.com/office/drawing/2014/main" id="{98E147B0-A3D1-4F6B-B692-681637595FEB}"/>
              </a:ext>
            </a:extLst>
          </p:cNvPr>
          <p:cNvSpPr>
            <a:spLocks xmlns:a="http://schemas.openxmlformats.org/drawingml/2006/main" noGrp="1"/>
          </p:cNvSpPr>
          <p:nvPr/>
        </p:nvSpPr>
        <p:spPr>
          <a:xfrm xmlns:a="http://schemas.openxmlformats.org/drawingml/2006/main" flipV="0">
            <a:off x="8429625" y="3133725"/>
            <a:ext cx="40005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40" name="">
            <a:extLst xmlns:a="http://schemas.openxmlformats.org/drawingml/2006/main">
              <a:ext uri="{FF2B5EF4-FFF2-40B4-BE49-F238E27FC236}">
                <a16:creationId xmlns:a16="http://schemas.microsoft.com/office/drawing/2014/main" id="{8F972A9C-B81F-4B3B-9414-564DBA67CF8A}"/>
              </a:ext>
            </a:extLst>
          </p:cNvPr>
          <p:cNvSpPr>
            <a:spLocks xmlns:a="http://schemas.openxmlformats.org/drawingml/2006/main" noGrp="1"/>
          </p:cNvSpPr>
          <p:nvPr/>
        </p:nvSpPr>
        <p:spPr>
          <a:xfrm xmlns:a="http://schemas.openxmlformats.org/drawingml/2006/main">
            <a:off x="8753475" y="309562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41" name="text-17">
            <a:extLst xmlns:a="http://schemas.openxmlformats.org/drawingml/2006/main">
              <a:ext uri="{FF2B5EF4-FFF2-40B4-BE49-F238E27FC236}">
                <a16:creationId xmlns:a16="http://schemas.microsoft.com/office/drawing/2014/main" id="{5CA091E2-170A-40F2-8F5C-5DC0AE080ABB}"/>
              </a:ext>
            </a:extLst>
          </p:cNvPr>
          <p:cNvSpPr>
            <a:spLocks xmlns:a="http://schemas.openxmlformats.org/drawingml/2006/main" noGrp="1"/>
          </p:cNvSpPr>
          <p:nvPr/>
        </p:nvSpPr>
        <p:spPr>
          <a:xfrm xmlns:a="http://schemas.openxmlformats.org/drawingml/2006/main">
            <a:off x="4543425" y="4943475"/>
            <a:ext cx="4705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Facts also enter C directly</a:t>
            </a:r>
          </a:p>
        </p:txBody>
      </p:sp>
      <p:sp>
        <p:nvSpPr>
          <p:cNvPr id="42" name="">
            <a:extLst xmlns:a="http://schemas.openxmlformats.org/drawingml/2006/main">
              <a:ext uri="{FF2B5EF4-FFF2-40B4-BE49-F238E27FC236}">
                <a16:creationId xmlns:a16="http://schemas.microsoft.com/office/drawing/2014/main" id="{30415BF0-B38A-40FB-A42D-39E1A4AA03AC}"/>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43" name="text-18">
            <a:extLst xmlns:a="http://schemas.openxmlformats.org/drawingml/2006/main">
              <a:ext uri="{FF2B5EF4-FFF2-40B4-BE49-F238E27FC236}">
                <a16:creationId xmlns:a16="http://schemas.microsoft.com/office/drawing/2014/main" id="{4C2E76A5-B938-4BBE-8724-E55A9EC1124C}"/>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Proposed methods. Real-case gains remain untested. Blue boxes: modules. Dashed arrow: optional use.</a:t>
            </a:r>
          </a:p>
        </p:txBody>
      </p:sp>
    </p:spTree>
    <p:extLst>
      <p:ext uri="{BB962C8B-B14F-4D97-AF65-F5344CB8AC3E}">
        <p14:creationId xmlns:p14="http://schemas.microsoft.com/office/powerpoint/2010/main" val="13244354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19">
            <a:extLst xmlns:a="http://schemas.openxmlformats.org/drawingml/2006/main">
              <a:ext uri="{FF2B5EF4-FFF2-40B4-BE49-F238E27FC236}">
                <a16:creationId xmlns:a16="http://schemas.microsoft.com/office/drawing/2014/main" id="{9948F5B0-0558-466A-AF62-8CB8C93F0F14}"/>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A. Meaning, identity and statement status</a:t>
            </a:r>
          </a:p>
        </p:txBody>
      </p:sp>
      <p:sp>
        <p:nvSpPr>
          <p:cNvPr id="2" name="text-20">
            <a:extLst xmlns:a="http://schemas.openxmlformats.org/drawingml/2006/main">
              <a:ext uri="{FF2B5EF4-FFF2-40B4-BE49-F238E27FC236}">
                <a16:creationId xmlns:a16="http://schemas.microsoft.com/office/drawing/2014/main" id="{AB6544B2-123A-401F-87EE-1D39294614CD}"/>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Extract a sourced assertion before deciding whether its wording is equivalent</a:t>
            </a:r>
          </a:p>
        </p:txBody>
      </p:sp>
      <p:sp>
        <p:nvSpPr>
          <p:cNvPr id="3" name="text-21">
            <a:extLst xmlns:a="http://schemas.openxmlformats.org/drawingml/2006/main">
              <a:ext uri="{FF2B5EF4-FFF2-40B4-BE49-F238E27FC236}">
                <a16:creationId xmlns:a16="http://schemas.microsoft.com/office/drawing/2014/main" id="{E9543F8C-B319-4373-B3E9-95F5DD313BAC}"/>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02</a:t>
            </a:r>
          </a:p>
        </p:txBody>
      </p:sp>
      <p:sp>
        <p:nvSpPr>
          <p:cNvPr id="4" name="shape-22">
            <a:extLst xmlns:a="http://schemas.openxmlformats.org/drawingml/2006/main">
              <a:ext uri="{FF2B5EF4-FFF2-40B4-BE49-F238E27FC236}">
                <a16:creationId xmlns:a16="http://schemas.microsoft.com/office/drawing/2014/main" id="{C32805E2-D176-4398-9FAE-73E8ACC03541}"/>
              </a:ext>
            </a:extLst>
          </p:cNvPr>
          <p:cNvSpPr>
            <a:spLocks xmlns:a="http://schemas.openxmlformats.org/drawingml/2006/main" noGrp="1"/>
          </p:cNvSpPr>
          <p:nvPr/>
        </p:nvSpPr>
        <p:spPr>
          <a:xfrm xmlns:a="http://schemas.openxmlformats.org/drawingml/2006/main">
            <a:off x="666750" y="1905000"/>
            <a:ext cx="457200" cy="590550"/>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5" name="shape-23">
            <a:extLst xmlns:a="http://schemas.openxmlformats.org/drawingml/2006/main">
              <a:ext uri="{FF2B5EF4-FFF2-40B4-BE49-F238E27FC236}">
                <a16:creationId xmlns:a16="http://schemas.microsoft.com/office/drawing/2014/main" id="{80D5AC0A-2242-4ABE-9647-E02CCC72B9D9}"/>
              </a:ext>
            </a:extLst>
          </p:cNvPr>
          <p:cNvSpPr>
            <a:spLocks xmlns:a="http://schemas.openxmlformats.org/drawingml/2006/main" noGrp="1"/>
          </p:cNvSpPr>
          <p:nvPr/>
        </p:nvSpPr>
        <p:spPr>
          <a:xfrm xmlns:a="http://schemas.openxmlformats.org/drawingml/2006/main">
            <a:off x="971550" y="1905000"/>
            <a:ext cx="152400" cy="152400"/>
          </a:xfrm>
          <a:prstGeom xmlns:a="http://schemas.openxmlformats.org/drawingml/2006/main" prst="rect">
            <a:avLst/>
          </a:prstGeom>
          <a:solidFill xmlns:a="http://schemas.openxmlformats.org/drawingml/2006/main">
            <a:srgbClr val="EAF0F6"/>
          </a:solidFill>
          <a:ln xmlns:a="http://schemas.openxmlformats.org/drawingml/2006/main" w="19050">
            <a:solidFill>
              <a:srgbClr val="63758A"/>
            </a:solidFill>
          </a:ln>
        </p:spPr>
      </p:sp>
      <p:sp>
        <p:nvSpPr>
          <p:cNvPr id="6" name="">
            <a:extLst xmlns:a="http://schemas.openxmlformats.org/drawingml/2006/main">
              <a:ext uri="{FF2B5EF4-FFF2-40B4-BE49-F238E27FC236}">
                <a16:creationId xmlns:a16="http://schemas.microsoft.com/office/drawing/2014/main" id="{7C7B20E0-A703-490B-8770-E78A11B74DEC}"/>
              </a:ext>
            </a:extLst>
          </p:cNvPr>
          <p:cNvSpPr>
            <a:spLocks xmlns:a="http://schemas.openxmlformats.org/drawingml/2006/main" noGrp="1"/>
          </p:cNvSpPr>
          <p:nvPr/>
        </p:nvSpPr>
        <p:spPr>
          <a:xfrm xmlns:a="http://schemas.openxmlformats.org/drawingml/2006/main" flipV="0">
            <a:off x="781050" y="2190750"/>
            <a:ext cx="2286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7" name="">
            <a:extLst xmlns:a="http://schemas.openxmlformats.org/drawingml/2006/main">
              <a:ext uri="{FF2B5EF4-FFF2-40B4-BE49-F238E27FC236}">
                <a16:creationId xmlns:a16="http://schemas.microsoft.com/office/drawing/2014/main" id="{19440C85-34A6-4E53-8253-5E7623832F1E}"/>
              </a:ext>
            </a:extLst>
          </p:cNvPr>
          <p:cNvSpPr>
            <a:spLocks xmlns:a="http://schemas.openxmlformats.org/drawingml/2006/main" noGrp="1"/>
          </p:cNvSpPr>
          <p:nvPr/>
        </p:nvSpPr>
        <p:spPr>
          <a:xfrm xmlns:a="http://schemas.openxmlformats.org/drawingml/2006/main" flipV="0">
            <a:off x="781050" y="2305050"/>
            <a:ext cx="2286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8" name="">
            <a:extLst xmlns:a="http://schemas.openxmlformats.org/drawingml/2006/main">
              <a:ext uri="{FF2B5EF4-FFF2-40B4-BE49-F238E27FC236}">
                <a16:creationId xmlns:a16="http://schemas.microsoft.com/office/drawing/2014/main" id="{794443A5-F8AA-4DCD-AC3C-5567C5E2D904}"/>
              </a:ext>
            </a:extLst>
          </p:cNvPr>
          <p:cNvSpPr>
            <a:spLocks xmlns:a="http://schemas.openxmlformats.org/drawingml/2006/main" noGrp="1"/>
          </p:cNvSpPr>
          <p:nvPr/>
        </p:nvSpPr>
        <p:spPr>
          <a:xfrm xmlns:a="http://schemas.openxmlformats.org/drawingml/2006/main" flipV="0">
            <a:off x="781050" y="2419350"/>
            <a:ext cx="2286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9" name="text-24">
            <a:extLst xmlns:a="http://schemas.openxmlformats.org/drawingml/2006/main">
              <a:ext uri="{FF2B5EF4-FFF2-40B4-BE49-F238E27FC236}">
                <a16:creationId xmlns:a16="http://schemas.microsoft.com/office/drawing/2014/main" id="{905A11D4-B6C2-493E-815E-A7C0F794FA0B}"/>
              </a:ext>
            </a:extLst>
          </p:cNvPr>
          <p:cNvSpPr>
            <a:spLocks xmlns:a="http://schemas.openxmlformats.org/drawingml/2006/main" noGrp="1"/>
          </p:cNvSpPr>
          <p:nvPr/>
        </p:nvSpPr>
        <p:spPr>
          <a:xfrm xmlns:a="http://schemas.openxmlformats.org/drawingml/2006/main">
            <a:off x="1381125" y="1771650"/>
            <a:ext cx="942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72C36"/>
                </a:solidFill>
                <a:latin typeface="Helvetica Neue"/>
                <a:ea typeface="Helvetica Neue"/>
                <a:cs typeface="Helvetica Neue"/>
              </a:defRPr>
            </a:pPr>
            <a:r>
              <a:rPr sz="2325" b="1">
                <a:solidFill>
                  <a:srgbClr val="172C36"/>
                </a:solidFill>
                <a:latin typeface="Helvetica Neue"/>
                <a:ea typeface="Helvetica Neue"/>
                <a:cs typeface="Helvetica Neue"/>
              </a:rPr>
              <a:t>“The buyer claims full payment.”</a:t>
            </a:r>
          </a:p>
        </p:txBody>
      </p:sp>
      <p:sp>
        <p:nvSpPr>
          <p:cNvPr id="10" name="text-25">
            <a:extLst xmlns:a="http://schemas.openxmlformats.org/drawingml/2006/main">
              <a:ext uri="{FF2B5EF4-FFF2-40B4-BE49-F238E27FC236}">
                <a16:creationId xmlns:a16="http://schemas.microsoft.com/office/drawing/2014/main" id="{9758AAE3-CD66-4C41-ACC0-D159824D18E3}"/>
              </a:ext>
            </a:extLst>
          </p:cNvPr>
          <p:cNvSpPr>
            <a:spLocks xmlns:a="http://schemas.openxmlformats.org/drawingml/2006/main" noGrp="1"/>
          </p:cNvSpPr>
          <p:nvPr/>
        </p:nvSpPr>
        <p:spPr>
          <a:xfrm xmlns:a="http://schemas.openxmlformats.org/drawingml/2006/main">
            <a:off x="1381125" y="2381250"/>
            <a:ext cx="942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72C36"/>
                </a:solidFill>
                <a:latin typeface="Helvetica Neue"/>
                <a:ea typeface="Helvetica Neue"/>
                <a:cs typeface="Helvetica Neue"/>
              </a:defRPr>
            </a:pPr>
            <a:r>
              <a:rPr sz="2325" b="1">
                <a:solidFill>
                  <a:srgbClr val="172C36"/>
                </a:solidFill>
                <a:latin typeface="Helvetica Neue"/>
                <a:ea typeface="Helvetica Neue"/>
                <a:cs typeface="Helvetica Neue"/>
              </a:rPr>
              <a:t>“The court finds the price fully paid.”</a:t>
            </a:r>
          </a:p>
        </p:txBody>
      </p:sp>
      <p:sp>
        <p:nvSpPr>
          <p:cNvPr id="11" name="">
            <a:extLst xmlns:a="http://schemas.openxmlformats.org/drawingml/2006/main">
              <a:ext uri="{FF2B5EF4-FFF2-40B4-BE49-F238E27FC236}">
                <a16:creationId xmlns:a16="http://schemas.microsoft.com/office/drawing/2014/main" id="{358F776D-2E03-4D06-BC29-69E1D2A09074}"/>
              </a:ext>
            </a:extLst>
          </p:cNvPr>
          <p:cNvSpPr>
            <a:spLocks xmlns:a="http://schemas.openxmlformats.org/drawingml/2006/main" noGrp="1"/>
          </p:cNvSpPr>
          <p:nvPr/>
        </p:nvSpPr>
        <p:spPr>
          <a:xfrm xmlns:a="http://schemas.openxmlformats.org/drawingml/2006/main" flipV="0">
            <a:off x="6181725" y="2981325"/>
            <a:ext cx="0" cy="390525"/>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2" name="">
            <a:extLst xmlns:a="http://schemas.openxmlformats.org/drawingml/2006/main">
              <a:ext uri="{FF2B5EF4-FFF2-40B4-BE49-F238E27FC236}">
                <a16:creationId xmlns:a16="http://schemas.microsoft.com/office/drawing/2014/main" id="{330AEB76-D3D2-45F9-8994-8B93EA4B1462}"/>
              </a:ext>
            </a:extLst>
          </p:cNvPr>
          <p:cNvSpPr>
            <a:spLocks xmlns:a="http://schemas.openxmlformats.org/drawingml/2006/main" noGrp="1"/>
          </p:cNvSpPr>
          <p:nvPr/>
        </p:nvSpPr>
        <p:spPr>
          <a:xfrm xmlns:a="http://schemas.openxmlformats.org/drawingml/2006/main">
            <a:off x="6143625" y="329565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172C36"/>
          </a:solidFill>
          <a:ln xmlns:a="http://schemas.openxmlformats.org/drawingml/2006/main" w="9525">
            <a:solidFill>
              <a:srgbClr val="172C36"/>
            </a:solidFill>
          </a:ln>
        </p:spPr>
      </p:sp>
      <p:graphicFrame>
        <p:nvGraphicFramePr>
          <p:cNvPr id="32" name=""/>
          <p:cNvGraphicFramePr/>
          <p:nvPr/>
        </p:nvGraphicFramePr>
        <p:xfrm>
          <a:off xmlns:a="http://schemas.openxmlformats.org/drawingml/2006/main" x="1381125" y="3371850"/>
          <a:ext xmlns:a="http://schemas.openxmlformats.org/drawingml/2006/main" cx="9906000" cy="1743075"/>
        </p:xfrm>
        <a:graphic xmlns:a="http://schemas.openxmlformats.org/drawingml/2006/main">
          <a:graphicData uri="http://schemas.openxmlformats.org/drawingml/2006/table">
            <a:tbl>
              <a:tblPr firstRow="0" bandRow="0"/>
              <a:tblGrid>
                <a:gridCol w="4381500"/>
                <a:gridCol w="1714500"/>
                <a:gridCol w="3810000"/>
              </a:tblGrid>
              <a:tr h="581025">
                <a:tc>
                  <a:txBody>
                    <a:bodyPr lIns="152400" tIns="114300" rIns="152400" bIns="114300">
                      <a:noAutofit/>
                    </a:bodyPr>
                    <a:lstStyle/>
                    <a:p>
                      <a:r>
                        <a:rPr sz="1800" b="1">
                          <a:solidFill>
                            <a:srgbClr val="172C36"/>
                          </a:solidFill>
                          <a:latin typeface="Helvetica Neue"/>
                          <a:ea typeface="Helvetica Neue"/>
                          <a:cs typeface="Helvetica Neue"/>
                        </a:rPr>
                        <a:t>Shared content type</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Contract</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Status</a:t>
                      </a:r>
                    </a:p>
                  </a:txBody>
                  <a:tcPr marL="91440" marR="91440" marT="45720" marB="45720" anchor="ctr">
                    <a:solidFill>
                      <a:srgbClr val="EAF0F6"/>
                    </a:solidFill>
                  </a:tcPr>
                </a:tc>
              </a:tr>
              <a:tr h="581025">
                <a:tc>
                  <a:txBody>
                    <a:bodyPr lIns="152400" tIns="114300" rIns="152400" bIns="114300">
                      <a:noAutofit/>
                    </a:bodyPr>
                    <a:lstStyle/>
                    <a:p>
                      <a:r>
                        <a:rPr sz="1875" b="0">
                          <a:solidFill>
                            <a:srgbClr val="172C36"/>
                          </a:solidFill>
                          <a:latin typeface="Helvetica Neue"/>
                          <a:ea typeface="Helvetica Neue"/>
                          <a:cs typeface="Helvetica Neue"/>
                        </a:rPr>
                        <a:t>PAID_FULL</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K1</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ALLEGED</a:t>
                      </a:r>
                    </a:p>
                  </a:txBody>
                  <a:tcPr marL="91440" marR="91440" marT="45720" marB="45720" anchor="ctr">
                    <a:solidFill>
                      <a:srgbClr val="FFFFFF"/>
                    </a:solidFill>
                  </a:tcPr>
                </a:tc>
              </a:tr>
              <a:tr h="581025">
                <a:tc>
                  <a:txBody>
                    <a:bodyPr lIns="152400" tIns="114300" rIns="152400" bIns="114300">
                      <a:noAutofit/>
                    </a:bodyPr>
                    <a:lstStyle/>
                    <a:p>
                      <a:r>
                        <a:rPr sz="1875" b="0">
                          <a:solidFill>
                            <a:srgbClr val="172C36"/>
                          </a:solidFill>
                          <a:latin typeface="Helvetica Neue"/>
                          <a:ea typeface="Helvetica Neue"/>
                          <a:cs typeface="Helvetica Neue"/>
                        </a:rPr>
                        <a:t>PAID_FULL</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K1</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FOUND</a:t>
                      </a:r>
                    </a:p>
                  </a:txBody>
                  <a:tcPr marL="91440" marR="91440" marT="45720" marB="45720" anchor="ctr">
                    <a:solidFill>
                      <a:srgbClr val="FFFFFF"/>
                    </a:solidFill>
                  </a:tcPr>
                </a:tc>
              </a:tr>
            </a:tbl>
          </a:graphicData>
        </a:graphic>
      </p:graphicFrame>
      <p:sp>
        <p:nvSpPr>
          <p:cNvPr id="14" name="text-26">
            <a:extLst xmlns:a="http://schemas.openxmlformats.org/drawingml/2006/main">
              <a:ext uri="{FF2B5EF4-FFF2-40B4-BE49-F238E27FC236}">
                <a16:creationId xmlns:a16="http://schemas.microsoft.com/office/drawing/2014/main" id="{263CC843-A0F7-442B-BB70-75FD8CC7F7B3}"/>
              </a:ext>
            </a:extLst>
          </p:cNvPr>
          <p:cNvSpPr>
            <a:spLocks xmlns:a="http://schemas.openxmlformats.org/drawingml/2006/main" noGrp="1"/>
          </p:cNvSpPr>
          <p:nvPr/>
        </p:nvSpPr>
        <p:spPr>
          <a:xfrm xmlns:a="http://schemas.openxmlformats.org/drawingml/2006/main">
            <a:off x="723900" y="54292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“Not delivered”</a:t>
            </a:r>
          </a:p>
        </p:txBody>
      </p:sp>
      <p:sp>
        <p:nvSpPr>
          <p:cNvPr id="15" name="text-27">
            <a:extLst xmlns:a="http://schemas.openxmlformats.org/drawingml/2006/main">
              <a:ext uri="{FF2B5EF4-FFF2-40B4-BE49-F238E27FC236}">
                <a16:creationId xmlns:a16="http://schemas.microsoft.com/office/drawing/2014/main" id="{93D00A16-3F41-49E5-BE90-AE8DC569D177}"/>
              </a:ext>
            </a:extLst>
          </p:cNvPr>
          <p:cNvSpPr>
            <a:spLocks xmlns:a="http://schemas.openxmlformats.org/drawingml/2006/main" noGrp="1"/>
          </p:cNvSpPr>
          <p:nvPr/>
        </p:nvSpPr>
        <p:spPr>
          <a:xfrm xmlns:a="http://schemas.openxmlformats.org/drawingml/2006/main">
            <a:off x="3267075" y="5410200"/>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B44948"/>
                </a:solidFill>
                <a:latin typeface="Helvetica Neue"/>
                <a:ea typeface="Helvetica Neue"/>
                <a:cs typeface="Helvetica Neue"/>
              </a:defRPr>
            </a:pPr>
            <a:r>
              <a:rPr sz="2325" b="1">
                <a:solidFill>
                  <a:srgbClr val="B44948"/>
                </a:solidFill>
                <a:latin typeface="Helvetica Neue"/>
                <a:ea typeface="Helvetica Neue"/>
                <a:cs typeface="Helvetica Neue"/>
              </a:rPr>
              <a:t>≠</a:t>
            </a:r>
          </a:p>
        </p:txBody>
      </p:sp>
      <p:sp>
        <p:nvSpPr>
          <p:cNvPr id="16" name="text-28">
            <a:extLst xmlns:a="http://schemas.openxmlformats.org/drawingml/2006/main">
              <a:ext uri="{FF2B5EF4-FFF2-40B4-BE49-F238E27FC236}">
                <a16:creationId xmlns:a16="http://schemas.microsoft.com/office/drawing/2014/main" id="{50C58E1D-3063-454E-9C96-41FDE3820DE6}"/>
              </a:ext>
            </a:extLst>
          </p:cNvPr>
          <p:cNvSpPr>
            <a:spLocks xmlns:a="http://schemas.openxmlformats.org/drawingml/2006/main" noGrp="1"/>
          </p:cNvSpPr>
          <p:nvPr/>
        </p:nvSpPr>
        <p:spPr>
          <a:xfrm xmlns:a="http://schemas.openxmlformats.org/drawingml/2006/main">
            <a:off x="3943350" y="542925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“Refused delivery”</a:t>
            </a:r>
          </a:p>
        </p:txBody>
      </p:sp>
      <p:sp>
        <p:nvSpPr>
          <p:cNvPr id="17" name="text-29">
            <a:extLst xmlns:a="http://schemas.openxmlformats.org/drawingml/2006/main">
              <a:ext uri="{FF2B5EF4-FFF2-40B4-BE49-F238E27FC236}">
                <a16:creationId xmlns:a16="http://schemas.microsoft.com/office/drawing/2014/main" id="{60F951CF-52F1-4F06-B4BF-6FA5DCC26FDF}"/>
              </a:ext>
            </a:extLst>
          </p:cNvPr>
          <p:cNvSpPr>
            <a:spLocks xmlns:a="http://schemas.openxmlformats.org/drawingml/2006/main" noGrp="1"/>
          </p:cNvSpPr>
          <p:nvPr/>
        </p:nvSpPr>
        <p:spPr>
          <a:xfrm xmlns:a="http://schemas.openxmlformats.org/drawingml/2006/main">
            <a:off x="7410450" y="5419725"/>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66B76"/>
                </a:solidFill>
                <a:latin typeface="Helvetica Neue"/>
                <a:ea typeface="Helvetica Neue"/>
                <a:cs typeface="Helvetica Neue"/>
              </a:defRPr>
            </a:pPr>
            <a:r>
              <a:rPr sz="1800" b="0">
                <a:solidFill>
                  <a:srgbClr val="566B76"/>
                </a:solidFill>
                <a:latin typeface="Helvetica Neue"/>
                <a:ea typeface="Helvetica Neue"/>
                <a:cs typeface="Helvetica Neue"/>
              </a:rPr>
              <a:t>Refusal adds a distinct action.</a:t>
            </a:r>
          </a:p>
        </p:txBody>
      </p:sp>
      <p:sp>
        <p:nvSpPr>
          <p:cNvPr id="18" name="">
            <a:extLst xmlns:a="http://schemas.openxmlformats.org/drawingml/2006/main">
              <a:ext uri="{FF2B5EF4-FFF2-40B4-BE49-F238E27FC236}">
                <a16:creationId xmlns:a16="http://schemas.microsoft.com/office/drawing/2014/main" id="{BC1B5336-301F-4A35-B763-D8A6A8D62297}"/>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19" name="text-30">
            <a:extLst xmlns:a="http://schemas.openxmlformats.org/drawingml/2006/main">
              <a:ext uri="{FF2B5EF4-FFF2-40B4-BE49-F238E27FC236}">
                <a16:creationId xmlns:a16="http://schemas.microsoft.com/office/drawing/2014/main" id="{113BA834-D52A-4835-B7D5-8D01C1091E42}"/>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A content family can contain different statement classes. Instances keep their source and local IDs.</a:t>
            </a:r>
          </a:p>
        </p:txBody>
      </p:sp>
    </p:spTree>
    <p:extLst>
      <p:ext uri="{BB962C8B-B14F-4D97-AF65-F5344CB8AC3E}">
        <p14:creationId xmlns:p14="http://schemas.microsoft.com/office/powerpoint/2010/main" val="16639433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31">
            <a:extLst xmlns:a="http://schemas.openxmlformats.org/drawingml/2006/main">
              <a:ext uri="{FF2B5EF4-FFF2-40B4-BE49-F238E27FC236}">
                <a16:creationId xmlns:a16="http://schemas.microsoft.com/office/drawing/2014/main" id="{9E799725-285A-46D0-AFBA-1C8A6BF8BD86}"/>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A. Joint grouping under strict merge constraints</a:t>
            </a:r>
          </a:p>
        </p:txBody>
      </p:sp>
      <p:sp>
        <p:nvSpPr>
          <p:cNvPr id="2" name="text-32">
            <a:extLst xmlns:a="http://schemas.openxmlformats.org/drawingml/2006/main">
              <a:ext uri="{FF2B5EF4-FFF2-40B4-BE49-F238E27FC236}">
                <a16:creationId xmlns:a16="http://schemas.microsoft.com/office/drawing/2014/main" id="{4045D97F-58BD-4D02-A3E5-5A0F736C7866}"/>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Every pair inside a cluster must have a verified equivalence decision</a:t>
            </a:r>
          </a:p>
        </p:txBody>
      </p:sp>
      <p:sp>
        <p:nvSpPr>
          <p:cNvPr id="3" name="text-33">
            <a:extLst xmlns:a="http://schemas.openxmlformats.org/drawingml/2006/main">
              <a:ext uri="{FF2B5EF4-FFF2-40B4-BE49-F238E27FC236}">
                <a16:creationId xmlns:a16="http://schemas.microsoft.com/office/drawing/2014/main" id="{EC1471D9-1058-4A79-BE1B-0353D5066A39}"/>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03</a:t>
            </a:r>
          </a:p>
        </p:txBody>
      </p:sp>
      <p:sp>
        <p:nvSpPr>
          <p:cNvPr id="4" name="text-34">
            <a:extLst xmlns:a="http://schemas.openxmlformats.org/drawingml/2006/main">
              <a:ext uri="{FF2B5EF4-FFF2-40B4-BE49-F238E27FC236}">
                <a16:creationId xmlns:a16="http://schemas.microsoft.com/office/drawing/2014/main" id="{D70E397A-599F-4851-987D-718CE0697991}"/>
              </a:ext>
            </a:extLst>
          </p:cNvPr>
          <p:cNvSpPr>
            <a:spLocks xmlns:a="http://schemas.openxmlformats.org/drawingml/2006/main" noGrp="1"/>
          </p:cNvSpPr>
          <p:nvPr/>
        </p:nvSpPr>
        <p:spPr>
          <a:xfrm xmlns:a="http://schemas.openxmlformats.org/drawingml/2006/main">
            <a:off x="695325" y="1628775"/>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Verified EQ graph</a:t>
            </a:r>
          </a:p>
        </p:txBody>
      </p:sp>
      <p:sp>
        <p:nvSpPr>
          <p:cNvPr id="5" name="">
            <a:extLst xmlns:a="http://schemas.openxmlformats.org/drawingml/2006/main">
              <a:ext uri="{FF2B5EF4-FFF2-40B4-BE49-F238E27FC236}">
                <a16:creationId xmlns:a16="http://schemas.microsoft.com/office/drawing/2014/main" id="{BBC54A55-18DB-45D0-BEF8-66BF2FC0DD85}"/>
              </a:ext>
            </a:extLst>
          </p:cNvPr>
          <p:cNvSpPr>
            <a:spLocks xmlns:a="http://schemas.openxmlformats.org/drawingml/2006/main" noGrp="1"/>
          </p:cNvSpPr>
          <p:nvPr/>
        </p:nvSpPr>
        <p:spPr>
          <a:xfrm xmlns:a="http://schemas.openxmlformats.org/drawingml/2006/main" flipV="0">
            <a:off x="1866900" y="2676525"/>
            <a:ext cx="2076450" cy="0"/>
          </a:xfrm>
          <a:prstGeom xmlns:a="http://schemas.openxmlformats.org/drawingml/2006/main" prst="line">
            <a:avLst/>
          </a:prstGeom>
          <a:noFill xmlns:a="http://schemas.openxmlformats.org/drawingml/2006/main"/>
          <a:ln xmlns:a="http://schemas.openxmlformats.org/drawingml/2006/main" w="38100">
            <a:solidFill>
              <a:srgbClr val="63758A"/>
            </a:solidFill>
            <a:prstDash val="solid"/>
          </a:ln>
        </p:spPr>
      </p:sp>
      <p:sp>
        <p:nvSpPr>
          <p:cNvPr id="6" name="">
            <a:extLst xmlns:a="http://schemas.openxmlformats.org/drawingml/2006/main">
              <a:ext uri="{FF2B5EF4-FFF2-40B4-BE49-F238E27FC236}">
                <a16:creationId xmlns:a16="http://schemas.microsoft.com/office/drawing/2014/main" id="{0036E36B-8833-4F7F-8962-3FA034C902B4}"/>
              </a:ext>
            </a:extLst>
          </p:cNvPr>
          <p:cNvSpPr>
            <a:spLocks xmlns:a="http://schemas.openxmlformats.org/drawingml/2006/main" noGrp="1"/>
          </p:cNvSpPr>
          <p:nvPr/>
        </p:nvSpPr>
        <p:spPr>
          <a:xfrm xmlns:a="http://schemas.openxmlformats.org/drawingml/2006/main" flipV="0">
            <a:off x="1866900" y="2676525"/>
            <a:ext cx="0" cy="1647825"/>
          </a:xfrm>
          <a:prstGeom xmlns:a="http://schemas.openxmlformats.org/drawingml/2006/main" prst="line">
            <a:avLst/>
          </a:prstGeom>
          <a:noFill xmlns:a="http://schemas.openxmlformats.org/drawingml/2006/main"/>
          <a:ln xmlns:a="http://schemas.openxmlformats.org/drawingml/2006/main" w="38100">
            <a:solidFill>
              <a:srgbClr val="63758A"/>
            </a:solidFill>
            <a:prstDash val="solid"/>
          </a:ln>
        </p:spPr>
      </p:sp>
      <p:sp>
        <p:nvSpPr>
          <p:cNvPr id="7" name="">
            <a:extLst xmlns:a="http://schemas.openxmlformats.org/drawingml/2006/main">
              <a:ext uri="{FF2B5EF4-FFF2-40B4-BE49-F238E27FC236}">
                <a16:creationId xmlns:a16="http://schemas.microsoft.com/office/drawing/2014/main" id="{52B28FD6-0844-4869-A976-F01C619E7027}"/>
              </a:ext>
            </a:extLst>
          </p:cNvPr>
          <p:cNvSpPr>
            <a:spLocks xmlns:a="http://schemas.openxmlformats.org/drawingml/2006/main" noGrp="1"/>
          </p:cNvSpPr>
          <p:nvPr/>
        </p:nvSpPr>
        <p:spPr>
          <a:xfrm xmlns:a="http://schemas.openxmlformats.org/drawingml/2006/main" flipV="0">
            <a:off x="3943350" y="2676525"/>
            <a:ext cx="0" cy="1647825"/>
          </a:xfrm>
          <a:prstGeom xmlns:a="http://schemas.openxmlformats.org/drawingml/2006/main" prst="line">
            <a:avLst/>
          </a:prstGeom>
          <a:noFill xmlns:a="http://schemas.openxmlformats.org/drawingml/2006/main"/>
          <a:ln xmlns:a="http://schemas.openxmlformats.org/drawingml/2006/main" w="38100">
            <a:solidFill>
              <a:srgbClr val="63758A"/>
            </a:solidFill>
            <a:prstDash val="solid"/>
          </a:ln>
        </p:spPr>
      </p:sp>
      <p:sp>
        <p:nvSpPr>
          <p:cNvPr id="8" name="shape-35">
            <a:extLst xmlns:a="http://schemas.openxmlformats.org/drawingml/2006/main">
              <a:ext uri="{FF2B5EF4-FFF2-40B4-BE49-F238E27FC236}">
                <a16:creationId xmlns:a16="http://schemas.microsoft.com/office/drawing/2014/main" id="{4A09B8A4-F33C-40A6-8473-2202ED9E4853}"/>
              </a:ext>
            </a:extLst>
          </p:cNvPr>
          <p:cNvSpPr>
            <a:spLocks xmlns:a="http://schemas.openxmlformats.org/drawingml/2006/main" noGrp="1"/>
          </p:cNvSpPr>
          <p:nvPr/>
        </p:nvSpPr>
        <p:spPr>
          <a:xfrm xmlns:a="http://schemas.openxmlformats.org/drawingml/2006/main">
            <a:off x="1571625" y="2381250"/>
            <a:ext cx="590550" cy="590550"/>
          </a:xfrm>
          <a:prstGeom xmlns:a="http://schemas.openxmlformats.org/drawingml/2006/main" prst="ellipse">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anchor="ctr"/>
          <a:lstStyle xmlns:a="http://schemas.openxmlformats.org/drawingml/2006/main"/>
          <a:p xmlns:a="http://schemas.openxmlformats.org/drawingml/2006/main">
            <a:pPr algn="ctr">
              <a:defRPr sz="2250" b="1">
                <a:solidFill>
                  <a:srgbClr val="172C36"/>
                </a:solidFill>
                <a:latin typeface="Helvetica Neue"/>
                <a:ea typeface="Helvetica Neue"/>
                <a:cs typeface="Helvetica Neue"/>
              </a:defRPr>
            </a:pPr>
            <a:r>
              <a:rPr sz="2250" b="1">
                <a:solidFill>
                  <a:srgbClr val="172C36"/>
                </a:solidFill>
                <a:latin typeface="Helvetica Neue"/>
                <a:ea typeface="Helvetica Neue"/>
                <a:cs typeface="Helvetica Neue"/>
              </a:rPr>
              <a:t>a</a:t>
            </a:r>
          </a:p>
        </p:txBody>
      </p:sp>
      <p:sp>
        <p:nvSpPr>
          <p:cNvPr id="9" name="shape-36">
            <a:extLst xmlns:a="http://schemas.openxmlformats.org/drawingml/2006/main">
              <a:ext uri="{FF2B5EF4-FFF2-40B4-BE49-F238E27FC236}">
                <a16:creationId xmlns:a16="http://schemas.microsoft.com/office/drawing/2014/main" id="{B593F9E4-10FA-4511-B239-6F7A4BB23427}"/>
              </a:ext>
            </a:extLst>
          </p:cNvPr>
          <p:cNvSpPr>
            <a:spLocks xmlns:a="http://schemas.openxmlformats.org/drawingml/2006/main" noGrp="1"/>
          </p:cNvSpPr>
          <p:nvPr/>
        </p:nvSpPr>
        <p:spPr>
          <a:xfrm xmlns:a="http://schemas.openxmlformats.org/drawingml/2006/main">
            <a:off x="3648075" y="2381250"/>
            <a:ext cx="590550" cy="590550"/>
          </a:xfrm>
          <a:prstGeom xmlns:a="http://schemas.openxmlformats.org/drawingml/2006/main" prst="ellipse">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anchor="ctr"/>
          <a:lstStyle xmlns:a="http://schemas.openxmlformats.org/drawingml/2006/main"/>
          <a:p xmlns:a="http://schemas.openxmlformats.org/drawingml/2006/main">
            <a:pPr algn="ctr">
              <a:defRPr sz="2250" b="1">
                <a:solidFill>
                  <a:srgbClr val="172C36"/>
                </a:solidFill>
                <a:latin typeface="Helvetica Neue"/>
                <a:ea typeface="Helvetica Neue"/>
                <a:cs typeface="Helvetica Neue"/>
              </a:defRPr>
            </a:pPr>
            <a:r>
              <a:rPr sz="2250" b="1">
                <a:solidFill>
                  <a:srgbClr val="172C36"/>
                </a:solidFill>
                <a:latin typeface="Helvetica Neue"/>
                <a:ea typeface="Helvetica Neue"/>
                <a:cs typeface="Helvetica Neue"/>
              </a:rPr>
              <a:t>b</a:t>
            </a:r>
          </a:p>
        </p:txBody>
      </p:sp>
      <p:sp>
        <p:nvSpPr>
          <p:cNvPr id="10" name="shape-37">
            <a:extLst xmlns:a="http://schemas.openxmlformats.org/drawingml/2006/main">
              <a:ext uri="{FF2B5EF4-FFF2-40B4-BE49-F238E27FC236}">
                <a16:creationId xmlns:a16="http://schemas.microsoft.com/office/drawing/2014/main" id="{C49F6152-B09B-4B5A-8D25-E47F5B2191D7}"/>
              </a:ext>
            </a:extLst>
          </p:cNvPr>
          <p:cNvSpPr>
            <a:spLocks xmlns:a="http://schemas.openxmlformats.org/drawingml/2006/main" noGrp="1"/>
          </p:cNvSpPr>
          <p:nvPr/>
        </p:nvSpPr>
        <p:spPr>
          <a:xfrm xmlns:a="http://schemas.openxmlformats.org/drawingml/2006/main">
            <a:off x="1571625" y="4029075"/>
            <a:ext cx="590550" cy="590550"/>
          </a:xfrm>
          <a:prstGeom xmlns:a="http://schemas.openxmlformats.org/drawingml/2006/main" prst="ellipse">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anchor="ctr"/>
          <a:lstStyle xmlns:a="http://schemas.openxmlformats.org/drawingml/2006/main"/>
          <a:p xmlns:a="http://schemas.openxmlformats.org/drawingml/2006/main">
            <a:pPr algn="ctr">
              <a:defRPr sz="2250" b="1">
                <a:solidFill>
                  <a:srgbClr val="172C36"/>
                </a:solidFill>
                <a:latin typeface="Helvetica Neue"/>
                <a:ea typeface="Helvetica Neue"/>
                <a:cs typeface="Helvetica Neue"/>
              </a:defRPr>
            </a:pPr>
            <a:r>
              <a:rPr sz="2250" b="1">
                <a:solidFill>
                  <a:srgbClr val="172C36"/>
                </a:solidFill>
                <a:latin typeface="Helvetica Neue"/>
                <a:ea typeface="Helvetica Neue"/>
                <a:cs typeface="Helvetica Neue"/>
              </a:rPr>
              <a:t>c</a:t>
            </a:r>
          </a:p>
        </p:txBody>
      </p:sp>
      <p:sp>
        <p:nvSpPr>
          <p:cNvPr id="11" name="shape-38">
            <a:extLst xmlns:a="http://schemas.openxmlformats.org/drawingml/2006/main">
              <a:ext uri="{FF2B5EF4-FFF2-40B4-BE49-F238E27FC236}">
                <a16:creationId xmlns:a16="http://schemas.microsoft.com/office/drawing/2014/main" id="{772913B2-1750-445E-96FB-F2E4642E2FEB}"/>
              </a:ext>
            </a:extLst>
          </p:cNvPr>
          <p:cNvSpPr>
            <a:spLocks xmlns:a="http://schemas.openxmlformats.org/drawingml/2006/main" noGrp="1"/>
          </p:cNvSpPr>
          <p:nvPr/>
        </p:nvSpPr>
        <p:spPr>
          <a:xfrm xmlns:a="http://schemas.openxmlformats.org/drawingml/2006/main">
            <a:off x="3648075" y="4029075"/>
            <a:ext cx="590550" cy="590550"/>
          </a:xfrm>
          <a:prstGeom xmlns:a="http://schemas.openxmlformats.org/drawingml/2006/main" prst="ellipse">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anchor="ctr"/>
          <a:lstStyle xmlns:a="http://schemas.openxmlformats.org/drawingml/2006/main"/>
          <a:p xmlns:a="http://schemas.openxmlformats.org/drawingml/2006/main">
            <a:pPr algn="ctr">
              <a:defRPr sz="2250" b="1">
                <a:solidFill>
                  <a:srgbClr val="172C36"/>
                </a:solidFill>
                <a:latin typeface="Helvetica Neue"/>
                <a:ea typeface="Helvetica Neue"/>
                <a:cs typeface="Helvetica Neue"/>
              </a:defRPr>
            </a:pPr>
            <a:r>
              <a:rPr sz="2250" b="1">
                <a:solidFill>
                  <a:srgbClr val="172C36"/>
                </a:solidFill>
                <a:latin typeface="Helvetica Neue"/>
                <a:ea typeface="Helvetica Neue"/>
                <a:cs typeface="Helvetica Neue"/>
              </a:rPr>
              <a:t>d</a:t>
            </a:r>
          </a:p>
        </p:txBody>
      </p:sp>
      <p:sp>
        <p:nvSpPr>
          <p:cNvPr id="12" name="text-39">
            <a:extLst xmlns:a="http://schemas.openxmlformats.org/drawingml/2006/main">
              <a:ext uri="{FF2B5EF4-FFF2-40B4-BE49-F238E27FC236}">
                <a16:creationId xmlns:a16="http://schemas.microsoft.com/office/drawing/2014/main" id="{A82F8BBF-D21E-489D-84FB-ABF787B0878C}"/>
              </a:ext>
            </a:extLst>
          </p:cNvPr>
          <p:cNvSpPr>
            <a:spLocks xmlns:a="http://schemas.openxmlformats.org/drawingml/2006/main" noGrp="1"/>
          </p:cNvSpPr>
          <p:nvPr/>
        </p:nvSpPr>
        <p:spPr>
          <a:xfrm xmlns:a="http://schemas.openxmlformats.org/drawingml/2006/main">
            <a:off x="704850" y="5133975"/>
            <a:ext cx="4391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66B76"/>
                </a:solidFill>
                <a:latin typeface="Helvetica Neue"/>
                <a:ea typeface="Helvetica Neue"/>
                <a:cs typeface="Helvetica Neue"/>
              </a:defRPr>
            </a:pPr>
            <a:r>
              <a:rPr sz="1725" b="0">
                <a:solidFill>
                  <a:srgbClr val="566B76"/>
                </a:solidFill>
                <a:latin typeface="Helvetica Neue"/>
                <a:ea typeface="Helvetica Neue"/>
                <a:cs typeface="Helvetica Neue"/>
              </a:rPr>
              <a:t>Lines show verified pairs.</a:t>
            </a:r>
          </a:p>
          <a:p xmlns:a="http://schemas.openxmlformats.org/drawingml/2006/main">
            <a:pPr algn="l">
              <a:defRPr sz="1725" b="0">
                <a:solidFill>
                  <a:srgbClr val="566B76"/>
                </a:solidFill>
                <a:latin typeface="Helvetica Neue"/>
                <a:ea typeface="Helvetica Neue"/>
                <a:cs typeface="Helvetica Neue"/>
              </a:defRPr>
            </a:pPr>
            <a:r>
              <a:rPr sz="1725" b="0">
                <a:solidFill>
                  <a:srgbClr val="566B76"/>
                </a:solidFill>
                <a:latin typeface="Helvetica Neue"/>
                <a:ea typeface="Helvetica Neue"/>
                <a:cs typeface="Helvetica Neue"/>
              </a:rPr>
              <a:t>Missing lines cannot be filled by chaining.</a:t>
            </a:r>
          </a:p>
        </p:txBody>
      </p:sp>
      <p:sp>
        <p:nvSpPr>
          <p:cNvPr id="13" name="">
            <a:extLst xmlns:a="http://schemas.openxmlformats.org/drawingml/2006/main">
              <a:ext uri="{FF2B5EF4-FFF2-40B4-BE49-F238E27FC236}">
                <a16:creationId xmlns:a16="http://schemas.microsoft.com/office/drawing/2014/main" id="{648D64E0-AE1B-42CC-A4FB-7414FE38A24F}"/>
              </a:ext>
            </a:extLst>
          </p:cNvPr>
          <p:cNvSpPr>
            <a:spLocks xmlns:a="http://schemas.openxmlformats.org/drawingml/2006/main" noGrp="1"/>
          </p:cNvSpPr>
          <p:nvPr/>
        </p:nvSpPr>
        <p:spPr>
          <a:xfrm xmlns:a="http://schemas.openxmlformats.org/drawingml/2006/main" flipV="0">
            <a:off x="4667250" y="3533775"/>
            <a:ext cx="90487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4" name="">
            <a:extLst xmlns:a="http://schemas.openxmlformats.org/drawingml/2006/main">
              <a:ext uri="{FF2B5EF4-FFF2-40B4-BE49-F238E27FC236}">
                <a16:creationId xmlns:a16="http://schemas.microsoft.com/office/drawing/2014/main" id="{09347993-D91E-4185-BFFC-1F362CD5DAF8}"/>
              </a:ext>
            </a:extLst>
          </p:cNvPr>
          <p:cNvSpPr>
            <a:spLocks xmlns:a="http://schemas.openxmlformats.org/drawingml/2006/main" noGrp="1"/>
          </p:cNvSpPr>
          <p:nvPr/>
        </p:nvSpPr>
        <p:spPr>
          <a:xfrm xmlns:a="http://schemas.openxmlformats.org/drawingml/2006/main">
            <a:off x="5495925" y="34956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5" name="text-40">
            <a:extLst xmlns:a="http://schemas.openxmlformats.org/drawingml/2006/main">
              <a:ext uri="{FF2B5EF4-FFF2-40B4-BE49-F238E27FC236}">
                <a16:creationId xmlns:a16="http://schemas.microsoft.com/office/drawing/2014/main" id="{B9730708-3B52-451C-AF60-8863871E4559}"/>
              </a:ext>
            </a:extLst>
          </p:cNvPr>
          <p:cNvSpPr>
            <a:spLocks xmlns:a="http://schemas.openxmlformats.org/drawingml/2006/main" noGrp="1"/>
          </p:cNvSpPr>
          <p:nvPr/>
        </p:nvSpPr>
        <p:spPr>
          <a:xfrm xmlns:a="http://schemas.openxmlformats.org/drawingml/2006/main">
            <a:off x="6000750" y="1657350"/>
            <a:ext cx="516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Greedy first merge</a:t>
            </a:r>
          </a:p>
        </p:txBody>
      </p:sp>
      <p:sp>
        <p:nvSpPr>
          <p:cNvPr id="16" name="shape-41">
            <a:extLst xmlns:a="http://schemas.openxmlformats.org/drawingml/2006/main">
              <a:ext uri="{FF2B5EF4-FFF2-40B4-BE49-F238E27FC236}">
                <a16:creationId xmlns:a16="http://schemas.microsoft.com/office/drawing/2014/main" id="{65379FFE-1F6C-4F09-BCC1-4977C1496DE4}"/>
              </a:ext>
            </a:extLst>
          </p:cNvPr>
          <p:cNvSpPr>
            <a:spLocks xmlns:a="http://schemas.openxmlformats.org/drawingml/2006/main" noGrp="1"/>
          </p:cNvSpPr>
          <p:nvPr/>
        </p:nvSpPr>
        <p:spPr>
          <a:xfrm xmlns:a="http://schemas.openxmlformats.org/drawingml/2006/main">
            <a:off x="6000750" y="2133600"/>
            <a:ext cx="5162550" cy="733425"/>
          </a:xfrm>
          <a:prstGeom xmlns:a="http://schemas.openxmlformats.org/drawingml/2006/main" prst="roundRect">
            <a:avLst>
              <a:gd name="adj" fmla="val 12987"/>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b="1">
                <a:solidFill>
                  <a:srgbClr val="172C36"/>
                </a:solidFill>
                <a:latin typeface="Helvetica Neue"/>
                <a:ea typeface="Helvetica Neue"/>
                <a:cs typeface="Helvetica Neue"/>
              </a:defRPr>
            </a:pPr>
            <a:r>
              <a:rPr sz="2250" b="1">
                <a:solidFill>
                  <a:srgbClr val="172C36"/>
                </a:solidFill>
                <a:latin typeface="Helvetica Neue"/>
                <a:ea typeface="Helvetica Neue"/>
                <a:cs typeface="Helvetica Neue"/>
              </a:rPr>
              <a:t>{a, b}     {c}     {d}</a:t>
            </a:r>
          </a:p>
        </p:txBody>
      </p:sp>
      <p:sp>
        <p:nvSpPr>
          <p:cNvPr id="17" name="text-42">
            <a:extLst xmlns:a="http://schemas.openxmlformats.org/drawingml/2006/main">
              <a:ext uri="{FF2B5EF4-FFF2-40B4-BE49-F238E27FC236}">
                <a16:creationId xmlns:a16="http://schemas.microsoft.com/office/drawing/2014/main" id="{AA3476AF-118E-4A3A-9396-03DF62F3B0EE}"/>
              </a:ext>
            </a:extLst>
          </p:cNvPr>
          <p:cNvSpPr>
            <a:spLocks xmlns:a="http://schemas.openxmlformats.org/drawingml/2006/main" noGrp="1"/>
          </p:cNvSpPr>
          <p:nvPr/>
        </p:nvSpPr>
        <p:spPr>
          <a:xfrm xmlns:a="http://schemas.openxmlformats.org/drawingml/2006/main">
            <a:off x="6000750" y="3009900"/>
            <a:ext cx="516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1 retained EQ pair</a:t>
            </a:r>
          </a:p>
        </p:txBody>
      </p:sp>
      <p:sp>
        <p:nvSpPr>
          <p:cNvPr id="18" name="text-43">
            <a:extLst xmlns:a="http://schemas.openxmlformats.org/drawingml/2006/main">
              <a:ext uri="{FF2B5EF4-FFF2-40B4-BE49-F238E27FC236}">
                <a16:creationId xmlns:a16="http://schemas.microsoft.com/office/drawing/2014/main" id="{F4464057-77A3-4AE5-870F-0434D29E8396}"/>
              </a:ext>
            </a:extLst>
          </p:cNvPr>
          <p:cNvSpPr>
            <a:spLocks xmlns:a="http://schemas.openxmlformats.org/drawingml/2006/main" noGrp="1"/>
          </p:cNvSpPr>
          <p:nvPr/>
        </p:nvSpPr>
        <p:spPr>
          <a:xfrm xmlns:a="http://schemas.openxmlformats.org/drawingml/2006/main">
            <a:off x="6000750" y="3733800"/>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Constrained joint optimization</a:t>
            </a:r>
          </a:p>
        </p:txBody>
      </p:sp>
      <p:sp>
        <p:nvSpPr>
          <p:cNvPr id="19" name="shape-44">
            <a:extLst xmlns:a="http://schemas.openxmlformats.org/drawingml/2006/main">
              <a:ext uri="{FF2B5EF4-FFF2-40B4-BE49-F238E27FC236}">
                <a16:creationId xmlns:a16="http://schemas.microsoft.com/office/drawing/2014/main" id="{C2E728EC-8A3A-4468-A5CD-586AE6B2535B}"/>
              </a:ext>
            </a:extLst>
          </p:cNvPr>
          <p:cNvSpPr>
            <a:spLocks xmlns:a="http://schemas.openxmlformats.org/drawingml/2006/main" noGrp="1"/>
          </p:cNvSpPr>
          <p:nvPr/>
        </p:nvSpPr>
        <p:spPr>
          <a:xfrm xmlns:a="http://schemas.openxmlformats.org/drawingml/2006/main">
            <a:off x="6000750" y="4295775"/>
            <a:ext cx="5162550" cy="733425"/>
          </a:xfrm>
          <a:prstGeom xmlns:a="http://schemas.openxmlformats.org/drawingml/2006/main" prst="roundRect">
            <a:avLst>
              <a:gd name="adj" fmla="val 12987"/>
            </a:avLst>
          </a:prstGeom>
          <a:solidFill xmlns:a="http://schemas.openxmlformats.org/drawingml/2006/main">
            <a:srgbClr val="F1D7D4"/>
          </a:solidFill>
          <a:ln xmlns:a="http://schemas.openxmlformats.org/drawingml/2006/main" w="19050">
            <a:solidFill>
              <a:srgbClr val="B44948"/>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b="1">
                <a:solidFill>
                  <a:srgbClr val="172C36"/>
                </a:solidFill>
                <a:latin typeface="Helvetica Neue"/>
                <a:ea typeface="Helvetica Neue"/>
                <a:cs typeface="Helvetica Neue"/>
              </a:defRPr>
            </a:pPr>
            <a:r>
              <a:rPr sz="2250" b="1">
                <a:solidFill>
                  <a:srgbClr val="172C36"/>
                </a:solidFill>
                <a:latin typeface="Helvetica Neue"/>
                <a:ea typeface="Helvetica Neue"/>
                <a:cs typeface="Helvetica Neue"/>
              </a:rPr>
              <a:t>{a, c}         {b, d}</a:t>
            </a:r>
          </a:p>
        </p:txBody>
      </p:sp>
      <p:sp>
        <p:nvSpPr>
          <p:cNvPr id="20" name="text-45">
            <a:extLst xmlns:a="http://schemas.openxmlformats.org/drawingml/2006/main">
              <a:ext uri="{FF2B5EF4-FFF2-40B4-BE49-F238E27FC236}">
                <a16:creationId xmlns:a16="http://schemas.microsoft.com/office/drawing/2014/main" id="{D2C53110-DED0-4186-BE30-B8BD9EFF0985}"/>
              </a:ext>
            </a:extLst>
          </p:cNvPr>
          <p:cNvSpPr>
            <a:spLocks xmlns:a="http://schemas.openxmlformats.org/drawingml/2006/main" noGrp="1"/>
          </p:cNvSpPr>
          <p:nvPr/>
        </p:nvSpPr>
        <p:spPr>
          <a:xfrm xmlns:a="http://schemas.openxmlformats.org/drawingml/2006/main">
            <a:off x="6000750" y="5162550"/>
            <a:ext cx="5286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172C36"/>
                </a:solidFill>
                <a:latin typeface="Helvetica Neue"/>
                <a:ea typeface="Helvetica Neue"/>
                <a:cs typeface="Helvetica Neue"/>
              </a:defRPr>
            </a:pPr>
            <a:r>
              <a:rPr sz="1875" b="0">
                <a:solidFill>
                  <a:srgbClr val="172C36"/>
                </a:solidFill>
                <a:latin typeface="Helvetica Neue"/>
                <a:ea typeface="Helvetica Neue"/>
                <a:cs typeface="Helvetica Neue"/>
              </a:rPr>
              <a:t>2 retained EQ pairs, all constraints satisfied</a:t>
            </a:r>
          </a:p>
        </p:txBody>
      </p:sp>
      <p:sp>
        <p:nvSpPr>
          <p:cNvPr id="21" name="">
            <a:extLst xmlns:a="http://schemas.openxmlformats.org/drawingml/2006/main">
              <a:ext uri="{FF2B5EF4-FFF2-40B4-BE49-F238E27FC236}">
                <a16:creationId xmlns:a16="http://schemas.microsoft.com/office/drawing/2014/main" id="{C5FC2DCB-C246-4D4F-8B8D-776C6D698905}"/>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22" name="text-46">
            <a:extLst xmlns:a="http://schemas.openxmlformats.org/drawingml/2006/main">
              <a:ext uri="{FF2B5EF4-FFF2-40B4-BE49-F238E27FC236}">
                <a16:creationId xmlns:a16="http://schemas.microsoft.com/office/drawing/2014/main" id="{5DF190F2-FDAF-407B-96AC-028C267A4112}"/>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Maximize retained verified pairs. Small components use MILP. Large ones use a feasible greedy fallback.</a:t>
            </a:r>
          </a:p>
        </p:txBody>
      </p:sp>
    </p:spTree>
    <p:extLst>
      <p:ext uri="{BB962C8B-B14F-4D97-AF65-F5344CB8AC3E}">
        <p14:creationId xmlns:p14="http://schemas.microsoft.com/office/powerpoint/2010/main" val="16638496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47">
            <a:extLst xmlns:a="http://schemas.openxmlformats.org/drawingml/2006/main">
              <a:ext uri="{FF2B5EF4-FFF2-40B4-BE49-F238E27FC236}">
                <a16:creationId xmlns:a16="http://schemas.microsoft.com/office/drawing/2014/main" id="{8D3E91FC-346E-4616-80B5-FAE51974CFBC}"/>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B. Relational pattern search</a:t>
            </a:r>
          </a:p>
        </p:txBody>
      </p:sp>
      <p:sp>
        <p:nvSpPr>
          <p:cNvPr id="2" name="text-48">
            <a:extLst xmlns:a="http://schemas.openxmlformats.org/drawingml/2006/main">
              <a:ext uri="{FF2B5EF4-FFF2-40B4-BE49-F238E27FC236}">
                <a16:creationId xmlns:a16="http://schemas.microsoft.com/office/drawing/2014/main" id="{4972AE28-A3C6-408C-B8B6-1701291EC1EF}"/>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A reusable pattern preserves which facts concern the same contract</a:t>
            </a:r>
          </a:p>
        </p:txBody>
      </p:sp>
      <p:sp>
        <p:nvSpPr>
          <p:cNvPr id="3" name="text-49">
            <a:extLst xmlns:a="http://schemas.openxmlformats.org/drawingml/2006/main">
              <a:ext uri="{FF2B5EF4-FFF2-40B4-BE49-F238E27FC236}">
                <a16:creationId xmlns:a16="http://schemas.microsoft.com/office/drawing/2014/main" id="{3EC76C5D-E395-4BE6-8664-0D32DAD8C1E5}"/>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04</a:t>
            </a:r>
          </a:p>
        </p:txBody>
      </p:sp>
      <p:sp>
        <p:nvSpPr>
          <p:cNvPr id="4" name="text-50">
            <a:extLst xmlns:a="http://schemas.openxmlformats.org/drawingml/2006/main">
              <a:ext uri="{FF2B5EF4-FFF2-40B4-BE49-F238E27FC236}">
                <a16:creationId xmlns:a16="http://schemas.microsoft.com/office/drawing/2014/main" id="{05D4C81C-A24F-4E69-976B-C341BBCEA0F3}"/>
              </a:ext>
            </a:extLst>
          </p:cNvPr>
          <p:cNvSpPr>
            <a:spLocks xmlns:a="http://schemas.openxmlformats.org/drawingml/2006/main" noGrp="1"/>
          </p:cNvSpPr>
          <p:nvPr/>
        </p:nvSpPr>
        <p:spPr>
          <a:xfrm xmlns:a="http://schemas.openxmlformats.org/drawingml/2006/main">
            <a:off x="609600" y="1714500"/>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Recorded facts in one case</a:t>
            </a:r>
          </a:p>
        </p:txBody>
      </p:sp>
      <p:sp>
        <p:nvSpPr>
          <p:cNvPr id="5" name="shape-51">
            <a:extLst xmlns:a="http://schemas.openxmlformats.org/drawingml/2006/main">
              <a:ext uri="{FF2B5EF4-FFF2-40B4-BE49-F238E27FC236}">
                <a16:creationId xmlns:a16="http://schemas.microsoft.com/office/drawing/2014/main" id="{540906A9-25BA-4BB7-8670-BA7D37A35F59}"/>
              </a:ext>
            </a:extLst>
          </p:cNvPr>
          <p:cNvSpPr>
            <a:spLocks xmlns:a="http://schemas.openxmlformats.org/drawingml/2006/main" noGrp="1"/>
          </p:cNvSpPr>
          <p:nvPr/>
        </p:nvSpPr>
        <p:spPr>
          <a:xfrm xmlns:a="http://schemas.openxmlformats.org/drawingml/2006/main">
            <a:off x="609600" y="2314575"/>
            <a:ext cx="4191000" cy="619125"/>
          </a:xfrm>
          <a:prstGeom xmlns:a="http://schemas.openxmlformats.org/drawingml/2006/main" prst="roundRect">
            <a:avLst>
              <a:gd name="adj" fmla="val 15385"/>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PAID_FULL(b, s, K1)</a:t>
            </a:r>
          </a:p>
        </p:txBody>
      </p:sp>
      <p:sp>
        <p:nvSpPr>
          <p:cNvPr id="6" name="shape-52">
            <a:extLst xmlns:a="http://schemas.openxmlformats.org/drawingml/2006/main">
              <a:ext uri="{FF2B5EF4-FFF2-40B4-BE49-F238E27FC236}">
                <a16:creationId xmlns:a16="http://schemas.microsoft.com/office/drawing/2014/main" id="{C4E5042D-38CC-4738-9B2A-AD891AF7A50D}"/>
              </a:ext>
            </a:extLst>
          </p:cNvPr>
          <p:cNvSpPr>
            <a:spLocks xmlns:a="http://schemas.openxmlformats.org/drawingml/2006/main" noGrp="1"/>
          </p:cNvSpPr>
          <p:nvPr/>
        </p:nvSpPr>
        <p:spPr>
          <a:xfrm xmlns:a="http://schemas.openxmlformats.org/drawingml/2006/main">
            <a:off x="609600" y="3238500"/>
            <a:ext cx="4191000" cy="619125"/>
          </a:xfrm>
          <a:prstGeom xmlns:a="http://schemas.openxmlformats.org/drawingml/2006/main" prst="roundRect">
            <a:avLst>
              <a:gd name="adj" fmla="val 15385"/>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NOT_DELIVERED(s, b, K2)</a:t>
            </a:r>
          </a:p>
        </p:txBody>
      </p:sp>
      <p:sp>
        <p:nvSpPr>
          <p:cNvPr id="7" name="shape-53">
            <a:extLst xmlns:a="http://schemas.openxmlformats.org/drawingml/2006/main">
              <a:ext uri="{FF2B5EF4-FFF2-40B4-BE49-F238E27FC236}">
                <a16:creationId xmlns:a16="http://schemas.microsoft.com/office/drawing/2014/main" id="{DE2A713F-DC69-4277-AEE8-6606E7DAE2FE}"/>
              </a:ext>
            </a:extLst>
          </p:cNvPr>
          <p:cNvSpPr>
            <a:spLocks xmlns:a="http://schemas.openxmlformats.org/drawingml/2006/main" noGrp="1"/>
          </p:cNvSpPr>
          <p:nvPr/>
        </p:nvSpPr>
        <p:spPr>
          <a:xfrm xmlns:a="http://schemas.openxmlformats.org/drawingml/2006/main">
            <a:off x="609600" y="4162425"/>
            <a:ext cx="4191000" cy="619125"/>
          </a:xfrm>
          <a:prstGeom xmlns:a="http://schemas.openxmlformats.org/drawingml/2006/main" prst="roundRect">
            <a:avLst>
              <a:gd name="adj" fmla="val 15385"/>
            </a:avLst>
          </a:prstGeom>
          <a:solidFill xmlns:a="http://schemas.openxmlformats.org/drawingml/2006/main">
            <a:srgbClr val="E5F1E3"/>
          </a:solidFill>
          <a:ln xmlns:a="http://schemas.openxmlformats.org/drawingml/2006/main" w="19050">
            <a:solidFill>
              <a:srgbClr val="5A8A55"/>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NOT_DELIVERED(s, b, K1)</a:t>
            </a:r>
          </a:p>
        </p:txBody>
      </p:sp>
      <p:sp>
        <p:nvSpPr>
          <p:cNvPr id="8" name="text-54">
            <a:extLst xmlns:a="http://schemas.openxmlformats.org/drawingml/2006/main">
              <a:ext uri="{FF2B5EF4-FFF2-40B4-BE49-F238E27FC236}">
                <a16:creationId xmlns:a16="http://schemas.microsoft.com/office/drawing/2014/main" id="{28750AF2-A82B-45FF-AA3B-17194A5F3F05}"/>
              </a:ext>
            </a:extLst>
          </p:cNvPr>
          <p:cNvSpPr>
            <a:spLocks xmlns:a="http://schemas.openxmlformats.org/drawingml/2006/main" noGrp="1"/>
          </p:cNvSpPr>
          <p:nvPr/>
        </p:nvSpPr>
        <p:spPr>
          <a:xfrm xmlns:a="http://schemas.openxmlformats.org/drawingml/2006/main">
            <a:off x="733425" y="491490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A8A55"/>
                </a:solidFill>
                <a:latin typeface="Helvetica Neue"/>
                <a:ea typeface="Helvetica Neue"/>
                <a:cs typeface="Helvetica Neue"/>
              </a:defRPr>
            </a:pPr>
            <a:r>
              <a:rPr sz="1725" b="0">
                <a:solidFill>
                  <a:srgbClr val="5A8A55"/>
                </a:solidFill>
                <a:latin typeface="Helvetica Neue"/>
                <a:ea typeface="Helvetica Neue"/>
                <a:cs typeface="Helvetica Neue"/>
              </a:rPr>
              <a:t>Additional court finding</a:t>
            </a:r>
          </a:p>
        </p:txBody>
      </p:sp>
      <p:sp>
        <p:nvSpPr>
          <p:cNvPr id="9" name="">
            <a:extLst xmlns:a="http://schemas.openxmlformats.org/drawingml/2006/main">
              <a:ext uri="{FF2B5EF4-FFF2-40B4-BE49-F238E27FC236}">
                <a16:creationId xmlns:a16="http://schemas.microsoft.com/office/drawing/2014/main" id="{143149DE-58A0-4530-87BF-13AD7A043DD6}"/>
              </a:ext>
            </a:extLst>
          </p:cNvPr>
          <p:cNvSpPr>
            <a:spLocks xmlns:a="http://schemas.openxmlformats.org/drawingml/2006/main" noGrp="1"/>
          </p:cNvSpPr>
          <p:nvPr/>
        </p:nvSpPr>
        <p:spPr>
          <a:xfrm xmlns:a="http://schemas.openxmlformats.org/drawingml/2006/main" flipV="0">
            <a:off x="4800600" y="2619375"/>
            <a:ext cx="62865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0" name="">
            <a:extLst xmlns:a="http://schemas.openxmlformats.org/drawingml/2006/main">
              <a:ext uri="{FF2B5EF4-FFF2-40B4-BE49-F238E27FC236}">
                <a16:creationId xmlns:a16="http://schemas.microsoft.com/office/drawing/2014/main" id="{D5C5DB3F-42C6-42F8-915C-BDBA56B73566}"/>
              </a:ext>
            </a:extLst>
          </p:cNvPr>
          <p:cNvSpPr>
            <a:spLocks xmlns:a="http://schemas.openxmlformats.org/drawingml/2006/main" noGrp="1"/>
          </p:cNvSpPr>
          <p:nvPr/>
        </p:nvSpPr>
        <p:spPr>
          <a:xfrm xmlns:a="http://schemas.openxmlformats.org/drawingml/2006/main" flipV="0">
            <a:off x="5429250" y="2619375"/>
            <a:ext cx="0" cy="466725"/>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1" name="">
            <a:extLst xmlns:a="http://schemas.openxmlformats.org/drawingml/2006/main">
              <a:ext uri="{FF2B5EF4-FFF2-40B4-BE49-F238E27FC236}">
                <a16:creationId xmlns:a16="http://schemas.microsoft.com/office/drawing/2014/main" id="{E526B657-8767-4259-9F72-7A1362E386BB}"/>
              </a:ext>
            </a:extLst>
          </p:cNvPr>
          <p:cNvSpPr>
            <a:spLocks xmlns:a="http://schemas.openxmlformats.org/drawingml/2006/main" noGrp="1"/>
          </p:cNvSpPr>
          <p:nvPr/>
        </p:nvSpPr>
        <p:spPr>
          <a:xfrm xmlns:a="http://schemas.openxmlformats.org/drawingml/2006/main" flipV="0">
            <a:off x="5429250" y="3086100"/>
            <a:ext cx="66675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2" name="">
            <a:extLst xmlns:a="http://schemas.openxmlformats.org/drawingml/2006/main">
              <a:ext uri="{FF2B5EF4-FFF2-40B4-BE49-F238E27FC236}">
                <a16:creationId xmlns:a16="http://schemas.microsoft.com/office/drawing/2014/main" id="{160C6169-4DFA-4DD9-AFA8-3CC38D930349}"/>
              </a:ext>
            </a:extLst>
          </p:cNvPr>
          <p:cNvSpPr>
            <a:spLocks xmlns:a="http://schemas.openxmlformats.org/drawingml/2006/main" noGrp="1"/>
          </p:cNvSpPr>
          <p:nvPr/>
        </p:nvSpPr>
        <p:spPr>
          <a:xfrm xmlns:a="http://schemas.openxmlformats.org/drawingml/2006/main">
            <a:off x="6019800" y="304800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3" name="">
            <a:extLst xmlns:a="http://schemas.openxmlformats.org/drawingml/2006/main">
              <a:ext uri="{FF2B5EF4-FFF2-40B4-BE49-F238E27FC236}">
                <a16:creationId xmlns:a16="http://schemas.microsoft.com/office/drawing/2014/main" id="{C2FCF308-4FA0-4C6E-80B0-681FDF091DF9}"/>
              </a:ext>
            </a:extLst>
          </p:cNvPr>
          <p:cNvSpPr>
            <a:spLocks xmlns:a="http://schemas.openxmlformats.org/drawingml/2006/main" noGrp="1"/>
          </p:cNvSpPr>
          <p:nvPr/>
        </p:nvSpPr>
        <p:spPr>
          <a:xfrm xmlns:a="http://schemas.openxmlformats.org/drawingml/2006/main" flipV="0">
            <a:off x="4800600" y="4476750"/>
            <a:ext cx="819150" cy="0"/>
          </a:xfrm>
          <a:prstGeom xmlns:a="http://schemas.openxmlformats.org/drawingml/2006/main" prst="line">
            <a:avLst/>
          </a:prstGeom>
          <a:noFill xmlns:a="http://schemas.openxmlformats.org/drawingml/2006/main"/>
          <a:ln xmlns:a="http://schemas.openxmlformats.org/drawingml/2006/main" w="19050">
            <a:solidFill>
              <a:srgbClr val="5A8A55"/>
            </a:solidFill>
            <a:prstDash val="solid"/>
          </a:ln>
        </p:spPr>
      </p:sp>
      <p:sp>
        <p:nvSpPr>
          <p:cNvPr id="14" name="">
            <a:extLst xmlns:a="http://schemas.openxmlformats.org/drawingml/2006/main">
              <a:ext uri="{FF2B5EF4-FFF2-40B4-BE49-F238E27FC236}">
                <a16:creationId xmlns:a16="http://schemas.microsoft.com/office/drawing/2014/main" id="{654627ED-AD2E-433A-887A-215A65B5661D}"/>
              </a:ext>
            </a:extLst>
          </p:cNvPr>
          <p:cNvSpPr>
            <a:spLocks xmlns:a="http://schemas.openxmlformats.org/drawingml/2006/main" noGrp="1"/>
          </p:cNvSpPr>
          <p:nvPr/>
        </p:nvSpPr>
        <p:spPr>
          <a:xfrm xmlns:a="http://schemas.openxmlformats.org/drawingml/2006/main" flipV="0">
            <a:off x="5619750" y="3705225"/>
            <a:ext cx="0" cy="771525"/>
          </a:xfrm>
          <a:prstGeom xmlns:a="http://schemas.openxmlformats.org/drawingml/2006/main" prst="line">
            <a:avLst/>
          </a:prstGeom>
          <a:noFill xmlns:a="http://schemas.openxmlformats.org/drawingml/2006/main"/>
          <a:ln xmlns:a="http://schemas.openxmlformats.org/drawingml/2006/main" w="19050">
            <a:solidFill>
              <a:srgbClr val="5A8A55"/>
            </a:solidFill>
            <a:prstDash val="solid"/>
          </a:ln>
        </p:spPr>
      </p:sp>
      <p:sp>
        <p:nvSpPr>
          <p:cNvPr id="15" name="">
            <a:extLst xmlns:a="http://schemas.openxmlformats.org/drawingml/2006/main">
              <a:ext uri="{FF2B5EF4-FFF2-40B4-BE49-F238E27FC236}">
                <a16:creationId xmlns:a16="http://schemas.microsoft.com/office/drawing/2014/main" id="{E166556F-7D06-48EC-8816-679C63FAFD87}"/>
              </a:ext>
            </a:extLst>
          </p:cNvPr>
          <p:cNvSpPr>
            <a:spLocks xmlns:a="http://schemas.openxmlformats.org/drawingml/2006/main" noGrp="1"/>
          </p:cNvSpPr>
          <p:nvPr/>
        </p:nvSpPr>
        <p:spPr>
          <a:xfrm xmlns:a="http://schemas.openxmlformats.org/drawingml/2006/main" flipV="0">
            <a:off x="5619750" y="3705225"/>
            <a:ext cx="476250" cy="0"/>
          </a:xfrm>
          <a:prstGeom xmlns:a="http://schemas.openxmlformats.org/drawingml/2006/main" prst="line">
            <a:avLst/>
          </a:prstGeom>
          <a:noFill xmlns:a="http://schemas.openxmlformats.org/drawingml/2006/main"/>
          <a:ln xmlns:a="http://schemas.openxmlformats.org/drawingml/2006/main" w="19050">
            <a:solidFill>
              <a:srgbClr val="5A8A55"/>
            </a:solidFill>
            <a:prstDash val="solid"/>
          </a:ln>
        </p:spPr>
      </p:sp>
      <p:sp>
        <p:nvSpPr>
          <p:cNvPr id="16" name="">
            <a:extLst xmlns:a="http://schemas.openxmlformats.org/drawingml/2006/main">
              <a:ext uri="{FF2B5EF4-FFF2-40B4-BE49-F238E27FC236}">
                <a16:creationId xmlns:a16="http://schemas.microsoft.com/office/drawing/2014/main" id="{AF5027D3-A845-458C-AAA4-8EE918410E79}"/>
              </a:ext>
            </a:extLst>
          </p:cNvPr>
          <p:cNvSpPr>
            <a:spLocks xmlns:a="http://schemas.openxmlformats.org/drawingml/2006/main" noGrp="1"/>
          </p:cNvSpPr>
          <p:nvPr/>
        </p:nvSpPr>
        <p:spPr>
          <a:xfrm xmlns:a="http://schemas.openxmlformats.org/drawingml/2006/main">
            <a:off x="6019800" y="366712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5A8A55"/>
          </a:solidFill>
          <a:ln xmlns:a="http://schemas.openxmlformats.org/drawingml/2006/main" w="9525">
            <a:solidFill>
              <a:srgbClr val="5A8A55"/>
            </a:solidFill>
          </a:ln>
        </p:spPr>
      </p:sp>
      <p:sp>
        <p:nvSpPr>
          <p:cNvPr id="17" name="shape-55">
            <a:extLst xmlns:a="http://schemas.openxmlformats.org/drawingml/2006/main">
              <a:ext uri="{FF2B5EF4-FFF2-40B4-BE49-F238E27FC236}">
                <a16:creationId xmlns:a16="http://schemas.microsoft.com/office/drawing/2014/main" id="{80958CE3-ADB6-44CA-89CB-11F18DEF7A25}"/>
              </a:ext>
            </a:extLst>
          </p:cNvPr>
          <p:cNvSpPr>
            <a:spLocks xmlns:a="http://schemas.openxmlformats.org/drawingml/2006/main" noGrp="1"/>
          </p:cNvSpPr>
          <p:nvPr/>
        </p:nvSpPr>
        <p:spPr>
          <a:xfrm xmlns:a="http://schemas.openxmlformats.org/drawingml/2006/main">
            <a:off x="6096000" y="2600325"/>
            <a:ext cx="5486400" cy="1514475"/>
          </a:xfrm>
          <a:prstGeom xmlns:a="http://schemas.openxmlformats.org/drawingml/2006/main" prst="roundRect">
            <a:avLst>
              <a:gd name="adj" fmla="val 6289"/>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PAID_FULL(b, s, K)</a:t>
            </a:r>
          </a:p>
          <a:p xmlns:a="http://schemas.openxmlformats.org/drawingml/2006/main">
            <a:pPr algn="ctr">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AND NOT_DELIVERED(s, b, K)</a:t>
            </a:r>
          </a:p>
        </p:txBody>
      </p:sp>
      <p:sp>
        <p:nvSpPr>
          <p:cNvPr id="18" name="text-56">
            <a:extLst xmlns:a="http://schemas.openxmlformats.org/drawingml/2006/main">
              <a:ext uri="{FF2B5EF4-FFF2-40B4-BE49-F238E27FC236}">
                <a16:creationId xmlns:a16="http://schemas.microsoft.com/office/drawing/2014/main" id="{F330DD7F-7E8A-4891-B68B-9AE3A98420DA}"/>
              </a:ext>
            </a:extLst>
          </p:cNvPr>
          <p:cNvSpPr>
            <a:spLocks xmlns:a="http://schemas.openxmlformats.org/drawingml/2006/main" noGrp="1"/>
          </p:cNvSpPr>
          <p:nvPr/>
        </p:nvSpPr>
        <p:spPr>
          <a:xfrm xmlns:a="http://schemas.openxmlformats.org/drawingml/2006/main">
            <a:off x="6096000" y="4362450"/>
            <a:ext cx="5486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K1 + K2: no shared binding</a:t>
            </a:r>
          </a:p>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K1 + K1: a complete witness</a:t>
            </a:r>
          </a:p>
        </p:txBody>
      </p:sp>
      <p:sp>
        <p:nvSpPr>
          <p:cNvPr id="19" name="shape-57">
            <a:extLst xmlns:a="http://schemas.openxmlformats.org/drawingml/2006/main">
              <a:ext uri="{FF2B5EF4-FFF2-40B4-BE49-F238E27FC236}">
                <a16:creationId xmlns:a16="http://schemas.microsoft.com/office/drawing/2014/main" id="{FEFEB98A-5D9D-49F8-A6FA-D3AED728394A}"/>
              </a:ext>
            </a:extLst>
          </p:cNvPr>
          <p:cNvSpPr>
            <a:spLocks xmlns:a="http://schemas.openxmlformats.org/drawingml/2006/main" noGrp="1"/>
          </p:cNvSpPr>
          <p:nvPr/>
        </p:nvSpPr>
        <p:spPr>
          <a:xfrm xmlns:a="http://schemas.openxmlformats.org/drawingml/2006/main">
            <a:off x="609600" y="5448300"/>
            <a:ext cx="2314575" cy="514350"/>
          </a:xfrm>
          <a:prstGeom xmlns:a="http://schemas.openxmlformats.org/drawingml/2006/main" prst="roundRect">
            <a:avLst>
              <a:gd name="adj" fmla="val 18519"/>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72C36"/>
                </a:solidFill>
                <a:latin typeface="Helvetica Neue"/>
                <a:ea typeface="Helvetica Neue"/>
                <a:cs typeface="Helvetica Neue"/>
              </a:defRPr>
            </a:pPr>
            <a:r>
              <a:rPr sz="1725" b="1">
                <a:solidFill>
                  <a:srgbClr val="172C36"/>
                </a:solidFill>
                <a:latin typeface="Helvetica Neue"/>
                <a:ea typeface="Helvetica Neue"/>
                <a:cs typeface="Helvetica Neue"/>
              </a:rPr>
              <a:t>Extend one atom</a:t>
            </a:r>
          </a:p>
        </p:txBody>
      </p:sp>
      <p:sp>
        <p:nvSpPr>
          <p:cNvPr id="20" name="">
            <a:extLst xmlns:a="http://schemas.openxmlformats.org/drawingml/2006/main">
              <a:ext uri="{FF2B5EF4-FFF2-40B4-BE49-F238E27FC236}">
                <a16:creationId xmlns:a16="http://schemas.microsoft.com/office/drawing/2014/main" id="{F6D08CB2-E496-48B7-BEE8-93B4FE4684A4}"/>
              </a:ext>
            </a:extLst>
          </p:cNvPr>
          <p:cNvSpPr>
            <a:spLocks xmlns:a="http://schemas.openxmlformats.org/drawingml/2006/main" noGrp="1"/>
          </p:cNvSpPr>
          <p:nvPr/>
        </p:nvSpPr>
        <p:spPr>
          <a:xfrm xmlns:a="http://schemas.openxmlformats.org/drawingml/2006/main" flipV="0">
            <a:off x="2924175" y="5705475"/>
            <a:ext cx="57150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21" name="">
            <a:extLst xmlns:a="http://schemas.openxmlformats.org/drawingml/2006/main">
              <a:ext uri="{FF2B5EF4-FFF2-40B4-BE49-F238E27FC236}">
                <a16:creationId xmlns:a16="http://schemas.microsoft.com/office/drawing/2014/main" id="{27A950AC-2421-4E6E-A895-30A48B64D1EF}"/>
              </a:ext>
            </a:extLst>
          </p:cNvPr>
          <p:cNvSpPr>
            <a:spLocks xmlns:a="http://schemas.openxmlformats.org/drawingml/2006/main" noGrp="1"/>
          </p:cNvSpPr>
          <p:nvPr/>
        </p:nvSpPr>
        <p:spPr>
          <a:xfrm xmlns:a="http://schemas.openxmlformats.org/drawingml/2006/main">
            <a:off x="3419475" y="56673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22" name="shape-58">
            <a:extLst xmlns:a="http://schemas.openxmlformats.org/drawingml/2006/main">
              <a:ext uri="{FF2B5EF4-FFF2-40B4-BE49-F238E27FC236}">
                <a16:creationId xmlns:a16="http://schemas.microsoft.com/office/drawing/2014/main" id="{37A36881-7F65-4B48-921D-A8A3D3082748}"/>
              </a:ext>
            </a:extLst>
          </p:cNvPr>
          <p:cNvSpPr>
            <a:spLocks xmlns:a="http://schemas.openxmlformats.org/drawingml/2006/main" noGrp="1"/>
          </p:cNvSpPr>
          <p:nvPr/>
        </p:nvSpPr>
        <p:spPr>
          <a:xfrm xmlns:a="http://schemas.openxmlformats.org/drawingml/2006/main">
            <a:off x="3495675" y="5448300"/>
            <a:ext cx="2314575" cy="514350"/>
          </a:xfrm>
          <a:prstGeom xmlns:a="http://schemas.openxmlformats.org/drawingml/2006/main" prst="roundRect">
            <a:avLst>
              <a:gd name="adj" fmla="val 18519"/>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72C36"/>
                </a:solidFill>
                <a:latin typeface="Helvetica Neue"/>
                <a:ea typeface="Helvetica Neue"/>
                <a:cs typeface="Helvetica Neue"/>
              </a:defRPr>
            </a:pPr>
            <a:r>
              <a:rPr sz="1725" b="1">
                <a:solidFill>
                  <a:srgbClr val="172C36"/>
                </a:solidFill>
                <a:latin typeface="Helvetica Neue"/>
                <a:ea typeface="Helvetica Neue"/>
                <a:cs typeface="Helvetica Neue"/>
              </a:rPr>
              <a:t>Normalize variables</a:t>
            </a:r>
          </a:p>
        </p:txBody>
      </p:sp>
      <p:sp>
        <p:nvSpPr>
          <p:cNvPr id="23" name="">
            <a:extLst xmlns:a="http://schemas.openxmlformats.org/drawingml/2006/main">
              <a:ext uri="{FF2B5EF4-FFF2-40B4-BE49-F238E27FC236}">
                <a16:creationId xmlns:a16="http://schemas.microsoft.com/office/drawing/2014/main" id="{D886A6E9-5723-4D6C-9C09-3BBB7E2AA15E}"/>
              </a:ext>
            </a:extLst>
          </p:cNvPr>
          <p:cNvSpPr>
            <a:spLocks xmlns:a="http://schemas.openxmlformats.org/drawingml/2006/main" noGrp="1"/>
          </p:cNvSpPr>
          <p:nvPr/>
        </p:nvSpPr>
        <p:spPr>
          <a:xfrm xmlns:a="http://schemas.openxmlformats.org/drawingml/2006/main" flipV="0">
            <a:off x="5810250" y="5705475"/>
            <a:ext cx="57150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24" name="">
            <a:extLst xmlns:a="http://schemas.openxmlformats.org/drawingml/2006/main">
              <a:ext uri="{FF2B5EF4-FFF2-40B4-BE49-F238E27FC236}">
                <a16:creationId xmlns:a16="http://schemas.microsoft.com/office/drawing/2014/main" id="{C3BFA2D2-C56C-45BA-B1A2-EFC9899D3387}"/>
              </a:ext>
            </a:extLst>
          </p:cNvPr>
          <p:cNvSpPr>
            <a:spLocks xmlns:a="http://schemas.openxmlformats.org/drawingml/2006/main" noGrp="1"/>
          </p:cNvSpPr>
          <p:nvPr/>
        </p:nvSpPr>
        <p:spPr>
          <a:xfrm xmlns:a="http://schemas.openxmlformats.org/drawingml/2006/main">
            <a:off x="6305550" y="56673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25" name="shape-59">
            <a:extLst xmlns:a="http://schemas.openxmlformats.org/drawingml/2006/main">
              <a:ext uri="{FF2B5EF4-FFF2-40B4-BE49-F238E27FC236}">
                <a16:creationId xmlns:a16="http://schemas.microsoft.com/office/drawing/2014/main" id="{6C412AE7-42D2-4AAB-9BD7-F1755C5D336B}"/>
              </a:ext>
            </a:extLst>
          </p:cNvPr>
          <p:cNvSpPr>
            <a:spLocks xmlns:a="http://schemas.openxmlformats.org/drawingml/2006/main" noGrp="1"/>
          </p:cNvSpPr>
          <p:nvPr/>
        </p:nvSpPr>
        <p:spPr>
          <a:xfrm xmlns:a="http://schemas.openxmlformats.org/drawingml/2006/main">
            <a:off x="6381750" y="5448300"/>
            <a:ext cx="2314575" cy="514350"/>
          </a:xfrm>
          <a:prstGeom xmlns:a="http://schemas.openxmlformats.org/drawingml/2006/main" prst="roundRect">
            <a:avLst>
              <a:gd name="adj" fmla="val 18519"/>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72C36"/>
                </a:solidFill>
                <a:latin typeface="Helvetica Neue"/>
                <a:ea typeface="Helvetica Neue"/>
                <a:cs typeface="Helvetica Neue"/>
              </a:defRPr>
            </a:pPr>
            <a:r>
              <a:rPr sz="1725" b="1">
                <a:solidFill>
                  <a:srgbClr val="172C36"/>
                </a:solidFill>
                <a:latin typeface="Helvetica Neue"/>
                <a:ea typeface="Helvetica Neue"/>
                <a:cs typeface="Helvetica Neue"/>
              </a:rPr>
              <a:t>Join exact bindings</a:t>
            </a:r>
          </a:p>
        </p:txBody>
      </p:sp>
      <p:sp>
        <p:nvSpPr>
          <p:cNvPr id="26" name="">
            <a:extLst xmlns:a="http://schemas.openxmlformats.org/drawingml/2006/main">
              <a:ext uri="{FF2B5EF4-FFF2-40B4-BE49-F238E27FC236}">
                <a16:creationId xmlns:a16="http://schemas.microsoft.com/office/drawing/2014/main" id="{E57531A1-1579-46A4-9F34-B6172DE52798}"/>
              </a:ext>
            </a:extLst>
          </p:cNvPr>
          <p:cNvSpPr>
            <a:spLocks xmlns:a="http://schemas.openxmlformats.org/drawingml/2006/main" noGrp="1"/>
          </p:cNvSpPr>
          <p:nvPr/>
        </p:nvSpPr>
        <p:spPr>
          <a:xfrm xmlns:a="http://schemas.openxmlformats.org/drawingml/2006/main" flipV="0">
            <a:off x="8696325" y="5705475"/>
            <a:ext cx="57150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27" name="">
            <a:extLst xmlns:a="http://schemas.openxmlformats.org/drawingml/2006/main">
              <a:ext uri="{FF2B5EF4-FFF2-40B4-BE49-F238E27FC236}">
                <a16:creationId xmlns:a16="http://schemas.microsoft.com/office/drawing/2014/main" id="{360156CE-DFED-4B31-BAA2-C0B7A3F9EC49}"/>
              </a:ext>
            </a:extLst>
          </p:cNvPr>
          <p:cNvSpPr>
            <a:spLocks xmlns:a="http://schemas.openxmlformats.org/drawingml/2006/main" noGrp="1"/>
          </p:cNvSpPr>
          <p:nvPr/>
        </p:nvSpPr>
        <p:spPr>
          <a:xfrm xmlns:a="http://schemas.openxmlformats.org/drawingml/2006/main">
            <a:off x="9191625" y="56673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28" name="shape-60">
            <a:extLst xmlns:a="http://schemas.openxmlformats.org/drawingml/2006/main">
              <a:ext uri="{FF2B5EF4-FFF2-40B4-BE49-F238E27FC236}">
                <a16:creationId xmlns:a16="http://schemas.microsoft.com/office/drawing/2014/main" id="{2EE200B2-524A-4AAD-8CC5-211C916D1C9E}"/>
              </a:ext>
            </a:extLst>
          </p:cNvPr>
          <p:cNvSpPr>
            <a:spLocks xmlns:a="http://schemas.openxmlformats.org/drawingml/2006/main" noGrp="1"/>
          </p:cNvSpPr>
          <p:nvPr/>
        </p:nvSpPr>
        <p:spPr>
          <a:xfrm xmlns:a="http://schemas.openxmlformats.org/drawingml/2006/main">
            <a:off x="9267825" y="5448300"/>
            <a:ext cx="2314575" cy="514350"/>
          </a:xfrm>
          <a:prstGeom xmlns:a="http://schemas.openxmlformats.org/drawingml/2006/main" prst="roundRect">
            <a:avLst>
              <a:gd name="adj" fmla="val 18519"/>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72C36"/>
                </a:solidFill>
                <a:latin typeface="Helvetica Neue"/>
                <a:ea typeface="Helvetica Neue"/>
                <a:cs typeface="Helvetica Neue"/>
              </a:defRPr>
            </a:pPr>
            <a:r>
              <a:rPr sz="1725" b="1">
                <a:solidFill>
                  <a:srgbClr val="172C36"/>
                </a:solidFill>
                <a:latin typeface="Helvetica Neue"/>
                <a:ea typeface="Helvetica Neue"/>
                <a:cs typeface="Helvetica Neue"/>
              </a:rPr>
              <a:t>Count units</a:t>
            </a:r>
          </a:p>
        </p:txBody>
      </p:sp>
      <p:sp>
        <p:nvSpPr>
          <p:cNvPr id="29" name="">
            <a:extLst xmlns:a="http://schemas.openxmlformats.org/drawingml/2006/main">
              <a:ext uri="{FF2B5EF4-FFF2-40B4-BE49-F238E27FC236}">
                <a16:creationId xmlns:a16="http://schemas.microsoft.com/office/drawing/2014/main" id="{CBFCC15C-33BB-4FF1-BA5D-B2F755BF8FF7}"/>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30" name="text-61">
            <a:extLst xmlns:a="http://schemas.openxmlformats.org/drawingml/2006/main">
              <a:ext uri="{FF2B5EF4-FFF2-40B4-BE49-F238E27FC236}">
                <a16:creationId xmlns:a16="http://schemas.microsoft.com/office/drawing/2014/main" id="{89D6FE2E-E3B2-4CB2-8D23-54613532A8F7}"/>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WARMR-style bounded search. More required atoms cannot increase support. b: buyer, s: seller, K: contract.</a:t>
            </a:r>
          </a:p>
        </p:txBody>
      </p:sp>
    </p:spTree>
    <p:extLst>
      <p:ext uri="{BB962C8B-B14F-4D97-AF65-F5344CB8AC3E}">
        <p14:creationId xmlns:p14="http://schemas.microsoft.com/office/powerpoint/2010/main" val="176637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62">
            <a:extLst xmlns:a="http://schemas.openxmlformats.org/drawingml/2006/main">
              <a:ext uri="{FF2B5EF4-FFF2-40B4-BE49-F238E27FC236}">
                <a16:creationId xmlns:a16="http://schemas.microsoft.com/office/drawing/2014/main" id="{4C3FD4F0-3A85-41EE-A6F9-282EEACDD06F}"/>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B. A compact dictionary of recurring structures</a:t>
            </a:r>
          </a:p>
        </p:txBody>
      </p:sp>
      <p:sp>
        <p:nvSpPr>
          <p:cNvPr id="2" name="text-63">
            <a:extLst xmlns:a="http://schemas.openxmlformats.org/drawingml/2006/main">
              <a:ext uri="{FF2B5EF4-FFF2-40B4-BE49-F238E27FC236}">
                <a16:creationId xmlns:a16="http://schemas.microsoft.com/office/drawing/2014/main" id="{1EC7BF59-3F19-4670-A008-A64C4D4E9BE8}"/>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Select patterns jointly so overlapping descriptions pay for their full cost</a:t>
            </a:r>
          </a:p>
        </p:txBody>
      </p:sp>
      <p:sp>
        <p:nvSpPr>
          <p:cNvPr id="3" name="text-64">
            <a:extLst xmlns:a="http://schemas.openxmlformats.org/drawingml/2006/main">
              <a:ext uri="{FF2B5EF4-FFF2-40B4-BE49-F238E27FC236}">
                <a16:creationId xmlns:a16="http://schemas.microsoft.com/office/drawing/2014/main" id="{3656FFD2-2362-4B1E-9205-EE669E0B3877}"/>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05</a:t>
            </a:r>
          </a:p>
        </p:txBody>
      </p:sp>
      <p:sp>
        <p:nvSpPr>
          <p:cNvPr id="4" name="text-65">
            <a:extLst xmlns:a="http://schemas.openxmlformats.org/drawingml/2006/main">
              <a:ext uri="{FF2B5EF4-FFF2-40B4-BE49-F238E27FC236}">
                <a16:creationId xmlns:a16="http://schemas.microsoft.com/office/drawing/2014/main" id="{31BBFBF4-BE66-4034-BEEC-363BCBBE080D}"/>
              </a:ext>
            </a:extLst>
          </p:cNvPr>
          <p:cNvSpPr>
            <a:spLocks xmlns:a="http://schemas.openxmlformats.org/drawingml/2006/main" noGrp="1"/>
          </p:cNvSpPr>
          <p:nvPr/>
        </p:nvSpPr>
        <p:spPr>
          <a:xfrm xmlns:a="http://schemas.openxmlformats.org/drawingml/2006/main">
            <a:off x="609600" y="1724025"/>
            <a:ext cx="4857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Pattern dictionary</a:t>
            </a:r>
          </a:p>
        </p:txBody>
      </p:sp>
      <p:sp>
        <p:nvSpPr>
          <p:cNvPr id="5" name="shape-66">
            <a:extLst xmlns:a="http://schemas.openxmlformats.org/drawingml/2006/main">
              <a:ext uri="{FF2B5EF4-FFF2-40B4-BE49-F238E27FC236}">
                <a16:creationId xmlns:a16="http://schemas.microsoft.com/office/drawing/2014/main" id="{AB714C29-102E-4E22-A015-98A08F00FD65}"/>
              </a:ext>
            </a:extLst>
          </p:cNvPr>
          <p:cNvSpPr>
            <a:spLocks xmlns:a="http://schemas.openxmlformats.org/drawingml/2006/main" noGrp="1"/>
          </p:cNvSpPr>
          <p:nvPr/>
        </p:nvSpPr>
        <p:spPr>
          <a:xfrm xmlns:a="http://schemas.openxmlformats.org/drawingml/2006/main">
            <a:off x="609600" y="2324100"/>
            <a:ext cx="5143500" cy="1171575"/>
          </a:xfrm>
          <a:prstGeom xmlns:a="http://schemas.openxmlformats.org/drawingml/2006/main" prst="roundRect">
            <a:avLst>
              <a:gd name="adj" fmla="val 8130"/>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P(b,s,K) = PAID_FULL(b,s,K)</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AND NOT_DELIVERED(s,b,K)</a:t>
            </a:r>
          </a:p>
        </p:txBody>
      </p:sp>
      <p:sp>
        <p:nvSpPr>
          <p:cNvPr id="6" name="text-67">
            <a:extLst xmlns:a="http://schemas.openxmlformats.org/drawingml/2006/main">
              <a:ext uri="{FF2B5EF4-FFF2-40B4-BE49-F238E27FC236}">
                <a16:creationId xmlns:a16="http://schemas.microsoft.com/office/drawing/2014/main" id="{DACF7042-4B44-4928-8F73-B959DC217318}"/>
              </a:ext>
            </a:extLst>
          </p:cNvPr>
          <p:cNvSpPr>
            <a:spLocks xmlns:a="http://schemas.openxmlformats.org/drawingml/2006/main" noGrp="1"/>
          </p:cNvSpPr>
          <p:nvPr/>
        </p:nvSpPr>
        <p:spPr>
          <a:xfrm xmlns:a="http://schemas.openxmlformats.org/drawingml/2006/main">
            <a:off x="609600" y="3686175"/>
            <a:ext cx="5143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66B76"/>
                </a:solidFill>
                <a:latin typeface="Helvetica Neue"/>
                <a:ea typeface="Helvetica Neue"/>
                <a:cs typeface="Helvetica Neue"/>
              </a:defRPr>
            </a:pPr>
            <a:r>
              <a:rPr sz="1950" b="0">
                <a:solidFill>
                  <a:srgbClr val="566B76"/>
                </a:solidFill>
                <a:latin typeface="Helvetica Neue"/>
                <a:ea typeface="Helvetica Neue"/>
                <a:cs typeface="Helvetica Neue"/>
              </a:rPr>
              <a:t>Pay once for the complete definition</a:t>
            </a:r>
          </a:p>
        </p:txBody>
      </p:sp>
      <p:sp>
        <p:nvSpPr>
          <p:cNvPr id="7" name="">
            <a:extLst xmlns:a="http://schemas.openxmlformats.org/drawingml/2006/main">
              <a:ext uri="{FF2B5EF4-FFF2-40B4-BE49-F238E27FC236}">
                <a16:creationId xmlns:a16="http://schemas.microsoft.com/office/drawing/2014/main" id="{0039C7EC-C158-4DA7-98C9-15BA1825D1C3}"/>
              </a:ext>
            </a:extLst>
          </p:cNvPr>
          <p:cNvSpPr>
            <a:spLocks xmlns:a="http://schemas.openxmlformats.org/drawingml/2006/main" noGrp="1"/>
          </p:cNvSpPr>
          <p:nvPr/>
        </p:nvSpPr>
        <p:spPr>
          <a:xfrm xmlns:a="http://schemas.openxmlformats.org/drawingml/2006/main" flipV="0">
            <a:off x="5753100" y="2905125"/>
            <a:ext cx="60007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8" name="">
            <a:extLst xmlns:a="http://schemas.openxmlformats.org/drawingml/2006/main">
              <a:ext uri="{FF2B5EF4-FFF2-40B4-BE49-F238E27FC236}">
                <a16:creationId xmlns:a16="http://schemas.microsoft.com/office/drawing/2014/main" id="{1CCE45D4-BA6E-4C5C-AC04-98211B9E8F97}"/>
              </a:ext>
            </a:extLst>
          </p:cNvPr>
          <p:cNvSpPr>
            <a:spLocks xmlns:a="http://schemas.openxmlformats.org/drawingml/2006/main" noGrp="1"/>
          </p:cNvSpPr>
          <p:nvPr/>
        </p:nvSpPr>
        <p:spPr>
          <a:xfrm xmlns:a="http://schemas.openxmlformats.org/drawingml/2006/main">
            <a:off x="6276975" y="286702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9" name="text-68">
            <a:extLst xmlns:a="http://schemas.openxmlformats.org/drawingml/2006/main">
              <a:ext uri="{FF2B5EF4-FFF2-40B4-BE49-F238E27FC236}">
                <a16:creationId xmlns:a16="http://schemas.microsoft.com/office/drawing/2014/main" id="{6A977872-1122-4ECC-8B7B-8FFE488A8D88}"/>
              </a:ext>
            </a:extLst>
          </p:cNvPr>
          <p:cNvSpPr>
            <a:spLocks xmlns:a="http://schemas.openxmlformats.org/drawingml/2006/main" noGrp="1"/>
          </p:cNvSpPr>
          <p:nvPr/>
        </p:nvSpPr>
        <p:spPr>
          <a:xfrm xmlns:a="http://schemas.openxmlformats.org/drawingml/2006/main">
            <a:off x="6657975" y="1714500"/>
            <a:ext cx="4924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Uses retain the exact bindings</a:t>
            </a:r>
          </a:p>
        </p:txBody>
      </p:sp>
      <p:graphicFrame>
        <p:nvGraphicFramePr>
          <p:cNvPr id="26" name=""/>
          <p:cNvGraphicFramePr/>
          <p:nvPr/>
        </p:nvGraphicFramePr>
        <p:xfrm>
          <a:off xmlns:a="http://schemas.openxmlformats.org/drawingml/2006/main" x="6657975" y="2286000"/>
          <a:ext xmlns:a="http://schemas.openxmlformats.org/drawingml/2006/main" cx="4924425" cy="2314575"/>
        </p:xfrm>
        <a:graphic xmlns:a="http://schemas.openxmlformats.org/drawingml/2006/main">
          <a:graphicData uri="http://schemas.openxmlformats.org/drawingml/2006/table">
            <a:tbl>
              <a:tblPr firstRow="0" bandRow="0"/>
              <a:tblGrid>
                <a:gridCol w="2162175"/>
                <a:gridCol w="2762250"/>
              </a:tblGrid>
              <a:tr h="578644">
                <a:tc>
                  <a:txBody>
                    <a:bodyPr lIns="152400" tIns="114300" rIns="152400" bIns="114300">
                      <a:noAutofit/>
                    </a:bodyPr>
                    <a:lstStyle/>
                    <a:p>
                      <a:r>
                        <a:rPr sz="1800" b="1">
                          <a:solidFill>
                            <a:srgbClr val="172C36"/>
                          </a:solidFill>
                          <a:latin typeface="Helvetica Neue"/>
                          <a:ea typeface="Helvetica Neue"/>
                          <a:cs typeface="Helvetica Neue"/>
                        </a:rPr>
                        <a:t>Unit</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Pattern + binding</a:t>
                      </a:r>
                    </a:p>
                  </a:txBody>
                  <a:tcPr marL="91440" marR="91440" marT="45720" marB="45720" anchor="ctr">
                    <a:solidFill>
                      <a:srgbClr val="EAF0F6"/>
                    </a:solidFill>
                  </a:tcPr>
                </a:tc>
              </a:tr>
              <a:tr h="578644">
                <a:tc>
                  <a:txBody>
                    <a:bodyPr lIns="152400" tIns="114300" rIns="152400" bIns="114300">
                      <a:noAutofit/>
                    </a:bodyPr>
                    <a:lstStyle/>
                    <a:p>
                      <a:r>
                        <a:rPr sz="1875" b="0">
                          <a:solidFill>
                            <a:srgbClr val="172C36"/>
                          </a:solidFill>
                          <a:latin typeface="Helvetica Neue"/>
                          <a:ea typeface="Helvetica Neue"/>
                          <a:cs typeface="Helvetica Neue"/>
                        </a:rPr>
                        <a:t>J1 / claim 1</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P(b1, s1, K1)</a:t>
                      </a:r>
                    </a:p>
                  </a:txBody>
                  <a:tcPr marL="91440" marR="91440" marT="45720" marB="45720" anchor="ctr">
                    <a:solidFill>
                      <a:srgbClr val="FFFFFF"/>
                    </a:solidFill>
                  </a:tcPr>
                </a:tc>
              </a:tr>
              <a:tr h="578644">
                <a:tc>
                  <a:txBody>
                    <a:bodyPr lIns="152400" tIns="114300" rIns="152400" bIns="114300">
                      <a:noAutofit/>
                    </a:bodyPr>
                    <a:lstStyle/>
                    <a:p>
                      <a:r>
                        <a:rPr sz="1875" b="0">
                          <a:solidFill>
                            <a:srgbClr val="172C36"/>
                          </a:solidFill>
                          <a:latin typeface="Helvetica Neue"/>
                          <a:ea typeface="Helvetica Neue"/>
                          <a:cs typeface="Helvetica Neue"/>
                        </a:rPr>
                        <a:t>J2 / claim 1</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P(b2, s2, K7)</a:t>
                      </a:r>
                    </a:p>
                  </a:txBody>
                  <a:tcPr marL="91440" marR="91440" marT="45720" marB="45720" anchor="ctr">
                    <a:solidFill>
                      <a:srgbClr val="FFFFFF"/>
                    </a:solidFill>
                  </a:tcPr>
                </a:tc>
              </a:tr>
              <a:tr h="578644">
                <a:tc>
                  <a:txBody>
                    <a:bodyPr lIns="152400" tIns="114300" rIns="152400" bIns="114300">
                      <a:noAutofit/>
                    </a:bodyPr>
                    <a:lstStyle/>
                    <a:p>
                      <a:r>
                        <a:rPr sz="1875" b="0">
                          <a:solidFill>
                            <a:srgbClr val="172C36"/>
                          </a:solidFill>
                          <a:latin typeface="Helvetica Neue"/>
                          <a:ea typeface="Helvetica Neue"/>
                          <a:cs typeface="Helvetica Neue"/>
                        </a:rPr>
                        <a:t>J3 / claim 1</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P(b3, s3, K9)</a:t>
                      </a:r>
                    </a:p>
                  </a:txBody>
                  <a:tcPr marL="91440" marR="91440" marT="45720" marB="45720" anchor="ctr">
                    <a:solidFill>
                      <a:srgbClr val="FFFFFF"/>
                    </a:solidFill>
                  </a:tcPr>
                </a:tc>
              </a:tr>
            </a:tbl>
          </a:graphicData>
        </a:graphic>
      </p:graphicFrame>
      <p:sp>
        <p:nvSpPr>
          <p:cNvPr id="11" name="text-69">
            <a:extLst xmlns:a="http://schemas.openxmlformats.org/drawingml/2006/main">
              <a:ext uri="{FF2B5EF4-FFF2-40B4-BE49-F238E27FC236}">
                <a16:creationId xmlns:a16="http://schemas.microsoft.com/office/drawing/2014/main" id="{F2F907FE-9C8C-4562-A24F-7792339CF61E}"/>
              </a:ext>
            </a:extLst>
          </p:cNvPr>
          <p:cNvSpPr>
            <a:spLocks xmlns:a="http://schemas.openxmlformats.org/drawingml/2006/main" noGrp="1"/>
          </p:cNvSpPr>
          <p:nvPr/>
        </p:nvSpPr>
        <p:spPr>
          <a:xfrm xmlns:a="http://schemas.openxmlformats.org/drawingml/2006/main">
            <a:off x="6657975" y="4772025"/>
            <a:ext cx="49244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Other facts remain explicit</a:t>
            </a:r>
          </a:p>
        </p:txBody>
      </p:sp>
      <p:sp>
        <p:nvSpPr>
          <p:cNvPr id="12" name="">
            <a:extLst xmlns:a="http://schemas.openxmlformats.org/drawingml/2006/main">
              <a:ext uri="{FF2B5EF4-FFF2-40B4-BE49-F238E27FC236}">
                <a16:creationId xmlns:a16="http://schemas.microsoft.com/office/drawing/2014/main" id="{1AB9DD67-1B49-4496-A482-A33C033F8DE3}"/>
              </a:ext>
            </a:extLst>
          </p:cNvPr>
          <p:cNvSpPr>
            <a:spLocks xmlns:a="http://schemas.openxmlformats.org/drawingml/2006/main" noGrp="1"/>
          </p:cNvSpPr>
          <p:nvPr/>
        </p:nvSpPr>
        <p:spPr>
          <a:xfrm xmlns:a="http://schemas.openxmlformats.org/drawingml/2006/main" flipV="0">
            <a:off x="609600" y="4695825"/>
            <a:ext cx="51435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13" name="text-70">
            <a:extLst xmlns:a="http://schemas.openxmlformats.org/drawingml/2006/main">
              <a:ext uri="{FF2B5EF4-FFF2-40B4-BE49-F238E27FC236}">
                <a16:creationId xmlns:a16="http://schemas.microsoft.com/office/drawing/2014/main" id="{81D0DAD2-7988-4E8C-9D0A-784C1DDEB168}"/>
              </a:ext>
            </a:extLst>
          </p:cNvPr>
          <p:cNvSpPr>
            <a:spLocks xmlns:a="http://schemas.openxmlformats.org/drawingml/2006/main" noGrp="1"/>
          </p:cNvSpPr>
          <p:nvPr/>
        </p:nvSpPr>
        <p:spPr>
          <a:xfrm xmlns:a="http://schemas.openxmlformats.org/drawingml/2006/main">
            <a:off x="609600" y="48863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Joint set-cover optimization</a:t>
            </a:r>
          </a:p>
        </p:txBody>
      </p:sp>
      <p:sp>
        <p:nvSpPr>
          <p:cNvPr id="14" name="text-71">
            <a:extLst xmlns:a="http://schemas.openxmlformats.org/drawingml/2006/main">
              <a:ext uri="{FF2B5EF4-FFF2-40B4-BE49-F238E27FC236}">
                <a16:creationId xmlns:a16="http://schemas.microsoft.com/office/drawing/2014/main" id="{B948FA09-4E96-427E-8B52-595E977E04AD}"/>
              </a:ext>
            </a:extLst>
          </p:cNvPr>
          <p:cNvSpPr>
            <a:spLocks xmlns:a="http://schemas.openxmlformats.org/drawingml/2006/main" noGrp="1"/>
          </p:cNvSpPr>
          <p:nvPr/>
        </p:nvSpPr>
        <p:spPr>
          <a:xfrm xmlns:a="http://schemas.openxmlformats.org/drawingml/2006/main">
            <a:off x="609600" y="55149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72C36"/>
                </a:solidFill>
                <a:latin typeface="Helvetica Neue"/>
                <a:ea typeface="Helvetica Neue"/>
                <a:cs typeface="Helvetica Neue"/>
              </a:defRPr>
            </a:pPr>
            <a:r>
              <a:rPr sz="2325" b="1">
                <a:solidFill>
                  <a:srgbClr val="172C36"/>
                </a:solidFill>
                <a:latin typeface="Helvetica Neue"/>
                <a:ea typeface="Helvetica Neue"/>
                <a:cs typeface="Helvetica Neue"/>
              </a:rPr>
              <a:t>Minimize  definitions + uses + remaining facts</a:t>
            </a:r>
          </a:p>
        </p:txBody>
      </p:sp>
      <p:sp>
        <p:nvSpPr>
          <p:cNvPr id="15" name="">
            <a:extLst xmlns:a="http://schemas.openxmlformats.org/drawingml/2006/main">
              <a:ext uri="{FF2B5EF4-FFF2-40B4-BE49-F238E27FC236}">
                <a16:creationId xmlns:a16="http://schemas.microsoft.com/office/drawing/2014/main" id="{3DA30006-ACC5-4680-8795-2FB6B6C2F09B}"/>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16" name="text-72">
            <a:extLst xmlns:a="http://schemas.openxmlformats.org/drawingml/2006/main">
              <a:ext uri="{FF2B5EF4-FFF2-40B4-BE49-F238E27FC236}">
                <a16:creationId xmlns:a16="http://schemas.microsoft.com/office/drawing/2014/main" id="{DC5FADA0-67EA-4C08-AD98-176F6FAB2FCB}"/>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Every fact must reconstruct exactly. Compression rewards reuse, while rare legal facts stay available to C.</a:t>
            </a:r>
          </a:p>
        </p:txBody>
      </p:sp>
    </p:spTree>
    <p:extLst>
      <p:ext uri="{BB962C8B-B14F-4D97-AF65-F5344CB8AC3E}">
        <p14:creationId xmlns:p14="http://schemas.microsoft.com/office/powerpoint/2010/main" val="11484058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ext-73">
            <a:extLst xmlns:a="http://schemas.openxmlformats.org/drawingml/2006/main">
              <a:ext uri="{FF2B5EF4-FFF2-40B4-BE49-F238E27FC236}">
                <a16:creationId xmlns:a16="http://schemas.microsoft.com/office/drawing/2014/main" id="{ED43CCA8-0570-4C3F-90C3-9EE21DC470D9}"/>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C. Rules, arguments and objections</a:t>
            </a:r>
          </a:p>
        </p:txBody>
      </p:sp>
      <p:sp>
        <p:nvSpPr>
          <p:cNvPr id="2" name="text-74">
            <a:extLst xmlns:a="http://schemas.openxmlformats.org/drawingml/2006/main">
              <a:ext uri="{FF2B5EF4-FFF2-40B4-BE49-F238E27FC236}">
                <a16:creationId xmlns:a16="http://schemas.microsoft.com/office/drawing/2014/main" id="{D51845BB-F6A4-4190-AB32-7EA04F3D54A6}"/>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ASPIC+ supplies the structure. Grounded semantics resolves the defeat graph.</a:t>
            </a:r>
          </a:p>
        </p:txBody>
      </p:sp>
      <p:sp>
        <p:nvSpPr>
          <p:cNvPr id="3" name="text-75">
            <a:extLst xmlns:a="http://schemas.openxmlformats.org/drawingml/2006/main">
              <a:ext uri="{FF2B5EF4-FFF2-40B4-BE49-F238E27FC236}">
                <a16:creationId xmlns:a16="http://schemas.microsoft.com/office/drawing/2014/main" id="{5DC53D3F-E1D4-4F8B-9B0D-80F0AABCD983}"/>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06</a:t>
            </a:r>
          </a:p>
        </p:txBody>
      </p:sp>
      <p:sp>
        <p:nvSpPr>
          <p:cNvPr id="4" name="shape-76">
            <a:extLst xmlns:a="http://schemas.openxmlformats.org/drawingml/2006/main">
              <a:ext uri="{FF2B5EF4-FFF2-40B4-BE49-F238E27FC236}">
                <a16:creationId xmlns:a16="http://schemas.microsoft.com/office/drawing/2014/main" id="{B79409E5-659D-4655-8314-EF7E5DE6FAD8}"/>
              </a:ext>
            </a:extLst>
          </p:cNvPr>
          <p:cNvSpPr>
            <a:spLocks xmlns:a="http://schemas.openxmlformats.org/drawingml/2006/main" noGrp="1"/>
          </p:cNvSpPr>
          <p:nvPr/>
        </p:nvSpPr>
        <p:spPr>
          <a:xfrm xmlns:a="http://schemas.openxmlformats.org/drawingml/2006/main">
            <a:off x="676275" y="1771650"/>
            <a:ext cx="361950" cy="581025"/>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5" name="">
            <a:extLst xmlns:a="http://schemas.openxmlformats.org/drawingml/2006/main">
              <a:ext uri="{FF2B5EF4-FFF2-40B4-BE49-F238E27FC236}">
                <a16:creationId xmlns:a16="http://schemas.microsoft.com/office/drawing/2014/main" id="{9A4B7332-3FFE-4AB5-BC67-92453BFC89F6}"/>
              </a:ext>
            </a:extLst>
          </p:cNvPr>
          <p:cNvSpPr>
            <a:spLocks xmlns:a="http://schemas.openxmlformats.org/drawingml/2006/main" noGrp="1"/>
          </p:cNvSpPr>
          <p:nvPr/>
        </p:nvSpPr>
        <p:spPr>
          <a:xfrm xmlns:a="http://schemas.openxmlformats.org/drawingml/2006/main" flipV="0">
            <a:off x="752475" y="1905000"/>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6" name="">
            <a:extLst xmlns:a="http://schemas.openxmlformats.org/drawingml/2006/main">
              <a:ext uri="{FF2B5EF4-FFF2-40B4-BE49-F238E27FC236}">
                <a16:creationId xmlns:a16="http://schemas.microsoft.com/office/drawing/2014/main" id="{2660851D-E0C3-41C2-A218-2AD2374E47E1}"/>
              </a:ext>
            </a:extLst>
          </p:cNvPr>
          <p:cNvSpPr>
            <a:spLocks xmlns:a="http://schemas.openxmlformats.org/drawingml/2006/main" noGrp="1"/>
          </p:cNvSpPr>
          <p:nvPr/>
        </p:nvSpPr>
        <p:spPr>
          <a:xfrm xmlns:a="http://schemas.openxmlformats.org/drawingml/2006/main" flipV="0">
            <a:off x="752475" y="2009775"/>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7" name="">
            <a:extLst xmlns:a="http://schemas.openxmlformats.org/drawingml/2006/main">
              <a:ext uri="{FF2B5EF4-FFF2-40B4-BE49-F238E27FC236}">
                <a16:creationId xmlns:a16="http://schemas.microsoft.com/office/drawing/2014/main" id="{6D4B31F0-B339-4202-9DCF-95F6B81A2366}"/>
              </a:ext>
            </a:extLst>
          </p:cNvPr>
          <p:cNvSpPr>
            <a:spLocks xmlns:a="http://schemas.openxmlformats.org/drawingml/2006/main" noGrp="1"/>
          </p:cNvSpPr>
          <p:nvPr/>
        </p:nvSpPr>
        <p:spPr>
          <a:xfrm xmlns:a="http://schemas.openxmlformats.org/drawingml/2006/main" flipV="0">
            <a:off x="752475" y="2114550"/>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8" name="shape-77">
            <a:extLst xmlns:a="http://schemas.openxmlformats.org/drawingml/2006/main">
              <a:ext uri="{FF2B5EF4-FFF2-40B4-BE49-F238E27FC236}">
                <a16:creationId xmlns:a16="http://schemas.microsoft.com/office/drawing/2014/main" id="{F6A294FB-35DC-4869-9BBD-A8A7DB033659}"/>
              </a:ext>
            </a:extLst>
          </p:cNvPr>
          <p:cNvSpPr>
            <a:spLocks xmlns:a="http://schemas.openxmlformats.org/drawingml/2006/main" noGrp="1"/>
          </p:cNvSpPr>
          <p:nvPr/>
        </p:nvSpPr>
        <p:spPr>
          <a:xfrm xmlns:a="http://schemas.openxmlformats.org/drawingml/2006/main">
            <a:off x="1038225" y="1771650"/>
            <a:ext cx="361950" cy="581025"/>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9" name="">
            <a:extLst xmlns:a="http://schemas.openxmlformats.org/drawingml/2006/main">
              <a:ext uri="{FF2B5EF4-FFF2-40B4-BE49-F238E27FC236}">
                <a16:creationId xmlns:a16="http://schemas.microsoft.com/office/drawing/2014/main" id="{013ABB0C-8824-42A3-8305-FB5C74C5CA9D}"/>
              </a:ext>
            </a:extLst>
          </p:cNvPr>
          <p:cNvSpPr>
            <a:spLocks xmlns:a="http://schemas.openxmlformats.org/drawingml/2006/main" noGrp="1"/>
          </p:cNvSpPr>
          <p:nvPr/>
        </p:nvSpPr>
        <p:spPr>
          <a:xfrm xmlns:a="http://schemas.openxmlformats.org/drawingml/2006/main" flipV="0">
            <a:off x="1114425" y="1905000"/>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10" name="">
            <a:extLst xmlns:a="http://schemas.openxmlformats.org/drawingml/2006/main">
              <a:ext uri="{FF2B5EF4-FFF2-40B4-BE49-F238E27FC236}">
                <a16:creationId xmlns:a16="http://schemas.microsoft.com/office/drawing/2014/main" id="{7DBA5276-4A47-4931-BA77-8F1DDB4CAA49}"/>
              </a:ext>
            </a:extLst>
          </p:cNvPr>
          <p:cNvSpPr>
            <a:spLocks xmlns:a="http://schemas.openxmlformats.org/drawingml/2006/main" noGrp="1"/>
          </p:cNvSpPr>
          <p:nvPr/>
        </p:nvSpPr>
        <p:spPr>
          <a:xfrm xmlns:a="http://schemas.openxmlformats.org/drawingml/2006/main" flipV="0">
            <a:off x="1114425" y="2009775"/>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11" name="">
            <a:extLst xmlns:a="http://schemas.openxmlformats.org/drawingml/2006/main">
              <a:ext uri="{FF2B5EF4-FFF2-40B4-BE49-F238E27FC236}">
                <a16:creationId xmlns:a16="http://schemas.microsoft.com/office/drawing/2014/main" id="{6168F8F1-5FF0-46E7-8D54-FC208A2C95A5}"/>
              </a:ext>
            </a:extLst>
          </p:cNvPr>
          <p:cNvSpPr>
            <a:spLocks xmlns:a="http://schemas.openxmlformats.org/drawingml/2006/main" noGrp="1"/>
          </p:cNvSpPr>
          <p:nvPr/>
        </p:nvSpPr>
        <p:spPr>
          <a:xfrm xmlns:a="http://schemas.openxmlformats.org/drawingml/2006/main" flipV="0">
            <a:off x="1114425" y="2114550"/>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12" name="">
            <a:extLst xmlns:a="http://schemas.openxmlformats.org/drawingml/2006/main">
              <a:ext uri="{FF2B5EF4-FFF2-40B4-BE49-F238E27FC236}">
                <a16:creationId xmlns:a16="http://schemas.microsoft.com/office/drawing/2014/main" id="{9B9D0069-70D4-4B64-AE1A-800D176A7A3B}"/>
              </a:ext>
            </a:extLst>
          </p:cNvPr>
          <p:cNvSpPr>
            <a:spLocks xmlns:a="http://schemas.openxmlformats.org/drawingml/2006/main" noGrp="1"/>
          </p:cNvSpPr>
          <p:nvPr/>
        </p:nvSpPr>
        <p:spPr>
          <a:xfrm xmlns:a="http://schemas.openxmlformats.org/drawingml/2006/main" flipV="0">
            <a:off x="1038225" y="1743075"/>
            <a:ext cx="0" cy="638175"/>
          </a:xfrm>
          <a:prstGeom xmlns:a="http://schemas.openxmlformats.org/drawingml/2006/main" prst="line">
            <a:avLst/>
          </a:prstGeom>
          <a:noFill xmlns:a="http://schemas.openxmlformats.org/drawingml/2006/main"/>
          <a:ln xmlns:a="http://schemas.openxmlformats.org/drawingml/2006/main" w="23813">
            <a:solidFill>
              <a:srgbClr val="172C36"/>
            </a:solidFill>
            <a:prstDash val="solid"/>
          </a:ln>
        </p:spPr>
      </p:sp>
      <p:sp>
        <p:nvSpPr>
          <p:cNvPr id="13" name="text-78">
            <a:extLst xmlns:a="http://schemas.openxmlformats.org/drawingml/2006/main">
              <a:ext uri="{FF2B5EF4-FFF2-40B4-BE49-F238E27FC236}">
                <a16:creationId xmlns:a16="http://schemas.microsoft.com/office/drawing/2014/main" id="{23BA9FC5-82FC-4FD7-BF8C-7181795594AC}"/>
              </a:ext>
            </a:extLst>
          </p:cNvPr>
          <p:cNvSpPr>
            <a:spLocks xmlns:a="http://schemas.openxmlformats.org/drawingml/2006/main" noGrp="1"/>
          </p:cNvSpPr>
          <p:nvPr/>
        </p:nvSpPr>
        <p:spPr>
          <a:xfrm xmlns:a="http://schemas.openxmlformats.org/drawingml/2006/main">
            <a:off x="1562100" y="1762125"/>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Authorities</a:t>
            </a:r>
          </a:p>
        </p:txBody>
      </p:sp>
      <p:sp>
        <p:nvSpPr>
          <p:cNvPr id="14" name="shape-79">
            <a:extLst xmlns:a="http://schemas.openxmlformats.org/drawingml/2006/main">
              <a:ext uri="{FF2B5EF4-FFF2-40B4-BE49-F238E27FC236}">
                <a16:creationId xmlns:a16="http://schemas.microsoft.com/office/drawing/2014/main" id="{BF1D5A0A-5DD9-4A24-8B50-53B3CE6F3C2C}"/>
              </a:ext>
            </a:extLst>
          </p:cNvPr>
          <p:cNvSpPr>
            <a:spLocks xmlns:a="http://schemas.openxmlformats.org/drawingml/2006/main" noGrp="1"/>
          </p:cNvSpPr>
          <p:nvPr/>
        </p:nvSpPr>
        <p:spPr>
          <a:xfrm xmlns:a="http://schemas.openxmlformats.org/drawingml/2006/main">
            <a:off x="3981450" y="1676400"/>
            <a:ext cx="3248025" cy="800100"/>
          </a:xfrm>
          <a:prstGeom xmlns:a="http://schemas.openxmlformats.org/drawingml/2006/main" prst="roundRect">
            <a:avLst>
              <a:gd name="adj" fmla="val 11905"/>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Review and compile</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conditions + exceptions</a:t>
            </a:r>
          </a:p>
        </p:txBody>
      </p:sp>
      <p:sp>
        <p:nvSpPr>
          <p:cNvPr id="15" name="shape-80">
            <a:extLst xmlns:a="http://schemas.openxmlformats.org/drawingml/2006/main">
              <a:ext uri="{FF2B5EF4-FFF2-40B4-BE49-F238E27FC236}">
                <a16:creationId xmlns:a16="http://schemas.microsoft.com/office/drawing/2014/main" id="{45FF7383-3BA8-4EDC-8FDB-20E01091DE41}"/>
              </a:ext>
            </a:extLst>
          </p:cNvPr>
          <p:cNvSpPr>
            <a:spLocks xmlns:a="http://schemas.openxmlformats.org/drawingml/2006/main" noGrp="1"/>
          </p:cNvSpPr>
          <p:nvPr/>
        </p:nvSpPr>
        <p:spPr>
          <a:xfrm xmlns:a="http://schemas.openxmlformats.org/drawingml/2006/main">
            <a:off x="8334375" y="1676400"/>
            <a:ext cx="3248025" cy="800100"/>
          </a:xfrm>
          <a:prstGeom xmlns:a="http://schemas.openxmlformats.org/drawingml/2006/main" prst="roundRect">
            <a:avLst>
              <a:gd name="adj" fmla="val 11905"/>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Construct arguments</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with source IDs</a:t>
            </a:r>
          </a:p>
        </p:txBody>
      </p:sp>
      <p:sp>
        <p:nvSpPr>
          <p:cNvPr id="16" name="">
            <a:extLst xmlns:a="http://schemas.openxmlformats.org/drawingml/2006/main">
              <a:ext uri="{FF2B5EF4-FFF2-40B4-BE49-F238E27FC236}">
                <a16:creationId xmlns:a16="http://schemas.microsoft.com/office/drawing/2014/main" id="{D65DD4A4-0F00-4966-B0E9-2F5846589E33}"/>
              </a:ext>
            </a:extLst>
          </p:cNvPr>
          <p:cNvSpPr>
            <a:spLocks xmlns:a="http://schemas.openxmlformats.org/drawingml/2006/main" noGrp="1"/>
          </p:cNvSpPr>
          <p:nvPr/>
        </p:nvSpPr>
        <p:spPr>
          <a:xfrm xmlns:a="http://schemas.openxmlformats.org/drawingml/2006/main" flipV="0">
            <a:off x="3238500" y="2057400"/>
            <a:ext cx="74295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7" name="">
            <a:extLst xmlns:a="http://schemas.openxmlformats.org/drawingml/2006/main">
              <a:ext uri="{FF2B5EF4-FFF2-40B4-BE49-F238E27FC236}">
                <a16:creationId xmlns:a16="http://schemas.microsoft.com/office/drawing/2014/main" id="{1787DCE3-3112-413F-9E43-DAF58AAAD085}"/>
              </a:ext>
            </a:extLst>
          </p:cNvPr>
          <p:cNvSpPr>
            <a:spLocks xmlns:a="http://schemas.openxmlformats.org/drawingml/2006/main" noGrp="1"/>
          </p:cNvSpPr>
          <p:nvPr/>
        </p:nvSpPr>
        <p:spPr>
          <a:xfrm xmlns:a="http://schemas.openxmlformats.org/drawingml/2006/main">
            <a:off x="3905250" y="201930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8" name="">
            <a:extLst xmlns:a="http://schemas.openxmlformats.org/drawingml/2006/main">
              <a:ext uri="{FF2B5EF4-FFF2-40B4-BE49-F238E27FC236}">
                <a16:creationId xmlns:a16="http://schemas.microsoft.com/office/drawing/2014/main" id="{ACDB06C8-929B-4D13-97DD-E3AC5B5818A4}"/>
              </a:ext>
            </a:extLst>
          </p:cNvPr>
          <p:cNvSpPr>
            <a:spLocks xmlns:a="http://schemas.openxmlformats.org/drawingml/2006/main" noGrp="1"/>
          </p:cNvSpPr>
          <p:nvPr/>
        </p:nvSpPr>
        <p:spPr>
          <a:xfrm xmlns:a="http://schemas.openxmlformats.org/drawingml/2006/main" flipV="0">
            <a:off x="7229475" y="2057400"/>
            <a:ext cx="110490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9" name="">
            <a:extLst xmlns:a="http://schemas.openxmlformats.org/drawingml/2006/main">
              <a:ext uri="{FF2B5EF4-FFF2-40B4-BE49-F238E27FC236}">
                <a16:creationId xmlns:a16="http://schemas.microsoft.com/office/drawing/2014/main" id="{01B30A57-9BD1-465D-92A6-EA3F9F8C0754}"/>
              </a:ext>
            </a:extLst>
          </p:cNvPr>
          <p:cNvSpPr>
            <a:spLocks xmlns:a="http://schemas.openxmlformats.org/drawingml/2006/main" noGrp="1"/>
          </p:cNvSpPr>
          <p:nvPr/>
        </p:nvSpPr>
        <p:spPr>
          <a:xfrm xmlns:a="http://schemas.openxmlformats.org/drawingml/2006/main">
            <a:off x="8258175" y="201930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20" name="text-81">
            <a:extLst xmlns:a="http://schemas.openxmlformats.org/drawingml/2006/main">
              <a:ext uri="{FF2B5EF4-FFF2-40B4-BE49-F238E27FC236}">
                <a16:creationId xmlns:a16="http://schemas.microsoft.com/office/drawing/2014/main" id="{2CCD39D2-C8D3-40F8-A6D7-79C6FD1A1074}"/>
              </a:ext>
            </a:extLst>
          </p:cNvPr>
          <p:cNvSpPr>
            <a:spLocks xmlns:a="http://schemas.openxmlformats.org/drawingml/2006/main" noGrp="1"/>
          </p:cNvSpPr>
          <p:nvPr/>
        </p:nvSpPr>
        <p:spPr>
          <a:xfrm xmlns:a="http://schemas.openxmlformats.org/drawingml/2006/main">
            <a:off x="609600" y="2914650"/>
            <a:ext cx="685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Argument conflict for K1</a:t>
            </a:r>
          </a:p>
        </p:txBody>
      </p:sp>
      <p:sp>
        <p:nvSpPr>
          <p:cNvPr id="21" name="shape-82">
            <a:extLst xmlns:a="http://schemas.openxmlformats.org/drawingml/2006/main">
              <a:ext uri="{FF2B5EF4-FFF2-40B4-BE49-F238E27FC236}">
                <a16:creationId xmlns:a16="http://schemas.microsoft.com/office/drawing/2014/main" id="{3DC81EC1-DDA7-410F-95D9-C225FCB3AE8A}"/>
              </a:ext>
            </a:extLst>
          </p:cNvPr>
          <p:cNvSpPr>
            <a:spLocks xmlns:a="http://schemas.openxmlformats.org/drawingml/2006/main" noGrp="1"/>
          </p:cNvSpPr>
          <p:nvPr/>
        </p:nvSpPr>
        <p:spPr>
          <a:xfrm xmlns:a="http://schemas.openxmlformats.org/drawingml/2006/main">
            <a:off x="609600" y="3733800"/>
            <a:ext cx="2524125" cy="714375"/>
          </a:xfrm>
          <a:prstGeom xmlns:a="http://schemas.openxmlformats.org/drawingml/2006/main" prst="roundRect">
            <a:avLst>
              <a:gd name="adj" fmla="val 13333"/>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A: no extension</a:t>
            </a:r>
          </a:p>
        </p:txBody>
      </p:sp>
      <p:sp>
        <p:nvSpPr>
          <p:cNvPr id="22" name="shape-83">
            <a:extLst xmlns:a="http://schemas.openxmlformats.org/drawingml/2006/main">
              <a:ext uri="{FF2B5EF4-FFF2-40B4-BE49-F238E27FC236}">
                <a16:creationId xmlns:a16="http://schemas.microsoft.com/office/drawing/2014/main" id="{7380AB1A-C28E-4FD1-8C33-1EA8432ACDCB}"/>
              </a:ext>
            </a:extLst>
          </p:cNvPr>
          <p:cNvSpPr>
            <a:spLocks xmlns:a="http://schemas.openxmlformats.org/drawingml/2006/main" noGrp="1"/>
          </p:cNvSpPr>
          <p:nvPr/>
        </p:nvSpPr>
        <p:spPr>
          <a:xfrm xmlns:a="http://schemas.openxmlformats.org/drawingml/2006/main">
            <a:off x="609600" y="4981575"/>
            <a:ext cx="2524125" cy="714375"/>
          </a:xfrm>
          <a:prstGeom xmlns:a="http://schemas.openxmlformats.org/drawingml/2006/main" prst="roundRect">
            <a:avLst>
              <a:gd name="adj" fmla="val 13333"/>
            </a:avLst>
          </a:prstGeom>
          <a:solidFill xmlns:a="http://schemas.openxmlformats.org/drawingml/2006/main">
            <a:srgbClr val="F1D7D4"/>
          </a:solidFill>
          <a:ln xmlns:a="http://schemas.openxmlformats.org/drawingml/2006/main" w="19050">
            <a:solidFill>
              <a:srgbClr val="B44948"/>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172C36"/>
                </a:solidFill>
                <a:latin typeface="Helvetica Neue"/>
                <a:ea typeface="Helvetica Neue"/>
                <a:cs typeface="Helvetica Neue"/>
              </a:defRPr>
            </a:pPr>
            <a:r>
              <a:rPr sz="1875" b="1">
                <a:solidFill>
                  <a:srgbClr val="172C36"/>
                </a:solidFill>
                <a:latin typeface="Helvetica Neue"/>
                <a:ea typeface="Helvetica Neue"/>
                <a:cs typeface="Helvetica Neue"/>
              </a:rPr>
              <a:t>B: deadline extended</a:t>
            </a:r>
          </a:p>
        </p:txBody>
      </p:sp>
      <p:sp>
        <p:nvSpPr>
          <p:cNvPr id="23" name="">
            <a:extLst xmlns:a="http://schemas.openxmlformats.org/drawingml/2006/main">
              <a:ext uri="{FF2B5EF4-FFF2-40B4-BE49-F238E27FC236}">
                <a16:creationId xmlns:a16="http://schemas.microsoft.com/office/drawing/2014/main" id="{3DD7EA93-46D7-4B7C-8D72-A360971611B6}"/>
              </a:ext>
            </a:extLst>
          </p:cNvPr>
          <p:cNvSpPr>
            <a:spLocks xmlns:a="http://schemas.openxmlformats.org/drawingml/2006/main" noGrp="1"/>
          </p:cNvSpPr>
          <p:nvPr/>
        </p:nvSpPr>
        <p:spPr>
          <a:xfrm xmlns:a="http://schemas.openxmlformats.org/drawingml/2006/main" flipV="0">
            <a:off x="1323975" y="4448175"/>
            <a:ext cx="0" cy="533400"/>
          </a:xfrm>
          <a:prstGeom xmlns:a="http://schemas.openxmlformats.org/drawingml/2006/main" prst="line">
            <a:avLst/>
          </a:prstGeom>
          <a:noFill xmlns:a="http://schemas.openxmlformats.org/drawingml/2006/main"/>
          <a:ln xmlns:a="http://schemas.openxmlformats.org/drawingml/2006/main" w="19050">
            <a:solidFill>
              <a:srgbClr val="B44948"/>
            </a:solidFill>
            <a:prstDash val="solid"/>
          </a:ln>
        </p:spPr>
      </p:sp>
      <p:sp>
        <p:nvSpPr>
          <p:cNvPr id="24" name="">
            <a:extLst xmlns:a="http://schemas.openxmlformats.org/drawingml/2006/main">
              <a:ext uri="{FF2B5EF4-FFF2-40B4-BE49-F238E27FC236}">
                <a16:creationId xmlns:a16="http://schemas.microsoft.com/office/drawing/2014/main" id="{091B5A86-8ED3-48DE-8399-201042848C10}"/>
              </a:ext>
            </a:extLst>
          </p:cNvPr>
          <p:cNvSpPr>
            <a:spLocks xmlns:a="http://schemas.openxmlformats.org/drawingml/2006/main" noGrp="1"/>
          </p:cNvSpPr>
          <p:nvPr/>
        </p:nvSpPr>
        <p:spPr>
          <a:xfrm xmlns:a="http://schemas.openxmlformats.org/drawingml/2006/main">
            <a:off x="1285875" y="4905375"/>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B44948"/>
          </a:solidFill>
          <a:ln xmlns:a="http://schemas.openxmlformats.org/drawingml/2006/main" w="9525">
            <a:solidFill>
              <a:srgbClr val="B44948"/>
            </a:solidFill>
          </a:ln>
        </p:spPr>
      </p:sp>
      <p:sp>
        <p:nvSpPr>
          <p:cNvPr id="25" name="">
            <a:extLst xmlns:a="http://schemas.openxmlformats.org/drawingml/2006/main">
              <a:ext uri="{FF2B5EF4-FFF2-40B4-BE49-F238E27FC236}">
                <a16:creationId xmlns:a16="http://schemas.microsoft.com/office/drawing/2014/main" id="{11C12BE6-9D80-4927-9C32-15557108C633}"/>
              </a:ext>
            </a:extLst>
          </p:cNvPr>
          <p:cNvSpPr>
            <a:spLocks xmlns:a="http://schemas.openxmlformats.org/drawingml/2006/main" noGrp="1"/>
          </p:cNvSpPr>
          <p:nvPr/>
        </p:nvSpPr>
        <p:spPr>
          <a:xfrm xmlns:a="http://schemas.openxmlformats.org/drawingml/2006/main" flipV="0">
            <a:off x="2381250" y="4448175"/>
            <a:ext cx="0" cy="533400"/>
          </a:xfrm>
          <a:prstGeom xmlns:a="http://schemas.openxmlformats.org/drawingml/2006/main" prst="line">
            <a:avLst/>
          </a:prstGeom>
          <a:noFill xmlns:a="http://schemas.openxmlformats.org/drawingml/2006/main"/>
          <a:ln xmlns:a="http://schemas.openxmlformats.org/drawingml/2006/main" w="19050">
            <a:solidFill>
              <a:srgbClr val="B44948"/>
            </a:solidFill>
            <a:prstDash val="solid"/>
          </a:ln>
        </p:spPr>
      </p:sp>
      <p:sp>
        <p:nvSpPr>
          <p:cNvPr id="26" name="">
            <a:extLst xmlns:a="http://schemas.openxmlformats.org/drawingml/2006/main">
              <a:ext uri="{FF2B5EF4-FFF2-40B4-BE49-F238E27FC236}">
                <a16:creationId xmlns:a16="http://schemas.microsoft.com/office/drawing/2014/main" id="{2F9D2FDD-99DF-4022-AABD-CEA4490122C9}"/>
              </a:ext>
            </a:extLst>
          </p:cNvPr>
          <p:cNvSpPr>
            <a:spLocks xmlns:a="http://schemas.openxmlformats.org/drawingml/2006/main" noGrp="1"/>
          </p:cNvSpPr>
          <p:nvPr/>
        </p:nvSpPr>
        <p:spPr>
          <a:xfrm xmlns:a="http://schemas.openxmlformats.org/drawingml/2006/main">
            <a:off x="2343150" y="4448175"/>
            <a:ext cx="76200" cy="76200"/>
          </a:xfrm>
          <a:custGeom xmlns:a="http://schemas.openxmlformats.org/drawingml/2006/main">
            <a:pathLst>
              <a:path w="76200" h="76200">
                <a:moveTo>
                  <a:pt x="38100" y="0"/>
                </a:moveTo>
                <a:lnTo>
                  <a:pt x="0" y="76200"/>
                </a:lnTo>
                <a:lnTo>
                  <a:pt x="76200" y="76200"/>
                </a:lnTo>
                <a:close/>
              </a:path>
            </a:pathLst>
          </a:custGeom>
          <a:solidFill xmlns:a="http://schemas.openxmlformats.org/drawingml/2006/main">
            <a:srgbClr val="B44948"/>
          </a:solidFill>
          <a:ln xmlns:a="http://schemas.openxmlformats.org/drawingml/2006/main" w="9525">
            <a:solidFill>
              <a:srgbClr val="B44948"/>
            </a:solidFill>
          </a:ln>
        </p:spPr>
      </p:sp>
      <p:sp>
        <p:nvSpPr>
          <p:cNvPr id="27" name="text-84">
            <a:extLst xmlns:a="http://schemas.openxmlformats.org/drawingml/2006/main">
              <a:ext uri="{FF2B5EF4-FFF2-40B4-BE49-F238E27FC236}">
                <a16:creationId xmlns:a16="http://schemas.microsoft.com/office/drawing/2014/main" id="{1B936810-2FFB-49A0-B91C-B5EB2B57196E}"/>
              </a:ext>
            </a:extLst>
          </p:cNvPr>
          <p:cNvSpPr>
            <a:spLocks xmlns:a="http://schemas.openxmlformats.org/drawingml/2006/main" noGrp="1"/>
          </p:cNvSpPr>
          <p:nvPr/>
        </p:nvSpPr>
        <p:spPr>
          <a:xfrm xmlns:a="http://schemas.openxmlformats.org/drawingml/2006/main">
            <a:off x="1438275" y="4572000"/>
            <a:ext cx="790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B44948"/>
                </a:solidFill>
                <a:latin typeface="Helvetica Neue"/>
                <a:ea typeface="Helvetica Neue"/>
                <a:cs typeface="Helvetica Neue"/>
              </a:defRPr>
            </a:pPr>
            <a:r>
              <a:rPr sz="1650" b="0">
                <a:solidFill>
                  <a:srgbClr val="B44948"/>
                </a:solidFill>
                <a:latin typeface="Helvetica Neue"/>
                <a:ea typeface="Helvetica Neue"/>
                <a:cs typeface="Helvetica Neue"/>
              </a:rPr>
              <a:t>rebut</a:t>
            </a:r>
          </a:p>
        </p:txBody>
      </p:sp>
      <p:sp>
        <p:nvSpPr>
          <p:cNvPr id="28" name="shape-85">
            <a:extLst xmlns:a="http://schemas.openxmlformats.org/drawingml/2006/main">
              <a:ext uri="{FF2B5EF4-FFF2-40B4-BE49-F238E27FC236}">
                <a16:creationId xmlns:a16="http://schemas.microsoft.com/office/drawing/2014/main" id="{602898C4-0AC2-464F-AD7E-F9BAFA727AFE}"/>
              </a:ext>
            </a:extLst>
          </p:cNvPr>
          <p:cNvSpPr>
            <a:spLocks xmlns:a="http://schemas.openxmlformats.org/drawingml/2006/main" noGrp="1"/>
          </p:cNvSpPr>
          <p:nvPr/>
        </p:nvSpPr>
        <p:spPr>
          <a:xfrm xmlns:a="http://schemas.openxmlformats.org/drawingml/2006/main">
            <a:off x="5238750" y="3733800"/>
            <a:ext cx="2724150" cy="714375"/>
          </a:xfrm>
          <a:prstGeom xmlns:a="http://schemas.openxmlformats.org/drawingml/2006/main" prst="roundRect">
            <a:avLst>
              <a:gd name="adj" fmla="val 13333"/>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R: breach element</a:t>
            </a:r>
          </a:p>
        </p:txBody>
      </p:sp>
      <p:sp>
        <p:nvSpPr>
          <p:cNvPr id="29" name="">
            <a:extLst xmlns:a="http://schemas.openxmlformats.org/drawingml/2006/main">
              <a:ext uri="{FF2B5EF4-FFF2-40B4-BE49-F238E27FC236}">
                <a16:creationId xmlns:a16="http://schemas.microsoft.com/office/drawing/2014/main" id="{D32BD17E-2FB1-4919-8BC8-FBB83698702E}"/>
              </a:ext>
            </a:extLst>
          </p:cNvPr>
          <p:cNvSpPr>
            <a:spLocks xmlns:a="http://schemas.openxmlformats.org/drawingml/2006/main" noGrp="1"/>
          </p:cNvSpPr>
          <p:nvPr/>
        </p:nvSpPr>
        <p:spPr>
          <a:xfrm xmlns:a="http://schemas.openxmlformats.org/drawingml/2006/main" flipV="0">
            <a:off x="3133725" y="4086225"/>
            <a:ext cx="210502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0" name="">
            <a:extLst xmlns:a="http://schemas.openxmlformats.org/drawingml/2006/main">
              <a:ext uri="{FF2B5EF4-FFF2-40B4-BE49-F238E27FC236}">
                <a16:creationId xmlns:a16="http://schemas.microsoft.com/office/drawing/2014/main" id="{1B5B80D2-E18A-44D0-9389-998A17C4BFB5}"/>
              </a:ext>
            </a:extLst>
          </p:cNvPr>
          <p:cNvSpPr>
            <a:spLocks xmlns:a="http://schemas.openxmlformats.org/drawingml/2006/main" noGrp="1"/>
          </p:cNvSpPr>
          <p:nvPr/>
        </p:nvSpPr>
        <p:spPr>
          <a:xfrm xmlns:a="http://schemas.openxmlformats.org/drawingml/2006/main">
            <a:off x="5162550" y="404812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31" name="text-86">
            <a:extLst xmlns:a="http://schemas.openxmlformats.org/drawingml/2006/main">
              <a:ext uri="{FF2B5EF4-FFF2-40B4-BE49-F238E27FC236}">
                <a16:creationId xmlns:a16="http://schemas.microsoft.com/office/drawing/2014/main" id="{443B55F5-8AFB-44A3-8843-CA6230C48E31}"/>
              </a:ext>
            </a:extLst>
          </p:cNvPr>
          <p:cNvSpPr>
            <a:spLocks xmlns:a="http://schemas.openxmlformats.org/drawingml/2006/main" noGrp="1"/>
          </p:cNvSpPr>
          <p:nvPr/>
        </p:nvSpPr>
        <p:spPr>
          <a:xfrm xmlns:a="http://schemas.openxmlformats.org/drawingml/2006/main">
            <a:off x="3209925" y="3552825"/>
            <a:ext cx="2133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r1 + other premises</a:t>
            </a:r>
          </a:p>
        </p:txBody>
      </p:sp>
      <p:sp>
        <p:nvSpPr>
          <p:cNvPr id="32" name="">
            <a:extLst xmlns:a="http://schemas.openxmlformats.org/drawingml/2006/main">
              <a:ext uri="{FF2B5EF4-FFF2-40B4-BE49-F238E27FC236}">
                <a16:creationId xmlns:a16="http://schemas.microsoft.com/office/drawing/2014/main" id="{914C6706-F14B-4062-9CD0-40277690C0BA}"/>
              </a:ext>
            </a:extLst>
          </p:cNvPr>
          <p:cNvSpPr>
            <a:spLocks xmlns:a="http://schemas.openxmlformats.org/drawingml/2006/main" noGrp="1"/>
          </p:cNvSpPr>
          <p:nvPr/>
        </p:nvSpPr>
        <p:spPr>
          <a:xfrm xmlns:a="http://schemas.openxmlformats.org/drawingml/2006/main" flipV="0">
            <a:off x="3133725" y="5334000"/>
            <a:ext cx="3457575" cy="0"/>
          </a:xfrm>
          <a:prstGeom xmlns:a="http://schemas.openxmlformats.org/drawingml/2006/main" prst="line">
            <a:avLst/>
          </a:prstGeom>
          <a:noFill xmlns:a="http://schemas.openxmlformats.org/drawingml/2006/main"/>
          <a:ln xmlns:a="http://schemas.openxmlformats.org/drawingml/2006/main" w="19050">
            <a:solidFill>
              <a:srgbClr val="B44948"/>
            </a:solidFill>
            <a:prstDash val="solid"/>
          </a:ln>
        </p:spPr>
      </p:sp>
      <p:sp>
        <p:nvSpPr>
          <p:cNvPr id="33" name="">
            <a:extLst xmlns:a="http://schemas.openxmlformats.org/drawingml/2006/main">
              <a:ext uri="{FF2B5EF4-FFF2-40B4-BE49-F238E27FC236}">
                <a16:creationId xmlns:a16="http://schemas.microsoft.com/office/drawing/2014/main" id="{7CE45712-8E72-42EF-955B-F2408AE48BDC}"/>
              </a:ext>
            </a:extLst>
          </p:cNvPr>
          <p:cNvSpPr>
            <a:spLocks xmlns:a="http://schemas.openxmlformats.org/drawingml/2006/main" noGrp="1"/>
          </p:cNvSpPr>
          <p:nvPr/>
        </p:nvSpPr>
        <p:spPr>
          <a:xfrm xmlns:a="http://schemas.openxmlformats.org/drawingml/2006/main" flipV="0">
            <a:off x="6591300" y="4448175"/>
            <a:ext cx="0" cy="885825"/>
          </a:xfrm>
          <a:prstGeom xmlns:a="http://schemas.openxmlformats.org/drawingml/2006/main" prst="line">
            <a:avLst/>
          </a:prstGeom>
          <a:noFill xmlns:a="http://schemas.openxmlformats.org/drawingml/2006/main"/>
          <a:ln xmlns:a="http://schemas.openxmlformats.org/drawingml/2006/main" w="19050">
            <a:solidFill>
              <a:srgbClr val="B44948"/>
            </a:solidFill>
            <a:prstDash val="solid"/>
          </a:ln>
        </p:spPr>
      </p:sp>
      <p:sp>
        <p:nvSpPr>
          <p:cNvPr id="34" name="">
            <a:extLst xmlns:a="http://schemas.openxmlformats.org/drawingml/2006/main">
              <a:ext uri="{FF2B5EF4-FFF2-40B4-BE49-F238E27FC236}">
                <a16:creationId xmlns:a16="http://schemas.microsoft.com/office/drawing/2014/main" id="{44367125-3843-40BB-90FE-48D63C35CD82}"/>
              </a:ext>
            </a:extLst>
          </p:cNvPr>
          <p:cNvSpPr>
            <a:spLocks xmlns:a="http://schemas.openxmlformats.org/drawingml/2006/main" noGrp="1"/>
          </p:cNvSpPr>
          <p:nvPr/>
        </p:nvSpPr>
        <p:spPr>
          <a:xfrm xmlns:a="http://schemas.openxmlformats.org/drawingml/2006/main">
            <a:off x="6553200" y="4448175"/>
            <a:ext cx="76200" cy="76200"/>
          </a:xfrm>
          <a:custGeom xmlns:a="http://schemas.openxmlformats.org/drawingml/2006/main">
            <a:pathLst>
              <a:path w="76200" h="76200">
                <a:moveTo>
                  <a:pt x="38100" y="0"/>
                </a:moveTo>
                <a:lnTo>
                  <a:pt x="0" y="76200"/>
                </a:lnTo>
                <a:lnTo>
                  <a:pt x="76200" y="76200"/>
                </a:lnTo>
                <a:close/>
              </a:path>
            </a:pathLst>
          </a:custGeom>
          <a:solidFill xmlns:a="http://schemas.openxmlformats.org/drawingml/2006/main">
            <a:srgbClr val="B44948"/>
          </a:solidFill>
          <a:ln xmlns:a="http://schemas.openxmlformats.org/drawingml/2006/main" w="9525">
            <a:solidFill>
              <a:srgbClr val="B44948"/>
            </a:solidFill>
          </a:ln>
        </p:spPr>
      </p:sp>
      <p:sp>
        <p:nvSpPr>
          <p:cNvPr id="35" name="text-87">
            <a:extLst xmlns:a="http://schemas.openxmlformats.org/drawingml/2006/main">
              <a:ext uri="{FF2B5EF4-FFF2-40B4-BE49-F238E27FC236}">
                <a16:creationId xmlns:a16="http://schemas.microsoft.com/office/drawing/2014/main" id="{D3D4E5EE-E44A-479F-B7EB-AF4ECF03FD35}"/>
              </a:ext>
            </a:extLst>
          </p:cNvPr>
          <p:cNvSpPr>
            <a:spLocks xmlns:a="http://schemas.openxmlformats.org/drawingml/2006/main" noGrp="1"/>
          </p:cNvSpPr>
          <p:nvPr/>
        </p:nvSpPr>
        <p:spPr>
          <a:xfrm xmlns:a="http://schemas.openxmlformats.org/drawingml/2006/main">
            <a:off x="3476625" y="5438775"/>
            <a:ext cx="4638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0">
                <a:solidFill>
                  <a:srgbClr val="B44948"/>
                </a:solidFill>
                <a:latin typeface="Helvetica Neue"/>
                <a:ea typeface="Helvetica Neue"/>
                <a:cs typeface="Helvetica Neue"/>
              </a:defRPr>
            </a:pPr>
            <a:r>
              <a:rPr sz="1650" b="0">
                <a:solidFill>
                  <a:srgbClr val="B44948"/>
                </a:solidFill>
                <a:latin typeface="Helvetica Neue"/>
                <a:ea typeface="Helvetica Neue"/>
                <a:cs typeface="Helvetica Neue"/>
              </a:rPr>
              <a:t>r2 attacks the application of r1</a:t>
            </a:r>
          </a:p>
        </p:txBody>
      </p:sp>
      <p:sp>
        <p:nvSpPr>
          <p:cNvPr id="36" name="">
            <a:extLst xmlns:a="http://schemas.openxmlformats.org/drawingml/2006/main">
              <a:ext uri="{FF2B5EF4-FFF2-40B4-BE49-F238E27FC236}">
                <a16:creationId xmlns:a16="http://schemas.microsoft.com/office/drawing/2014/main" id="{46542AEA-D723-4363-90AA-FEC770A3A821}"/>
              </a:ext>
            </a:extLst>
          </p:cNvPr>
          <p:cNvSpPr>
            <a:spLocks xmlns:a="http://schemas.openxmlformats.org/drawingml/2006/main" noGrp="1"/>
          </p:cNvSpPr>
          <p:nvPr/>
        </p:nvSpPr>
        <p:spPr>
          <a:xfrm xmlns:a="http://schemas.openxmlformats.org/drawingml/2006/main" flipV="0">
            <a:off x="7962900" y="4086225"/>
            <a:ext cx="96202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7" name="">
            <a:extLst xmlns:a="http://schemas.openxmlformats.org/drawingml/2006/main">
              <a:ext uri="{FF2B5EF4-FFF2-40B4-BE49-F238E27FC236}">
                <a16:creationId xmlns:a16="http://schemas.microsoft.com/office/drawing/2014/main" id="{A28FBDD8-80E9-45D8-A101-86E2AA7A511C}"/>
              </a:ext>
            </a:extLst>
          </p:cNvPr>
          <p:cNvSpPr>
            <a:spLocks xmlns:a="http://schemas.openxmlformats.org/drawingml/2006/main" noGrp="1"/>
          </p:cNvSpPr>
          <p:nvPr/>
        </p:nvSpPr>
        <p:spPr>
          <a:xfrm xmlns:a="http://schemas.openxmlformats.org/drawingml/2006/main">
            <a:off x="8848725" y="404812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38" name="text-88">
            <a:extLst xmlns:a="http://schemas.openxmlformats.org/drawingml/2006/main">
              <a:ext uri="{FF2B5EF4-FFF2-40B4-BE49-F238E27FC236}">
                <a16:creationId xmlns:a16="http://schemas.microsoft.com/office/drawing/2014/main" id="{45169C7D-3AEA-465D-B9E7-533FD7E22821}"/>
              </a:ext>
            </a:extLst>
          </p:cNvPr>
          <p:cNvSpPr>
            <a:spLocks xmlns:a="http://schemas.openxmlformats.org/drawingml/2006/main" noGrp="1"/>
          </p:cNvSpPr>
          <p:nvPr/>
        </p:nvSpPr>
        <p:spPr>
          <a:xfrm xmlns:a="http://schemas.openxmlformats.org/drawingml/2006/main">
            <a:off x="8924925" y="3038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Grounded result</a:t>
            </a:r>
          </a:p>
        </p:txBody>
      </p:sp>
      <p:sp>
        <p:nvSpPr>
          <p:cNvPr id="39" name="shape-89">
            <a:extLst xmlns:a="http://schemas.openxmlformats.org/drawingml/2006/main">
              <a:ext uri="{FF2B5EF4-FFF2-40B4-BE49-F238E27FC236}">
                <a16:creationId xmlns:a16="http://schemas.microsoft.com/office/drawing/2014/main" id="{696E16BE-E32B-4D9D-96E2-23595652A2EC}"/>
              </a:ext>
            </a:extLst>
          </p:cNvPr>
          <p:cNvSpPr>
            <a:spLocks xmlns:a="http://schemas.openxmlformats.org/drawingml/2006/main" noGrp="1"/>
          </p:cNvSpPr>
          <p:nvPr/>
        </p:nvSpPr>
        <p:spPr>
          <a:xfrm xmlns:a="http://schemas.openxmlformats.org/drawingml/2006/main">
            <a:off x="8924925" y="3733800"/>
            <a:ext cx="2657475" cy="714375"/>
          </a:xfrm>
          <a:prstGeom xmlns:a="http://schemas.openxmlformats.org/drawingml/2006/main" prst="roundRect">
            <a:avLst>
              <a:gd name="adj" fmla="val 13333"/>
            </a:avLst>
          </a:prstGeom>
          <a:solidFill xmlns:a="http://schemas.openxmlformats.org/drawingml/2006/main">
            <a:srgbClr val="F4EEDC"/>
          </a:solidFill>
          <a:ln xmlns:a="http://schemas.openxmlformats.org/drawingml/2006/main" w="19050">
            <a:solidFill>
              <a:srgbClr val="9A7B3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UNDECIDED</a:t>
            </a:r>
          </a:p>
        </p:txBody>
      </p:sp>
      <p:sp>
        <p:nvSpPr>
          <p:cNvPr id="40" name="text-90">
            <a:extLst xmlns:a="http://schemas.openxmlformats.org/drawingml/2006/main">
              <a:ext uri="{FF2B5EF4-FFF2-40B4-BE49-F238E27FC236}">
                <a16:creationId xmlns:a16="http://schemas.microsoft.com/office/drawing/2014/main" id="{15F2A539-CD2F-4D91-BD00-AB449F95FFE3}"/>
              </a:ext>
            </a:extLst>
          </p:cNvPr>
          <p:cNvSpPr>
            <a:spLocks xmlns:a="http://schemas.openxmlformats.org/drawingml/2006/main" noGrp="1"/>
          </p:cNvSpPr>
          <p:nvPr/>
        </p:nvSpPr>
        <p:spPr>
          <a:xfrm xmlns:a="http://schemas.openxmlformats.org/drawingml/2006/main">
            <a:off x="8924925" y="4638675"/>
            <a:ext cx="26574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No rule priority resolves</a:t>
            </a:r>
          </a:p>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this conflict</a:t>
            </a:r>
          </a:p>
        </p:txBody>
      </p:sp>
      <p:sp>
        <p:nvSpPr>
          <p:cNvPr id="41" name="">
            <a:extLst xmlns:a="http://schemas.openxmlformats.org/drawingml/2006/main">
              <a:ext uri="{FF2B5EF4-FFF2-40B4-BE49-F238E27FC236}">
                <a16:creationId xmlns:a16="http://schemas.microsoft.com/office/drawing/2014/main" id="{5C07D314-0E37-40A0-9C71-1B8516DA4A6C}"/>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42" name="text-91">
            <a:extLst xmlns:a="http://schemas.openxmlformats.org/drawingml/2006/main">
              <a:ext uri="{FF2B5EF4-FFF2-40B4-BE49-F238E27FC236}">
                <a16:creationId xmlns:a16="http://schemas.microsoft.com/office/drawing/2014/main" id="{60C81512-263C-4B01-ABEE-1A679842B797}"/>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Constructed example. Dark arrows: support / data. Red arrows: attacks. Legal priorities require sources.</a:t>
            </a:r>
          </a:p>
        </p:txBody>
      </p:sp>
    </p:spTree>
    <p:extLst>
      <p:ext uri="{BB962C8B-B14F-4D97-AF65-F5344CB8AC3E}">
        <p14:creationId xmlns:p14="http://schemas.microsoft.com/office/powerpoint/2010/main" val="14511818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92">
            <a:extLst xmlns:a="http://schemas.openxmlformats.org/drawingml/2006/main">
              <a:ext uri="{FF2B5EF4-FFF2-40B4-BE49-F238E27FC236}">
                <a16:creationId xmlns:a16="http://schemas.microsoft.com/office/drawing/2014/main" id="{80344DDB-78BA-449A-A4A7-406E9BE88743}"/>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C. Missing facts and exception handling</a:t>
            </a:r>
          </a:p>
        </p:txBody>
      </p:sp>
      <p:sp>
        <p:nvSpPr>
          <p:cNvPr id="2" name="text-93">
            <a:extLst xmlns:a="http://schemas.openxmlformats.org/drawingml/2006/main">
              <a:ext uri="{FF2B5EF4-FFF2-40B4-BE49-F238E27FC236}">
                <a16:creationId xmlns:a16="http://schemas.microsoft.com/office/drawing/2014/main" id="{9186C3A8-4EB8-4E1D-BA1D-E78903A079E4}"/>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The rule package must specify how an exception affects applicability</a:t>
            </a:r>
          </a:p>
        </p:txBody>
      </p:sp>
      <p:sp>
        <p:nvSpPr>
          <p:cNvPr id="3" name="text-94">
            <a:extLst xmlns:a="http://schemas.openxmlformats.org/drawingml/2006/main">
              <a:ext uri="{FF2B5EF4-FFF2-40B4-BE49-F238E27FC236}">
                <a16:creationId xmlns:a16="http://schemas.microsoft.com/office/drawing/2014/main" id="{63885B96-5EFE-47B8-AD8A-E931EAE5E2C7}"/>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07</a:t>
            </a:r>
          </a:p>
        </p:txBody>
      </p:sp>
      <p:graphicFrame>
        <p:nvGraphicFramePr>
          <p:cNvPr id="11" name=""/>
          <p:cNvGraphicFramePr/>
          <p:nvPr/>
        </p:nvGraphicFramePr>
        <p:xfrm>
          <a:off xmlns:a="http://schemas.openxmlformats.org/drawingml/2006/main" x="609600" y="1724025"/>
          <a:ext xmlns:a="http://schemas.openxmlformats.org/drawingml/2006/main" cx="10972800" cy="3438525"/>
        </p:xfrm>
        <a:graphic xmlns:a="http://schemas.openxmlformats.org/drawingml/2006/main">
          <a:graphicData uri="http://schemas.openxmlformats.org/drawingml/2006/table">
            <a:tbl>
              <a:tblPr firstRow="0" bandRow="0"/>
              <a:tblGrid>
                <a:gridCol w="3571875"/>
                <a:gridCol w="3829050"/>
                <a:gridCol w="3571875"/>
              </a:tblGrid>
              <a:tr h="687705">
                <a:tc>
                  <a:txBody>
                    <a:bodyPr lIns="152400" tIns="114300" rIns="152400" bIns="114300">
                      <a:noAutofit/>
                    </a:bodyPr>
                    <a:lstStyle/>
                    <a:p>
                      <a:r>
                        <a:rPr sz="1800" b="1">
                          <a:solidFill>
                            <a:srgbClr val="172C36"/>
                          </a:solidFill>
                          <a:latin typeface="Helvetica Neue"/>
                          <a:ea typeface="Helvetica Neue"/>
                          <a:cs typeface="Helvetica Neue"/>
                        </a:rPr>
                        <a:t>Available information</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Reviewed rule mode</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Result for this route</a:t>
                      </a:r>
                    </a:p>
                  </a:txBody>
                  <a:tcPr marL="91440" marR="91440" marT="45720" marB="45720" anchor="ctr">
                    <a:solidFill>
                      <a:srgbClr val="EAF0F6"/>
                    </a:solidFill>
                  </a:tcPr>
                </a:tc>
              </a:tr>
              <a:tr h="687705">
                <a:tc>
                  <a:txBody>
                    <a:bodyPr lIns="152400" tIns="114300" rIns="152400" bIns="114300">
                      <a:noAutofit/>
                    </a:bodyPr>
                    <a:lstStyle/>
                    <a:p>
                      <a:r>
                        <a:rPr sz="1875" b="0">
                          <a:solidFill>
                            <a:srgbClr val="172C36"/>
                          </a:solidFill>
                          <a:latin typeface="Helvetica Neue"/>
                          <a:ea typeface="Helvetica Neue"/>
                          <a:cs typeface="Helvetica Neue"/>
                        </a:rPr>
                        <a:t>Deadline is missing</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Deadline is required</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No argument</a:t>
                      </a:r>
                    </a:p>
                  </a:txBody>
                  <a:tcPr marL="91440" marR="91440" marT="45720" marB="45720" anchor="ctr">
                    <a:solidFill>
                      <a:srgbClr val="FFFFFF"/>
                    </a:solidFill>
                  </a:tcPr>
                </a:tc>
              </a:tr>
              <a:tr h="687705">
                <a:tc>
                  <a:txBody>
                    <a:bodyPr lIns="152400" tIns="114300" rIns="152400" bIns="114300">
                      <a:noAutofit/>
                    </a:bodyPr>
                    <a:lstStyle/>
                    <a:p>
                      <a:r>
                        <a:rPr sz="1875" b="0">
                          <a:solidFill>
                            <a:srgbClr val="172C36"/>
                          </a:solidFill>
                          <a:latin typeface="Helvetica Neue"/>
                          <a:ea typeface="Helvetica Neue"/>
                          <a:cs typeface="Helvetica Neue"/>
                        </a:rPr>
                        <a:t>Extension is unknown</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Explicit no-extension</a:t>
                      </a:r>
                    </a:p>
                    <a:p>
                      <a:r>
                        <a:rPr sz="1875" b="0">
                          <a:solidFill>
                            <a:srgbClr val="172C36"/>
                          </a:solidFill>
                          <a:latin typeface="Helvetica Neue"/>
                          <a:ea typeface="Helvetica Neue"/>
                          <a:cs typeface="Helvetica Neue"/>
                        </a:rPr>
                        <a:t>evidence required</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No argument</a:t>
                      </a:r>
                    </a:p>
                  </a:txBody>
                  <a:tcPr marL="91440" marR="91440" marT="45720" marB="45720" anchor="ctr">
                    <a:solidFill>
                      <a:srgbClr val="FFFFFF"/>
                    </a:solidFill>
                  </a:tcPr>
                </a:tc>
              </a:tr>
              <a:tr h="687705">
                <a:tc>
                  <a:txBody>
                    <a:bodyPr lIns="152400" tIns="114300" rIns="152400" bIns="114300">
                      <a:noAutofit/>
                    </a:bodyPr>
                    <a:lstStyle/>
                    <a:p>
                      <a:r>
                        <a:rPr sz="1875" b="0">
                          <a:solidFill>
                            <a:srgbClr val="172C36"/>
                          </a:solidFill>
                          <a:latin typeface="Helvetica Neue"/>
                          <a:ea typeface="Helvetica Neue"/>
                          <a:cs typeface="Helvetica Neue"/>
                        </a:rPr>
                        <a:t>Extension is unknown</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Default applicability</a:t>
                      </a:r>
                    </a:p>
                    <a:p>
                      <a:r>
                        <a:rPr sz="1875" b="0">
                          <a:solidFill>
                            <a:srgbClr val="172C36"/>
                          </a:solidFill>
                          <a:latin typeface="Helvetica Neue"/>
                          <a:ea typeface="Helvetica Neue"/>
                          <a:cs typeface="Helvetica Neue"/>
                        </a:rPr>
                        <a:t>with exception attack</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Defeasible support*</a:t>
                      </a:r>
                    </a:p>
                  </a:txBody>
                  <a:tcPr marL="91440" marR="91440" marT="45720" marB="45720" anchor="ctr">
                    <a:solidFill>
                      <a:srgbClr val="FFFFFF"/>
                    </a:solidFill>
                  </a:tcPr>
                </a:tc>
              </a:tr>
              <a:tr h="687705">
                <a:tc>
                  <a:txBody>
                    <a:bodyPr lIns="152400" tIns="114300" rIns="152400" bIns="114300">
                      <a:noAutofit/>
                    </a:bodyPr>
                    <a:lstStyle/>
                    <a:p>
                      <a:r>
                        <a:rPr sz="1875" b="0">
                          <a:solidFill>
                            <a:srgbClr val="172C36"/>
                          </a:solidFill>
                          <a:latin typeface="Helvetica Neue"/>
                          <a:ea typeface="Helvetica Neue"/>
                          <a:cs typeface="Helvetica Neue"/>
                        </a:rPr>
                        <a:t>Opposing extension</a:t>
                      </a:r>
                    </a:p>
                    <a:p>
                      <a:r>
                        <a:rPr sz="1875" b="0">
                          <a:solidFill>
                            <a:srgbClr val="172C36"/>
                          </a:solidFill>
                          <a:latin typeface="Helvetica Neue"/>
                          <a:ea typeface="Helvetica Neue"/>
                          <a:cs typeface="Helvetica Neue"/>
                        </a:rPr>
                        <a:t>arguments</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No legal priority</a:t>
                      </a:r>
                    </a:p>
                    <a:p>
                      <a:r>
                        <a:rPr sz="1875" b="0">
                          <a:solidFill>
                            <a:srgbClr val="172C36"/>
                          </a:solidFill>
                          <a:latin typeface="Helvetica Neue"/>
                          <a:ea typeface="Helvetica Neue"/>
                          <a:cs typeface="Helvetica Neue"/>
                        </a:rPr>
                        <a:t>resolves the conflict</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Undecided</a:t>
                      </a:r>
                    </a:p>
                  </a:txBody>
                  <a:tcPr marL="91440" marR="91440" marT="45720" marB="45720" anchor="ctr">
                    <a:solidFill>
                      <a:srgbClr val="FFFFFF"/>
                    </a:solidFill>
                  </a:tcPr>
                </a:tc>
              </a:tr>
            </a:tbl>
          </a:graphicData>
        </a:graphic>
      </p:graphicFrame>
      <p:sp>
        <p:nvSpPr>
          <p:cNvPr id="5" name="text-95">
            <a:extLst xmlns:a="http://schemas.openxmlformats.org/drawingml/2006/main">
              <a:ext uri="{FF2B5EF4-FFF2-40B4-BE49-F238E27FC236}">
                <a16:creationId xmlns:a16="http://schemas.microsoft.com/office/drawing/2014/main" id="{3A556DB6-966C-437E-8DBF-303831AD9651}"/>
              </a:ext>
            </a:extLst>
          </p:cNvPr>
          <p:cNvSpPr>
            <a:spLocks xmlns:a="http://schemas.openxmlformats.org/drawingml/2006/main" noGrp="1"/>
          </p:cNvSpPr>
          <p:nvPr/>
        </p:nvSpPr>
        <p:spPr>
          <a:xfrm xmlns:a="http://schemas.openxmlformats.org/drawingml/2006/main">
            <a:off x="609600" y="536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 Other required premises are satisfied. No “no-extension” fact is invented.</a:t>
            </a:r>
          </a:p>
        </p:txBody>
      </p:sp>
      <p:sp>
        <p:nvSpPr>
          <p:cNvPr id="6" name="">
            <a:extLst xmlns:a="http://schemas.openxmlformats.org/drawingml/2006/main">
              <a:ext uri="{FF2B5EF4-FFF2-40B4-BE49-F238E27FC236}">
                <a16:creationId xmlns:a16="http://schemas.microsoft.com/office/drawing/2014/main" id="{4D8C37E3-C345-48D4-AE6E-DCC69F4411E9}"/>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7" name="text-96">
            <a:extLst xmlns:a="http://schemas.openxmlformats.org/drawingml/2006/main">
              <a:ext uri="{FF2B5EF4-FFF2-40B4-BE49-F238E27FC236}">
                <a16:creationId xmlns:a16="http://schemas.microsoft.com/office/drawing/2014/main" id="{F0519AD3-4DE8-4198-989E-014791E41B31}"/>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One supported element does not establish the whole claim. Patterns cannot fill missing legal premises.</a:t>
            </a:r>
          </a:p>
        </p:txBody>
      </p:sp>
    </p:spTree>
    <p:extLst>
      <p:ext uri="{BB962C8B-B14F-4D97-AF65-F5344CB8AC3E}">
        <p14:creationId xmlns:p14="http://schemas.microsoft.com/office/powerpoint/2010/main" val="20332914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97">
            <a:extLst xmlns:a="http://schemas.openxmlformats.org/drawingml/2006/main">
              <a:ext uri="{FF2B5EF4-FFF2-40B4-BE49-F238E27FC236}">
                <a16:creationId xmlns:a16="http://schemas.microsoft.com/office/drawing/2014/main" id="{74190BD3-ACAB-4936-B0FE-5C889277F38D}"/>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Algorithm choices and tests that could change them</a:t>
            </a:r>
          </a:p>
        </p:txBody>
      </p:sp>
      <p:sp>
        <p:nvSpPr>
          <p:cNvPr id="2" name="text-98">
            <a:extLst xmlns:a="http://schemas.openxmlformats.org/drawingml/2006/main">
              <a:ext uri="{FF2B5EF4-FFF2-40B4-BE49-F238E27FC236}">
                <a16:creationId xmlns:a16="http://schemas.microsoft.com/office/drawing/2014/main" id="{E672A129-EBEE-499A-9161-81046F77FB30}"/>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Use the same facts, legal information and total resource budget for every comparison</a:t>
            </a:r>
          </a:p>
        </p:txBody>
      </p:sp>
      <p:sp>
        <p:nvSpPr>
          <p:cNvPr id="3" name="text-99">
            <a:extLst xmlns:a="http://schemas.openxmlformats.org/drawingml/2006/main">
              <a:ext uri="{FF2B5EF4-FFF2-40B4-BE49-F238E27FC236}">
                <a16:creationId xmlns:a16="http://schemas.microsoft.com/office/drawing/2014/main" id="{4D230E0F-11E8-4C5C-8D89-5BD324BE1573}"/>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08</a:t>
            </a:r>
          </a:p>
        </p:txBody>
      </p:sp>
      <p:graphicFrame>
        <p:nvGraphicFramePr>
          <p:cNvPr id="12" name=""/>
          <p:cNvGraphicFramePr/>
          <p:nvPr/>
        </p:nvGraphicFramePr>
        <p:xfrm>
          <a:off xmlns:a="http://schemas.openxmlformats.org/drawingml/2006/main" x="609600" y="1809750"/>
          <a:ext xmlns:a="http://schemas.openxmlformats.org/drawingml/2006/main" cx="10972800" cy="2962275"/>
        </p:xfrm>
        <a:graphic xmlns:a="http://schemas.openxmlformats.org/drawingml/2006/main">
          <a:graphicData uri="http://schemas.openxmlformats.org/drawingml/2006/table">
            <a:tbl>
              <a:tblPr firstRow="0" bandRow="0"/>
              <a:tblGrid>
                <a:gridCol w="904875"/>
                <a:gridCol w="3381375"/>
                <a:gridCol w="3238500"/>
                <a:gridCol w="3448050"/>
              </a:tblGrid>
              <a:tr h="740569">
                <a:tc>
                  <a:txBody>
                    <a:bodyPr lIns="152400" tIns="114300" rIns="152400" bIns="114300">
                      <a:noAutofit/>
                    </a:bodyPr>
                    <a:lstStyle/>
                    <a:p>
                      <a:r>
                        <a:rPr sz="1800" b="1">
                          <a:solidFill>
                            <a:srgbClr val="172C36"/>
                          </a:solidFill>
                          <a:latin typeface="Helvetica Neue"/>
                          <a:ea typeface="Helvetica Neue"/>
                          <a:cs typeface="Helvetica Neue"/>
                        </a:rPr>
                        <a:t>Part</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Preferred mechanism</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Strong comparison</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Reason to switch</a:t>
                      </a:r>
                    </a:p>
                  </a:txBody>
                  <a:tcPr marL="91440" marR="91440" marT="45720" marB="45720" anchor="ctr">
                    <a:solidFill>
                      <a:srgbClr val="EAF0F6"/>
                    </a:solidFill>
                  </a:tcPr>
                </a:tc>
              </a:tr>
              <a:tr h="740569">
                <a:tc>
                  <a:txBody>
                    <a:bodyPr lIns="152400" tIns="114300" rIns="152400" bIns="114300">
                      <a:noAutofit/>
                    </a:bodyPr>
                    <a:lstStyle/>
                    <a:p>
                      <a:r>
                        <a:rPr sz="1875" b="0">
                          <a:solidFill>
                            <a:srgbClr val="172C36"/>
                          </a:solidFill>
                          <a:latin typeface="Helvetica Neue"/>
                          <a:ea typeface="Helvetica Neue"/>
                          <a:cs typeface="Helvetica Neue"/>
                        </a:rPr>
                        <a:t>A</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Verified-pair constraints</a:t>
                      </a:r>
                    </a:p>
                    <a:p>
                      <a:r>
                        <a:rPr sz="1875" b="0">
                          <a:solidFill>
                            <a:srgbClr val="172C36"/>
                          </a:solidFill>
                          <a:latin typeface="Helvetica Neue"/>
                          <a:ea typeface="Helvetica Neue"/>
                          <a:cs typeface="Helvetica Neue"/>
                        </a:rPr>
                        <a:t>+ joint grouping</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Full PDF pipeline</a:t>
                      </a:r>
                    </a:p>
                    <a:p>
                      <a:r>
                        <a:rPr sz="1875" b="0">
                          <a:solidFill>
                            <a:srgbClr val="172C36"/>
                          </a:solidFill>
                          <a:latin typeface="Helvetica Neue"/>
                          <a:ea typeface="Helvetica Neue"/>
                          <a:cs typeface="Helvetica Neue"/>
                        </a:rPr>
                        <a:t>Same-graph greedy</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No gain in correct reuse</a:t>
                      </a:r>
                    </a:p>
                    <a:p>
                      <a:r>
                        <a:rPr sz="1875" b="0">
                          <a:solidFill>
                            <a:srgbClr val="172C36"/>
                          </a:solidFill>
                          <a:latin typeface="Helvetica Neue"/>
                          <a:ea typeface="Helvetica Neue"/>
                          <a:cs typeface="Helvetica Neue"/>
                        </a:rPr>
                        <a:t>at matched cost</a:t>
                      </a:r>
                    </a:p>
                  </a:txBody>
                  <a:tcPr marL="91440" marR="91440" marT="45720" marB="45720" anchor="ctr">
                    <a:solidFill>
                      <a:srgbClr val="FFFFFF"/>
                    </a:solidFill>
                  </a:tcPr>
                </a:tc>
              </a:tr>
              <a:tr h="740569">
                <a:tc>
                  <a:txBody>
                    <a:bodyPr lIns="152400" tIns="114300" rIns="152400" bIns="114300">
                      <a:noAutofit/>
                    </a:bodyPr>
                    <a:lstStyle/>
                    <a:p>
                      <a:r>
                        <a:rPr sz="1875" b="0">
                          <a:solidFill>
                            <a:srgbClr val="172C36"/>
                          </a:solidFill>
                          <a:latin typeface="Helvetica Neue"/>
                          <a:ea typeface="Helvetica Neue"/>
                          <a:cs typeface="Helvetica Neue"/>
                        </a:rPr>
                        <a:t>B</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Typed query search</a:t>
                      </a:r>
                    </a:p>
                    <a:p>
                      <a:r>
                        <a:rPr sz="1875" b="0">
                          <a:solidFill>
                            <a:srgbClr val="172C36"/>
                          </a:solidFill>
                          <a:latin typeface="Helvetica Neue"/>
                          <a:ea typeface="Helvetica Neue"/>
                          <a:cs typeface="Helvetica Neue"/>
                        </a:rPr>
                        <a:t>+ dictionary set cover</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gSpan / KG-MDL</a:t>
                      </a:r>
                    </a:p>
                    <a:p>
                      <a:r>
                        <a:rPr sz="1875" b="0">
                          <a:solidFill>
                            <a:srgbClr val="172C36"/>
                          </a:solidFill>
                          <a:latin typeface="Helvetica Neue"/>
                          <a:ea typeface="Helvetica Neue"/>
                          <a:cs typeface="Helvetica Neue"/>
                        </a:rPr>
                        <a:t>Same-code greedy</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Better compression</a:t>
                      </a:r>
                    </a:p>
                    <a:p>
                      <a:r>
                        <a:rPr sz="1875" b="0">
                          <a:solidFill>
                            <a:srgbClr val="172C36"/>
                          </a:solidFill>
                          <a:latin typeface="Helvetica Neue"/>
                          <a:ea typeface="Helvetica Neue"/>
                          <a:cs typeface="Helvetica Neue"/>
                        </a:rPr>
                        <a:t>but worse useful patterns</a:t>
                      </a:r>
                    </a:p>
                  </a:txBody>
                  <a:tcPr marL="91440" marR="91440" marT="45720" marB="45720" anchor="ctr">
                    <a:solidFill>
                      <a:srgbClr val="FFFFFF"/>
                    </a:solidFill>
                  </a:tcPr>
                </a:tc>
              </a:tr>
              <a:tr h="740569">
                <a:tc>
                  <a:txBody>
                    <a:bodyPr lIns="152400" tIns="114300" rIns="152400" bIns="114300">
                      <a:noAutofit/>
                    </a:bodyPr>
                    <a:lstStyle/>
                    <a:p>
                      <a:r>
                        <a:rPr sz="1875" b="0">
                          <a:solidFill>
                            <a:srgbClr val="172C36"/>
                          </a:solidFill>
                          <a:latin typeface="Helvetica Neue"/>
                          <a:ea typeface="Helvetica Neue"/>
                          <a:cs typeface="Helvetica Neue"/>
                        </a:rPr>
                        <a:t>C</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Reviewed ASPIC+</a:t>
                      </a:r>
                    </a:p>
                    <a:p>
                      <a:r>
                        <a:rPr sz="1875" b="0">
                          <a:solidFill>
                            <a:srgbClr val="172C36"/>
                          </a:solidFill>
                          <a:latin typeface="Helvetica Neue"/>
                          <a:ea typeface="Helvetica Neue"/>
                          <a:cs typeface="Helvetica Neue"/>
                        </a:rPr>
                        <a:t>+ grounded semantics</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Same-input checklist</a:t>
                      </a:r>
                    </a:p>
                    <a:p>
                      <a:r>
                        <a:rPr sz="1875" b="0">
                          <a:solidFill>
                            <a:srgbClr val="172C36"/>
                          </a:solidFill>
                          <a:latin typeface="Helvetica Neue"/>
                          <a:ea typeface="Helvetica Neue"/>
                          <a:cs typeface="Helvetica Neue"/>
                        </a:rPr>
                        <a:t>Mature formal engine</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No reduction in errors</a:t>
                      </a:r>
                    </a:p>
                    <a:p>
                      <a:r>
                        <a:rPr sz="1875" b="0">
                          <a:solidFill>
                            <a:srgbClr val="172C36"/>
                          </a:solidFill>
                          <a:latin typeface="Helvetica Neue"/>
                          <a:ea typeface="Helvetica Neue"/>
                          <a:cs typeface="Helvetica Neue"/>
                        </a:rPr>
                        <a:t>at matched coverage</a:t>
                      </a:r>
                    </a:p>
                  </a:txBody>
                  <a:tcPr marL="91440" marR="91440" marT="45720" marB="45720" anchor="ctr">
                    <a:solidFill>
                      <a:srgbClr val="FFFFFF"/>
                    </a:solidFill>
                  </a:tcPr>
                </a:tc>
              </a:tr>
            </a:tbl>
          </a:graphicData>
        </a:graphic>
      </p:graphicFrame>
      <p:sp>
        <p:nvSpPr>
          <p:cNvPr id="5" name="text-100">
            <a:extLst xmlns:a="http://schemas.openxmlformats.org/drawingml/2006/main">
              <a:ext uri="{FF2B5EF4-FFF2-40B4-BE49-F238E27FC236}">
                <a16:creationId xmlns:a16="http://schemas.microsoft.com/office/drawing/2014/main" id="{43BD220D-7C0E-4EA8-9F19-0464F214D495}"/>
              </a:ext>
            </a:extLst>
          </p:cNvPr>
          <p:cNvSpPr>
            <a:spLocks xmlns:a="http://schemas.openxmlformats.org/drawingml/2006/main" noGrp="1"/>
          </p:cNvSpPr>
          <p:nvPr/>
        </p:nvSpPr>
        <p:spPr>
          <a:xfrm xmlns:a="http://schemas.openxmlformats.org/drawingml/2006/main">
            <a:off x="609600" y="5048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First implementation: one legal issue, linked-case groups kept together</a:t>
            </a:r>
          </a:p>
        </p:txBody>
      </p:sp>
      <p:sp>
        <p:nvSpPr>
          <p:cNvPr id="6" name="text-101">
            <a:extLst xmlns:a="http://schemas.openxmlformats.org/drawingml/2006/main">
              <a:ext uri="{FF2B5EF4-FFF2-40B4-BE49-F238E27FC236}">
                <a16:creationId xmlns:a16="http://schemas.microsoft.com/office/drawing/2014/main" id="{11F1527B-85F8-4B54-9FD6-DDAB2B07E15C}"/>
              </a:ext>
            </a:extLst>
          </p:cNvPr>
          <p:cNvSpPr>
            <a:spLocks xmlns:a="http://schemas.openxmlformats.org/drawingml/2006/main" noGrp="1"/>
          </p:cNvSpPr>
          <p:nvPr/>
        </p:nvSpPr>
        <p:spPr>
          <a:xfrm xmlns:a="http://schemas.openxmlformats.org/drawingml/2006/main">
            <a:off x="609600" y="5638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172C36"/>
                </a:solidFill>
                <a:latin typeface="Helvetica Neue"/>
                <a:ea typeface="Helvetica Neue"/>
                <a:cs typeface="Helvetica Neue"/>
              </a:defRPr>
            </a:pPr>
            <a:r>
              <a:rPr sz="1950" b="0">
                <a:solidFill>
                  <a:srgbClr val="172C36"/>
                </a:solidFill>
                <a:latin typeface="Helvetica Neue"/>
                <a:ea typeface="Helvetica Neue"/>
                <a:cs typeface="Helvetica Neue"/>
              </a:rPr>
              <a:t>Develop and freeze A       Discover and freeze B       Confirm on unseen groups</a:t>
            </a:r>
          </a:p>
        </p:txBody>
      </p:sp>
      <p:sp>
        <p:nvSpPr>
          <p:cNvPr id="7" name="">
            <a:extLst xmlns:a="http://schemas.openxmlformats.org/drawingml/2006/main">
              <a:ext uri="{FF2B5EF4-FFF2-40B4-BE49-F238E27FC236}">
                <a16:creationId xmlns:a16="http://schemas.microsoft.com/office/drawing/2014/main" id="{40B28939-5FDB-4947-B525-886D1C418BF5}"/>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8" name="text-102">
            <a:extLst xmlns:a="http://schemas.openxmlformats.org/drawingml/2006/main">
              <a:ext uri="{FF2B5EF4-FFF2-40B4-BE49-F238E27FC236}">
                <a16:creationId xmlns:a16="http://schemas.microsoft.com/office/drawing/2014/main" id="{2085004A-E10D-48F3-8E6E-8ABACC7670F4}"/>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Measure useful output, errors and cost together. All-singleton clustering or universal abstention cannot win.</a:t>
            </a:r>
          </a:p>
        </p:txBody>
      </p:sp>
    </p:spTree>
    <p:extLst>
      <p:ext uri="{BB962C8B-B14F-4D97-AF65-F5344CB8AC3E}">
        <p14:creationId xmlns:p14="http://schemas.microsoft.com/office/powerpoint/2010/main" val="4161936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2026-09-29T11:06:23.9140000Z</dcterms:created>
  <dcterms:modified xsi:type="dcterms:W3CDTF">2026-09-29T11:06:23.9140000Z</dcterms:modified>
</coreProperties>
</file>