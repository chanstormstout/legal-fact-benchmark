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283c38ff55a43d3" /><Relationship Type="http://schemas.openxmlformats.org/officeDocument/2006/relationships/extended-properties" Target="/docProps/app.xml" Id="Rd1f46f0761204b56" /><Relationship Type="http://schemas.openxmlformats.org/officeDocument/2006/relationships/officeDocument" Target="/ppt/presentation.xml" Id="R51725c31c3c04ac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d35ca36016d456e"/>
  </p:sldMasterIdLst>
  <p:notesMasterIdLst>
    <p:notesMasterId xmlns:r="http://schemas.openxmlformats.org/officeDocument/2006/relationships" r:id="R64645995358a4561"/>
  </p:notesMasterIdLst>
  <p:sldIdLst>
    <p:sldId xmlns:r="http://schemas.openxmlformats.org/officeDocument/2006/relationships" id="256" r:id="R8060ebc1633345b9"/>
    <p:sldId xmlns:r="http://schemas.openxmlformats.org/officeDocument/2006/relationships" id="257" r:id="R84710962dfca4027"/>
    <p:sldId xmlns:r="http://schemas.openxmlformats.org/officeDocument/2006/relationships" id="258" r:id="R71f278f4ba9043e8"/>
    <p:sldId xmlns:r="http://schemas.openxmlformats.org/officeDocument/2006/relationships" id="259" r:id="R95271279b6444059"/>
    <p:sldId xmlns:r="http://schemas.openxmlformats.org/officeDocument/2006/relationships" id="260" r:id="Rfba10acbb1314c3f"/>
    <p:sldId xmlns:r="http://schemas.openxmlformats.org/officeDocument/2006/relationships" id="261" r:id="R8124d2f1c6494904"/>
    <p:sldId xmlns:r="http://schemas.openxmlformats.org/officeDocument/2006/relationships" id="262" r:id="R515a4b21bb5e49bd"/>
    <p:sldId xmlns:r="http://schemas.openxmlformats.org/officeDocument/2006/relationships" id="263" r:id="R03d7edbf60444de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ff3f4a0f8fa4aa3" /><Relationship Type="http://schemas.openxmlformats.org/officeDocument/2006/relationships/slideMaster" Target="/ppt/slideMasters/slideMaster1.xml" Id="R8d35ca36016d456e" /><Relationship Type="http://schemas.openxmlformats.org/officeDocument/2006/relationships/notesMaster" Target="/ppt/notesMasters/notesMaster1.xml" Id="R64645995358a4561" /><Relationship Type="http://schemas.openxmlformats.org/officeDocument/2006/relationships/presProps" Target="/ppt/presProps.xml" Id="R4a553240439d48f7" /><Relationship Type="http://schemas.openxmlformats.org/officeDocument/2006/relationships/tableStyles" Target="/ppt/tableStyles.xml" Id="R4230c471aa1248e9" /><Relationship Type="http://schemas.openxmlformats.org/officeDocument/2006/relationships/slide" Target="/ppt/slides/slide1.xml" Id="R8060ebc1633345b9" /><Relationship Type="http://schemas.openxmlformats.org/officeDocument/2006/relationships/slide" Target="/ppt/slides/slide2.xml" Id="R84710962dfca4027" /><Relationship Type="http://schemas.openxmlformats.org/officeDocument/2006/relationships/slide" Target="/ppt/slides/slide3.xml" Id="R71f278f4ba9043e8" /><Relationship Type="http://schemas.openxmlformats.org/officeDocument/2006/relationships/slide" Target="/ppt/slides/slide4.xml" Id="R95271279b6444059" /><Relationship Type="http://schemas.openxmlformats.org/officeDocument/2006/relationships/slide" Target="/ppt/slides/slide5.xml" Id="Rfba10acbb1314c3f" /><Relationship Type="http://schemas.openxmlformats.org/officeDocument/2006/relationships/slide" Target="/ppt/slides/slide6.xml" Id="R8124d2f1c6494904" /><Relationship Type="http://schemas.openxmlformats.org/officeDocument/2006/relationships/slide" Target="/ppt/slides/slide7.xml" Id="R515a4b21bb5e49bd" /><Relationship Type="http://schemas.openxmlformats.org/officeDocument/2006/relationships/slide" Target="/ppt/slides/slide8.xml" Id="R03d7edbf60444de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fb076a1fa96485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f026be3d6e940ff" /><Relationship Type="http://schemas.openxmlformats.org/officeDocument/2006/relationships/notesMaster" Target="/ppt/notesMasters/notesMaster1.xml" Id="Rc9f9d0613d95431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cd11cdb09224f90" /><Relationship Type="http://schemas.openxmlformats.org/officeDocument/2006/relationships/notesMaster" Target="/ppt/notesMasters/notesMaster1.xml" Id="R38d369035c3942d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6f0043d6d7b46aa" /><Relationship Type="http://schemas.openxmlformats.org/officeDocument/2006/relationships/notesMaster" Target="/ppt/notesMasters/notesMaster1.xml" Id="R4a789c46dc1440f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793e5594bc54f95" /><Relationship Type="http://schemas.openxmlformats.org/officeDocument/2006/relationships/notesMaster" Target="/ppt/notesMasters/notesMaster1.xml" Id="Rf30f282793a14b7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801ece0a8324b3b" /><Relationship Type="http://schemas.openxmlformats.org/officeDocument/2006/relationships/notesMaster" Target="/ppt/notesMasters/notesMaster1.xml" Id="Re5232c53be004c2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b6b28e377b74b0e" /><Relationship Type="http://schemas.openxmlformats.org/officeDocument/2006/relationships/notesMaster" Target="/ppt/notesMasters/notesMaster1.xml" Id="Re9088df9edbc443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b6244b22cf74574" /><Relationship Type="http://schemas.openxmlformats.org/officeDocument/2006/relationships/notesMaster" Target="/ppt/notesMasters/notesMaster1.xml" Id="R2406f16769d549b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892f042dd254cb9" /><Relationship Type="http://schemas.openxmlformats.org/officeDocument/2006/relationships/notesMaster" Target="/ppt/notesMasters/notesMaster1.xml" Id="R1c6c818bf7f5475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今天我想讲清楚三个模块各自要设计算法解决什么。A把不同说法变成可复用的事实类别，但保留每个案件自己的身份与陈述状态。B找跨案件重复出现的关系组合。C根据有出处、经审阅的法律规则构造论证，并处理反驳。请指着下方直连线：C直接使用A的事实，B只帮助检索和比较，不能成为事实的唯一入口，更不能把常见模式升级成法律规则。当前材料是判决文书，首版是回顾性知识发现与论证重建，不把它说成判决前预测。完整项目还会经过因素、要件、请求和争点，本次聚焦这些层之间需要明确的算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Canonicalizing Legal Facts (1).pdf; supplied team assignment and full Evidence-to-Conclusion pipeline. Whiteboard excluded. Design §§1,6.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例子中两句话来自同一假想案件，涉及K1。它们可以共享PAID_FULL这个内容谓词，但“主张”和“法院认定”必须进入不同规范化陈述类，不能只保存在某个无人使用的metadata字段。付款family可以组织这些类别，但family关系不允许随意替换。每个实例保留当事人、合同、时间、原文范围和说话者。A的执行先抽取并逐槽核对来源，再用BM25和嵌入检索候选；判定器比较抽象签名的每个条件是否双向蕴含，两次交换顺序都通过才记EQ。任何缺失、分歧或新增行为都不能合并。下方“未交付”和“拒绝交付”说明词语相近不等价。这些来源和状态要求原PDF已经提出，我们的工作是落实执行与合并决策，不把要求本身说成创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PDF pp2–6; EDC https://aclanthology.org/2024.emnlp-main.548/; Design §§2–3. Hypothetical text, not an actual case.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图中每个节点代表一个同状态、同语境的抽象语义签名，每条线代表已经核验的EQ。没画出的边可能未核验，也可能不等价，数据库会区分；两者都不能用于同簇。假设贪心先选ab，就只能留下c和d两个单例。联合选择ac与bd保留两个已核验关系，同时没有串联未经核验的边。具体实现用二元zij表示同簇，所有非EQ边固定0，三元传递约束保证划分，最大化簇内EQ边数。分量80个节点以内限时60秒，大分量回退完整准入贪心。新证据或误判修复后重算变化前后连通分量，版本化发布。这是条件图目标优势，绝不等于语言判断更正确。最直接对照是完全相同EQ图上的贪心；另与原PDF完整代表核验、EDC同schema、Cequel和LSCK比较。若额外求解没有增加真实正确复用，就保留贪心。珊瑚色标记本页的选择结果，不表示已经证明的新贡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Design §3; Bansal et al. Correlation Clustering https://doi.org/10.1023/B:MACH.0000033116.57574.95; Cequel https://arxiv.org/html/2504.15640v2; LSCK https://arxiv.org/html/2601.11118v1. Graph is a constructed mechanism example.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继续K1/K2例子。最初只有K1已付款、K2未交付，两者在同一案件出现，却不是同一合同上的组合。查询重复使用同一个K变量，精确连接失败。后来有K1未交付的法院认定，才得到完整见证。主张视图与法院认定视图分别计算。算法从单原子开始，每次增加共享实体或事件变量的一个原子；规范变量命名与原子顺序，消除重复，再执行带类型的关系连接。首版限制2到4个内容原子、最多6个变量。每个case/claim/stage有一个见证就记一次支持，诉讼组另计独立重复，分母固定。增加合取条件只会缩小见证集合，可安全剪枝已知不频繁的合法前缀。未知计数和超时不能当0。gSpan已经能保留关系，所以公平对照必须给它相同typed graph与身份状态，比较搜索成本和覆盖，而不能声称只有本方案懂关系。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Design §4.2–4.3; WARMR https://www.cs.helsinki.fi/u/htoivone/pubs/dmkd99.pdf; gSpan https://sites.cs.ucsb.edu/~xyan/papers/gSpan-short.pdf. Hypothetical example.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生成候选还不够，一批高度重复模式会浪费阅读时间。首选把模式写成字典条目，每次用模式必须同时写出b、s、K绑定；无法覆盖的事实原样保存。整数规划同时决定选哪些条目、使用哪些见证、保留哪些literal，最小化定义加使用加剩余事实的总位数。所有字段和ID宽度固定，重叠宏仍支付完整成本，每个原子必须可重建。候选首先要求至少5个诉讼组存在见证；选中的模式至少在3组实际使用，这是不同阶段的两个约束。首版每模式每单元最多用一次以控制长案件主导，解除上限作为消融。300秒到限保留最好可行解并报告gap。达到最优时只保证同候选、同编码下不比贪心的位数差，不能保证更有法律价值。KG-MDL是最接近的强对照，SLIM/Snor、最大覆盖和同编码贪心也要比较。若只是省几bit却降低专家有效产出，就换目标或采用贪心。表中三条是使用示例，不是数据支持量，也不是实测数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Design §4.4–4.7; KG-MDL https://arxiv.org/abs/2309.12908; SLIM https://eda.rg.cispa.io/pubs/2012/slim-smets%2Cvreeken.pdf; Snor https://eda.rg.cispa.io/pubs/2025/snor-vanleeuwen%2Cvreeken.pdf.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上方是实现流程：从法源提取条件、例外和范围，专家审阅后编译到共享谓词，构造带原文及规则ID的论证。来源记录本身只说明文书写了什么，对象事实由可废止投射产生，所以两份相反记录可以共存并相互反驳。下方把同一K1的延期冲突画开：A支持未延期，B支持已延期，二者的事实投射互相rebut。R使用A以及其他已满足前提推出要件；r2利用延期攻击r1的这次适用。红色路径压缩了r2的中间节点，完整实现保留它。假设相关规则无优先关系，grounded从空集迭代，未解决冲突使R仍未决。它不是多数投票，也不靠模型选更可信的一边。规则优先仅采用审阅过的偏序，具体last-link elitist比较写在文档。undercut不被结论优先级挡住，rebut只直接针对可废止子论证。规则包限制有限、无函数、正向依赖DAG，攻击图可以有环。完整图构造超限时不发布认证结论。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Design §5; ASPIC+ tutorial https://journals.sagepub.com/doi/10.1080/19462166.2013.869766; ANGRY https://arxiv.org/html/2508.10976v1. Diagram assumes equal-priority conflicting projections.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贯穿例子的原始记录缺少K1到期日期，所以即使B已经发现已付款加未交付，也不能补出法律前提。然后区分两种经审阅规则。若法律条件本来要求明确排除延期，缺少这项依据就无法构造论证。若法律安排允许满足基本条件后默认适用，延期作为抗辩或例外攻击，那么没有延期记录时可以构造可废止论证，但绝不生成“没有延期”的事实。这种规则模式必须事先根据法源确定，不能为了当前案件得到结论而临时改变。未审阅模式的规则不运行。双方延期论证相互冲突则按上一页保留未决。完整轨迹展示来源、投射、规则版本、攻击、状态及缺失项。C的价值假设是减少漏条件和随意裁决，不是保证法律正确；成熟ASPIC+引擎若支持同语义应直接复用，结构清单在简单争点同样好时也应保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Design §§5.3–5.6. All legal conditions on this slide are illustrative, not jurisdiction-specific legal rules.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我的提议不是三个全新算法，而是把现成方法组合成可以实现、可以被推翻的选择。A的条件优势来自严格准入和联合处理合法合并竞争，但多花的核验预算必须计入。B的优势假设来自保留绑定、明确搜索语言和压缩冗余，gSpan和KG-MDL得到相同信息后可能同样好。C的形式语义已经成熟，核心工程难点是把来源、规则、例外与优先编译正确，不必重新发明论证引擎。先针对一个法律争点做原型。开发、发现、确认按关联诉讼组隔离，事实和规则人工核验输入实验与自动输入实验分开。评价必须同时看覆盖、正确产出和成本，全singleton与全拒答不能靠零错误获胜。当前已核验本地数据有6954条记录但领域混合、没有现成金标准；运行的小型机制检查只验证抽象图和合成例子，不是实际案件成绩。会议要确定的是真正要保留的法律差异、第一争点和专家审查安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Design §§1,6–8 and 文献与选型依据.md. ClassMATe https://aclanthology.org/2025.tacl-1.55/; legal formalization https://arxiv.org/html/2506.08899v3. No empirical superiority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9b4c9bbadb496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a314ea5d2a24ea3" /><Relationship Type="http://schemas.openxmlformats.org/officeDocument/2006/relationships/slideLayout" Target="/ppt/slideLayouts/slideLayout1.xml" Id="Ref593518f364487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f593518f364487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f8a137922846bf" /><Relationship Type="http://schemas.openxmlformats.org/officeDocument/2006/relationships/notesSlide" Target="/ppt/notesSlides/notesSlide1.xml" Id="Rd19cb3a76bd249f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43b83ab28742c5" /><Relationship Type="http://schemas.openxmlformats.org/officeDocument/2006/relationships/notesSlide" Target="/ppt/notesSlides/notesSlide2.xml" Id="Rbfe82d38d88149c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3f3e8237ed495c" /><Relationship Type="http://schemas.openxmlformats.org/officeDocument/2006/relationships/notesSlide" Target="/ppt/notesSlides/notesSlide3.xml" Id="R946e61a14993499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47fe966f144967" /><Relationship Type="http://schemas.openxmlformats.org/officeDocument/2006/relationships/notesSlide" Target="/ppt/notesSlides/notesSlide4.xml" Id="R5f63cb157cbb413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ad5cbfefce41f0" /><Relationship Type="http://schemas.openxmlformats.org/officeDocument/2006/relationships/notesSlide" Target="/ppt/notesSlides/notesSlide5.xml" Id="R9521215cdd344ad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87be18855644f2" /><Relationship Type="http://schemas.openxmlformats.org/officeDocument/2006/relationships/notesSlide" Target="/ppt/notesSlides/notesSlide6.xml" Id="Recb88ba5abff46b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7673026117457f" /><Relationship Type="http://schemas.openxmlformats.org/officeDocument/2006/relationships/notesSlide" Target="/ppt/notesSlides/notesSlide7.xml" Id="R05fd6cb127614ea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1127402b04476e" /><Relationship Type="http://schemas.openxmlformats.org/officeDocument/2006/relationships/notesSlide" Target="/ppt/notesSlides/notesSlide8.xml" Id="Re0b5399a7fc34c2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text-1">
            <a:extLst xmlns:a="http://schemas.openxmlformats.org/drawingml/2006/main">
              <a:ext uri="{FF2B5EF4-FFF2-40B4-BE49-F238E27FC236}">
                <a16:creationId xmlns:a16="http://schemas.microsoft.com/office/drawing/2014/main" id="{A6348B82-FEC7-482A-9B6B-0160CE23B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Legal fact algorithms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A7936BD6-00E9-4DA9-91ED-9D5BF1CDC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A research design for comparing cases and reconstructing legal reasoning</a:t>
            </a:r>
          </a:p>
        </p:txBody>
      </p:sp>
      <p:sp>
        <p:nvSpPr>
          <p:cNvPr id="3" name="text-3">
            <a:extLst xmlns:a="http://schemas.openxmlformats.org/drawingml/2006/main">
              <a:ext uri="{FF2B5EF4-FFF2-40B4-BE49-F238E27FC236}">
                <a16:creationId xmlns:a16="http://schemas.microsoft.com/office/drawing/2014/main" id="{647B2BE8-9B73-4F8E-ABAE-2DE2AC752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4" name="shape-4">
            <a:extLst xmlns:a="http://schemas.openxmlformats.org/drawingml/2006/main">
              <a:ext uri="{FF2B5EF4-FFF2-40B4-BE49-F238E27FC236}">
                <a16:creationId xmlns:a16="http://schemas.microsoft.com/office/drawing/2014/main" id="{B38C7DB4-9D34-438A-A6A2-E039427D8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371725"/>
            <a:ext cx="6286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758A"/>
            </a:solidFill>
          </a:ln>
        </p:spPr>
      </p:sp>
      <p:sp>
        <p:nvSpPr>
          <p:cNvPr id="5" name="shape-5">
            <a:extLst xmlns:a="http://schemas.openxmlformats.org/drawingml/2006/main">
              <a:ext uri="{FF2B5EF4-FFF2-40B4-BE49-F238E27FC236}">
                <a16:creationId xmlns:a16="http://schemas.microsoft.com/office/drawing/2014/main" id="{B1D5768F-916E-4E61-BB30-2C1091EBC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2371725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6"/>
          </a:solidFill>
          <a:ln xmlns:a="http://schemas.openxmlformats.org/drawingml/2006/main" w="19050">
            <a:solidFill>
              <a:srgbClr val="63758A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305094-F296-44CC-9E56-FFB437DD6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904875" y="2657475"/>
            <a:ext cx="400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3758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DF086C-B9EA-4C1B-9D3F-2939F4B35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904875" y="2771775"/>
            <a:ext cx="400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3758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756B28-8B94-4442-AEBC-FEE220F37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904875" y="2886075"/>
            <a:ext cx="400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3758A"/>
            </a:solidFill>
            <a:prstDash val="solid"/>
          </a:ln>
        </p:spPr>
      </p:sp>
      <p:sp>
        <p:nvSpPr>
          <p:cNvPr id="9" name="text-6">
            <a:extLst xmlns:a="http://schemas.openxmlformats.org/drawingml/2006/main">
              <a:ext uri="{FF2B5EF4-FFF2-40B4-BE49-F238E27FC236}">
                <a16:creationId xmlns:a16="http://schemas.microsoft.com/office/drawing/2014/main" id="{354C3867-DACF-4A70-A224-45957006C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71850"/>
            <a:ext cx="1524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Judgment</a:t>
            </a:r>
          </a:p>
          <a:p xmlns:a="http://schemas.openxmlformats.org/drawingml/2006/main">
            <a:pPr algn="ctr">
              <a:defRPr sz="187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passages</a:t>
            </a:r>
          </a:p>
        </p:txBody>
      </p:sp>
      <p:sp>
        <p:nvSpPr>
          <p:cNvPr id="10" name="shape-7">
            <a:extLst xmlns:a="http://schemas.openxmlformats.org/drawingml/2006/main">
              <a:ext uri="{FF2B5EF4-FFF2-40B4-BE49-F238E27FC236}">
                <a16:creationId xmlns:a16="http://schemas.microsoft.com/office/drawing/2014/main" id="{DB823031-366B-4DF3-A784-6412D6FF9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314575"/>
            <a:ext cx="2333625" cy="9906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EAF0F6"/>
          </a:solidFill>
          <a:ln xmlns:a="http://schemas.openxmlformats.org/drawingml/2006/main" w="19050">
            <a:solidFill>
              <a:srgbClr val="63758A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A</a:t>
            </a:r>
          </a:p>
          <a:p xmlns:a="http://schemas.openxmlformats.org/drawingml/2006/main">
            <a:pPr algn="ctr">
              <a:def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Canonical facts</a:t>
            </a:r>
          </a:p>
        </p:txBody>
      </p:sp>
      <p:sp>
        <p:nvSpPr>
          <p:cNvPr id="11" name="shape-8">
            <a:extLst xmlns:a="http://schemas.openxmlformats.org/drawingml/2006/main">
              <a:ext uri="{FF2B5EF4-FFF2-40B4-BE49-F238E27FC236}">
                <a16:creationId xmlns:a16="http://schemas.microsoft.com/office/drawing/2014/main" id="{2DAF65A4-F2C1-4D84-9A3F-DEE1C1C2D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2314575"/>
            <a:ext cx="2333625" cy="9906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EAF0F6"/>
          </a:solidFill>
          <a:ln xmlns:a="http://schemas.openxmlformats.org/drawingml/2006/main" w="19050">
            <a:solidFill>
              <a:srgbClr val="63758A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B</a:t>
            </a:r>
          </a:p>
          <a:p xmlns:a="http://schemas.openxmlformats.org/drawingml/2006/main">
            <a:pPr algn="ctr">
              <a:def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Fact patterns</a:t>
            </a:r>
          </a:p>
        </p:txBody>
      </p:sp>
      <p:sp>
        <p:nvSpPr>
          <p:cNvPr id="12" name="shape-9">
            <a:extLst xmlns:a="http://schemas.openxmlformats.org/drawingml/2006/main">
              <a:ext uri="{FF2B5EF4-FFF2-40B4-BE49-F238E27FC236}">
                <a16:creationId xmlns:a16="http://schemas.microsoft.com/office/drawing/2014/main" id="{A666A946-803C-438B-869E-412F3BB24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2314575"/>
            <a:ext cx="2714625" cy="9906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EAF0F6"/>
          </a:solidFill>
          <a:ln xmlns:a="http://schemas.openxmlformats.org/drawingml/2006/main" w="19050">
            <a:solidFill>
              <a:srgbClr val="63758A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C</a:t>
            </a:r>
          </a:p>
          <a:p xmlns:a="http://schemas.openxmlformats.org/drawingml/2006/main">
            <a:pPr algn="ctr">
              <a:def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Legal arguments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462D9A-5128-4BE6-AEF7-DF3025B14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571625" y="2809875"/>
            <a:ext cx="904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2C3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090D17-6E60-496E-92DA-EF5D8E49F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771775"/>
            <a:ext cx="76200" cy="76200"/>
          </a:xfrm>
          <a:custGeom xmlns:a="http://schemas.openxmlformats.org/drawingml/2006/main">
            <a:pathLst>
              <a:path w="76200" h="76200">
                <a:moveTo>
                  <a:pt x="76200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 xmlns:a="http://schemas.openxmlformats.org/drawingml/2006/main">
            <a:srgbClr val="172C36"/>
          </a:solidFill>
          <a:ln xmlns:a="http://schemas.openxmlformats.org/drawingml/2006/main" w="9525">
            <a:solidFill>
              <a:srgbClr val="172C3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FA6C7A-82A7-4CAC-866C-7AF5D0D63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810125" y="2809875"/>
            <a:ext cx="838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2C3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DE0EE1-6118-421B-B7BD-7FE1C2738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771775"/>
            <a:ext cx="76200" cy="76200"/>
          </a:xfrm>
          <a:custGeom xmlns:a="http://schemas.openxmlformats.org/drawingml/2006/main">
            <a:pathLst>
              <a:path w="76200" h="76200">
                <a:moveTo>
                  <a:pt x="76200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 xmlns:a="http://schemas.openxmlformats.org/drawingml/2006/main">
            <a:srgbClr val="172C36"/>
          </a:solidFill>
          <a:ln xmlns:a="http://schemas.openxmlformats.org/drawingml/2006/main" w="9525">
            <a:solidFill>
              <a:srgbClr val="172C36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9AAEBC-BDE9-4254-9C33-87DAEDA68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7981950" y="2809875"/>
            <a:ext cx="8477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3758A"/>
            </a:solidFill>
            <a:prstDash val="dash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714669-5B9D-4936-B1C4-4089987C5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771775"/>
            <a:ext cx="76200" cy="76200"/>
          </a:xfrm>
          <a:custGeom xmlns:a="http://schemas.openxmlformats.org/drawingml/2006/main">
            <a:pathLst>
              <a:path w="76200" h="76200">
                <a:moveTo>
                  <a:pt x="76200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 xmlns:a="http://schemas.openxmlformats.org/drawingml/2006/main">
            <a:srgbClr val="63758A"/>
          </a:solidFill>
          <a:ln xmlns:a="http://schemas.openxmlformats.org/drawingml/2006/main" w="9525">
            <a:solidFill>
              <a:srgbClr val="63758A"/>
            </a:solidFill>
          </a:ln>
        </p:spPr>
      </p:sp>
      <p:sp>
        <p:nvSpPr>
          <p:cNvPr id="19" name="text-10">
            <a:extLst xmlns:a="http://schemas.openxmlformats.org/drawingml/2006/main">
              <a:ext uri="{FF2B5EF4-FFF2-40B4-BE49-F238E27FC236}">
                <a16:creationId xmlns:a16="http://schemas.microsoft.com/office/drawing/2014/main" id="{BDDAF772-634F-4C88-8ECD-9294A6271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390775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optional</a:t>
            </a:r>
          </a:p>
        </p:txBody>
      </p:sp>
      <p:sp>
        <p:nvSpPr>
          <p:cNvPr id="20" name="text-11">
            <a:extLst xmlns:a="http://schemas.openxmlformats.org/drawingml/2006/main">
              <a:ext uri="{FF2B5EF4-FFF2-40B4-BE49-F238E27FC236}">
                <a16:creationId xmlns:a16="http://schemas.microsoft.com/office/drawing/2014/main" id="{AE1CBF65-4DB3-4DC2-A295-18C5A27FB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562350"/>
            <a:ext cx="2571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Which expressions</a:t>
            </a:r>
          </a:p>
          <a:p xmlns:a="http://schemas.openxmlformats.org/drawingml/2006/main">
            <a:pPr algn="ctr">
              <a:defRPr sz="2025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share a meaning?</a:t>
            </a:r>
          </a:p>
        </p:txBody>
      </p:sp>
      <p:sp>
        <p:nvSpPr>
          <p:cNvPr id="21" name="text-12">
            <a:extLst xmlns:a="http://schemas.openxmlformats.org/drawingml/2006/main">
              <a:ext uri="{FF2B5EF4-FFF2-40B4-BE49-F238E27FC236}">
                <a16:creationId xmlns:a16="http://schemas.microsoft.com/office/drawing/2014/main" id="{BA948E17-451E-4A39-82FB-B77771BD5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3562350"/>
            <a:ext cx="26765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Which relationships</a:t>
            </a:r>
          </a:p>
          <a:p xmlns:a="http://schemas.openxmlformats.org/drawingml/2006/main">
            <a:pPr algn="ctr">
              <a:defRPr sz="2025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repeat across cases?</a:t>
            </a:r>
          </a:p>
        </p:txBody>
      </p:sp>
      <p:sp>
        <p:nvSpPr>
          <p:cNvPr id="22" name="text-13">
            <a:extLst xmlns:a="http://schemas.openxmlformats.org/drawingml/2006/main">
              <a:ext uri="{FF2B5EF4-FFF2-40B4-BE49-F238E27FC236}">
                <a16:creationId xmlns:a16="http://schemas.microsoft.com/office/drawing/2014/main" id="{FAE97D3D-DB70-404C-A12C-38F71A737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3562350"/>
            <a:ext cx="2714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Which conclusions</a:t>
            </a:r>
          </a:p>
          <a:p xmlns:a="http://schemas.openxmlformats.org/drawingml/2006/main">
            <a:pPr algn="ctr">
              <a:defRPr sz="2025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survive objections?</a:t>
            </a:r>
          </a:p>
        </p:txBody>
      </p:sp>
      <p:sp>
        <p:nvSpPr>
          <p:cNvPr id="23" name="shape-14">
            <a:extLst xmlns:a="http://schemas.openxmlformats.org/drawingml/2006/main">
              <a:ext uri="{FF2B5EF4-FFF2-40B4-BE49-F238E27FC236}">
                <a16:creationId xmlns:a16="http://schemas.microsoft.com/office/drawing/2014/main" id="{6D59CC17-C50F-4001-9D9B-E8E61C7B4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495425"/>
            <a:ext cx="3429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758A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0C4C6B-F047-4064-A39E-9144A9624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9505950" y="1628775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3758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4CB8AE-2272-4D8E-ABD0-D85884F5E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9505950" y="173355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3758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57A130-BD3C-4827-B101-8C58B89B4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9505950" y="1838325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3758A"/>
            </a:solidFill>
            <a:prstDash val="solid"/>
          </a:ln>
        </p:spPr>
      </p:sp>
      <p:sp>
        <p:nvSpPr>
          <p:cNvPr id="27" name="shape-15">
            <a:extLst xmlns:a="http://schemas.openxmlformats.org/drawingml/2006/main">
              <a:ext uri="{FF2B5EF4-FFF2-40B4-BE49-F238E27FC236}">
                <a16:creationId xmlns:a16="http://schemas.microsoft.com/office/drawing/2014/main" id="{4BA64360-B7F3-4168-9910-FE02B6C6B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495425"/>
            <a:ext cx="3429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758A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87092D-F9C1-452E-A613-1F0D5BA8F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9848850" y="1628775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3758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99CD5AB-87F6-40C2-89F5-76C42F52A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9848850" y="173355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3758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FCEE53F-81B2-4223-93DC-2E06D13E0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9848850" y="1838325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3758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897FF9F-DE4C-498A-A782-7C5961182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9772650" y="1466850"/>
            <a:ext cx="0" cy="533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72C3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11BEB91-28E7-477F-9CF6-DE57C56F2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9772650" y="1971675"/>
            <a:ext cx="0" cy="3429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2C36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B0F1243-908D-4F74-A0E6-DD0C47A8F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238375"/>
            <a:ext cx="76200" cy="76200"/>
          </a:xfrm>
          <a:custGeom xmlns:a="http://schemas.openxmlformats.org/drawingml/2006/main">
            <a:pathLst>
              <a:path w="76200" h="76200">
                <a:moveTo>
                  <a:pt x="38100" y="76200"/>
                </a:moveTo>
                <a:lnTo>
                  <a:pt x="0" y="0"/>
                </a:lnTo>
                <a:lnTo>
                  <a:pt x="76200" y="0"/>
                </a:lnTo>
                <a:close/>
              </a:path>
            </a:pathLst>
          </a:custGeom>
          <a:solidFill xmlns:a="http://schemas.openxmlformats.org/drawingml/2006/main">
            <a:srgbClr val="172C36"/>
          </a:solidFill>
          <a:ln xmlns:a="http://schemas.openxmlformats.org/drawingml/2006/main" w="9525">
            <a:solidFill>
              <a:srgbClr val="172C36"/>
            </a:solidFill>
          </a:ln>
        </p:spPr>
      </p:sp>
      <p:sp>
        <p:nvSpPr>
          <p:cNvPr id="34" name="text-16">
            <a:extLst xmlns:a="http://schemas.openxmlformats.org/drawingml/2006/main">
              <a:ext uri="{FF2B5EF4-FFF2-40B4-BE49-F238E27FC236}">
                <a16:creationId xmlns:a16="http://schemas.microsoft.com/office/drawing/2014/main" id="{A0011AE0-A63D-49DB-8322-3300B02CF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1524000"/>
            <a:ext cx="1285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Authorities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17AF353-4076-45D5-ADF5-EBABC0E8F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810125" y="3133725"/>
            <a:ext cx="4095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2C36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8FB17CB-8D64-4B78-879D-9A5FD5F1C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5219700" y="3133725"/>
            <a:ext cx="0" cy="1657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2C36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B592C0F-4991-4E13-95D8-1564BEF8E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5219700" y="4791075"/>
            <a:ext cx="32099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2C3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FF9EE0F-1509-4193-AD79-E320A033A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8429625" y="3133725"/>
            <a:ext cx="0" cy="1657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2C36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8E147B0-A3D1-4F6B-B692-681637595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8429625" y="3133725"/>
            <a:ext cx="400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2C36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F972A9C-B81F-4B3B-9414-564DBA67C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095625"/>
            <a:ext cx="76200" cy="76200"/>
          </a:xfrm>
          <a:custGeom xmlns:a="http://schemas.openxmlformats.org/drawingml/2006/main">
            <a:pathLst>
              <a:path w="76200" h="76200">
                <a:moveTo>
                  <a:pt x="76200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 xmlns:a="http://schemas.openxmlformats.org/drawingml/2006/main">
            <a:srgbClr val="172C36"/>
          </a:solidFill>
          <a:ln xmlns:a="http://schemas.openxmlformats.org/drawingml/2006/main" w="9525">
            <a:solidFill>
              <a:srgbClr val="172C36"/>
            </a:solidFill>
          </a:ln>
        </p:spPr>
      </p:sp>
      <p:sp>
        <p:nvSpPr>
          <p:cNvPr id="41" name="text-17">
            <a:extLst xmlns:a="http://schemas.openxmlformats.org/drawingml/2006/main">
              <a:ext uri="{FF2B5EF4-FFF2-40B4-BE49-F238E27FC236}">
                <a16:creationId xmlns:a16="http://schemas.microsoft.com/office/drawing/2014/main" id="{5CA091E2-170A-40F2-8F5C-5DC0AE080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4943475"/>
            <a:ext cx="47053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Facts also enter C directly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0415BF0-B38A-40FB-A42D-39E1A4AA0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609600" y="6048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E0E5"/>
            </a:solidFill>
            <a:prstDash val="solid"/>
          </a:ln>
        </p:spPr>
      </p:sp>
      <p:sp>
        <p:nvSpPr>
          <p:cNvPr id="43" name="text-18">
            <a:extLst xmlns:a="http://schemas.openxmlformats.org/drawingml/2006/main">
              <a:ext uri="{FF2B5EF4-FFF2-40B4-BE49-F238E27FC236}">
                <a16:creationId xmlns:a16="http://schemas.microsoft.com/office/drawing/2014/main" id="{4C2E76A5-B938-4BBE-8724-E55A9EC11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81725"/>
            <a:ext cx="101441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Proposed methods. Real-case gains remain untested. Blue boxes: modules. Dashed arrow: optional use.</a:t>
            </a:r>
          </a:p>
        </p:txBody>
      </p:sp>
    </p:spTree>
    <p:extLst>
      <p:ext uri="{BB962C8B-B14F-4D97-AF65-F5344CB8AC3E}">
        <p14:creationId xmlns:p14="http://schemas.microsoft.com/office/powerpoint/2010/main" val="132443548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ext-19">
            <a:extLst xmlns:a="http://schemas.openxmlformats.org/drawingml/2006/main">
              <a:ext uri="{FF2B5EF4-FFF2-40B4-BE49-F238E27FC236}">
                <a16:creationId xmlns:a16="http://schemas.microsoft.com/office/drawing/2014/main" id="{9948F5B0-0558-466A-AF62-8CB8C93F0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A. Meaning, identity and statement status</a:t>
            </a:r>
          </a:p>
        </p:txBody>
      </p:sp>
      <p:sp>
        <p:nvSpPr>
          <p:cNvPr id="2" name="text-20">
            <a:extLst xmlns:a="http://schemas.openxmlformats.org/drawingml/2006/main">
              <a:ext uri="{FF2B5EF4-FFF2-40B4-BE49-F238E27FC236}">
                <a16:creationId xmlns:a16="http://schemas.microsoft.com/office/drawing/2014/main" id="{AB6544B2-123A-401F-87EE-1D3929461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Extract a sourced assertion before deciding whether its wording is equivalent</a:t>
            </a:r>
          </a:p>
        </p:txBody>
      </p:sp>
      <p:sp>
        <p:nvSpPr>
          <p:cNvPr id="3" name="text-21">
            <a:extLst xmlns:a="http://schemas.openxmlformats.org/drawingml/2006/main">
              <a:ext uri="{FF2B5EF4-FFF2-40B4-BE49-F238E27FC236}">
                <a16:creationId xmlns:a16="http://schemas.microsoft.com/office/drawing/2014/main" id="{E9543F8C-B319-4373-B3E9-95F5DD313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4" name="shape-22">
            <a:extLst xmlns:a="http://schemas.openxmlformats.org/drawingml/2006/main">
              <a:ext uri="{FF2B5EF4-FFF2-40B4-BE49-F238E27FC236}">
                <a16:creationId xmlns:a16="http://schemas.microsoft.com/office/drawing/2014/main" id="{C32805E2-D176-4398-9FAE-73E8ACC03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05000"/>
            <a:ext cx="457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758A"/>
            </a:solidFill>
          </a:ln>
        </p:spPr>
      </p:sp>
      <p:sp>
        <p:nvSpPr>
          <p:cNvPr id="5" name="shape-23">
            <a:extLst xmlns:a="http://schemas.openxmlformats.org/drawingml/2006/main">
              <a:ext uri="{FF2B5EF4-FFF2-40B4-BE49-F238E27FC236}">
                <a16:creationId xmlns:a16="http://schemas.microsoft.com/office/drawing/2014/main" id="{80D5AC0A-2242-4ABE-9647-E02CCC72B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050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6"/>
          </a:solidFill>
          <a:ln xmlns:a="http://schemas.openxmlformats.org/drawingml/2006/main" w="19050">
            <a:solidFill>
              <a:srgbClr val="63758A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7B20E0-A703-490B-8770-E78A11B74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781050" y="2190750"/>
            <a:ext cx="22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3758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440C85-34A6-4E53-8253-5E7623832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781050" y="2305050"/>
            <a:ext cx="22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3758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4443A5-F8AA-4DCD-AC3C-5567C5E2D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781050" y="2419350"/>
            <a:ext cx="22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3758A"/>
            </a:solidFill>
            <a:prstDash val="solid"/>
          </a:ln>
        </p:spPr>
      </p:sp>
      <p:sp>
        <p:nvSpPr>
          <p:cNvPr id="9" name="text-24">
            <a:extLst xmlns:a="http://schemas.openxmlformats.org/drawingml/2006/main">
              <a:ext uri="{FF2B5EF4-FFF2-40B4-BE49-F238E27FC236}">
                <a16:creationId xmlns:a16="http://schemas.microsoft.com/office/drawing/2014/main" id="{905A11D4-B6C2-493E-815E-A7C0F794F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71650"/>
            <a:ext cx="942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“The buyer claims full payment.”</a:t>
            </a:r>
          </a:p>
        </p:txBody>
      </p:sp>
      <p:sp>
        <p:nvSpPr>
          <p:cNvPr id="10" name="text-25">
            <a:extLst xmlns:a="http://schemas.openxmlformats.org/drawingml/2006/main">
              <a:ext uri="{FF2B5EF4-FFF2-40B4-BE49-F238E27FC236}">
                <a16:creationId xmlns:a16="http://schemas.microsoft.com/office/drawing/2014/main" id="{9758AAE3-CD66-4C41-ACC0-D159824D1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381250"/>
            <a:ext cx="942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“The court finds the price fully paid.”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8F776D-2E03-4D06-BC29-69E1D2A09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6181725" y="2981325"/>
            <a:ext cx="0" cy="390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2C3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0AEB76-D3D2-45F9-8994-8B93EA4B1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295650"/>
            <a:ext cx="76200" cy="76200"/>
          </a:xfrm>
          <a:custGeom xmlns:a="http://schemas.openxmlformats.org/drawingml/2006/main">
            <a:pathLst>
              <a:path w="76200" h="76200">
                <a:moveTo>
                  <a:pt x="38100" y="76200"/>
                </a:moveTo>
                <a:lnTo>
                  <a:pt x="0" y="0"/>
                </a:lnTo>
                <a:lnTo>
                  <a:pt x="76200" y="0"/>
                </a:lnTo>
                <a:close/>
              </a:path>
            </a:pathLst>
          </a:custGeom>
          <a:solidFill xmlns:a="http://schemas.openxmlformats.org/drawingml/2006/main">
            <a:srgbClr val="172C36"/>
          </a:solidFill>
          <a:ln xmlns:a="http://schemas.openxmlformats.org/drawingml/2006/main" w="9525">
            <a:solidFill>
              <a:srgbClr val="172C36"/>
            </a:solidFill>
          </a:ln>
        </p:spPr>
      </p:sp>
      <p:graphicFrame>
        <p:nvGraphicFramePr>
          <p:cNvPr id="32" name=""/>
          <p:cNvGraphicFramePr/>
          <p:nvPr/>
        </p:nvGraphicFramePr>
        <p:xfrm>
          <a:off xmlns:a="http://schemas.openxmlformats.org/drawingml/2006/main" x="1381125" y="3371850"/>
          <a:ext xmlns:a="http://schemas.openxmlformats.org/drawingml/2006/main" cx="9906000" cy="1743075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4381500"/>
                <a:gridCol w="1714500"/>
                <a:gridCol w="3810000"/>
              </a:tblGrid>
              <a:tr h="581025"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Shared content type</a:t>
                      </a:r>
                    </a:p>
                  </a:txBody>
                  <a:tcPr marL="91440" marR="91440" marT="45720" marB="45720" anchor="ctr">
                    <a:solidFill>
                      <a:srgbClr val="EAF0F6"/>
                    </a:solidFill>
                  </a:tcPr>
                </a:tc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Contract</a:t>
                      </a:r>
                    </a:p>
                  </a:txBody>
                  <a:tcPr marL="91440" marR="91440" marT="45720" marB="45720" anchor="ctr">
                    <a:solidFill>
                      <a:srgbClr val="EAF0F6"/>
                    </a:solidFill>
                  </a:tcPr>
                </a:tc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Status</a:t>
                      </a:r>
                    </a:p>
                  </a:txBody>
                  <a:tcPr marL="91440" marR="91440" marT="45720" marB="45720" anchor="ctr">
                    <a:solidFill>
                      <a:srgbClr val="EAF0F6"/>
                    </a:solidFill>
                  </a:tcPr>
                </a:tc>
              </a:tr>
              <a:tr h="581025"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PAID_FULL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K1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ALLEGED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PAID_FULL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K1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FOUND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-26">
            <a:extLst xmlns:a="http://schemas.openxmlformats.org/drawingml/2006/main">
              <a:ext uri="{FF2B5EF4-FFF2-40B4-BE49-F238E27FC236}">
                <a16:creationId xmlns:a16="http://schemas.microsoft.com/office/drawing/2014/main" id="{263CC843-A0F7-442B-BB70-75FD8CC7F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“Not delivered”</a:t>
            </a:r>
          </a:p>
        </p:txBody>
      </p:sp>
      <p:sp>
        <p:nvSpPr>
          <p:cNvPr id="15" name="text-27">
            <a:extLst xmlns:a="http://schemas.openxmlformats.org/drawingml/2006/main">
              <a:ext uri="{FF2B5EF4-FFF2-40B4-BE49-F238E27FC236}">
                <a16:creationId xmlns:a16="http://schemas.microsoft.com/office/drawing/2014/main" id="{93D00A16-3F41-49E5-BE90-AE8DC569D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7075" y="5410200"/>
            <a:ext cx="41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B4494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B44948"/>
                </a:solidFill>
                <a:latin typeface="Helvetica Neue"/>
                <a:ea typeface="Helvetica Neue"/>
                <a:cs typeface="Helvetica Neue"/>
              </a:rPr>
              <a:t>≠</a:t>
            </a:r>
          </a:p>
        </p:txBody>
      </p:sp>
      <p:sp>
        <p:nvSpPr>
          <p:cNvPr id="16" name="text-28">
            <a:extLst xmlns:a="http://schemas.openxmlformats.org/drawingml/2006/main">
              <a:ext uri="{FF2B5EF4-FFF2-40B4-BE49-F238E27FC236}">
                <a16:creationId xmlns:a16="http://schemas.microsoft.com/office/drawing/2014/main" id="{50C58E1D-3063-454E-9C96-41FDE3820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5429250"/>
            <a:ext cx="300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“Refused delivery”</a:t>
            </a:r>
          </a:p>
        </p:txBody>
      </p:sp>
      <p:sp>
        <p:nvSpPr>
          <p:cNvPr id="17" name="text-29">
            <a:extLst xmlns:a="http://schemas.openxmlformats.org/drawingml/2006/main">
              <a:ext uri="{FF2B5EF4-FFF2-40B4-BE49-F238E27FC236}">
                <a16:creationId xmlns:a16="http://schemas.microsoft.com/office/drawing/2014/main" id="{60F951CF-52F1-4F06-B4BF-6FA5DCC26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5419725"/>
            <a:ext cx="4171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Refusal adds a distinct action.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1B5336-301F-4A35-B763-D8A6A8D62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609600" y="6048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E0E5"/>
            </a:solidFill>
            <a:prstDash val="solid"/>
          </a:ln>
        </p:spPr>
      </p:sp>
      <p:sp>
        <p:nvSpPr>
          <p:cNvPr id="19" name="text-30">
            <a:extLst xmlns:a="http://schemas.openxmlformats.org/drawingml/2006/main">
              <a:ext uri="{FF2B5EF4-FFF2-40B4-BE49-F238E27FC236}">
                <a16:creationId xmlns:a16="http://schemas.microsoft.com/office/drawing/2014/main" id="{113BA834-D52A-4835-B7D5-8D01C1091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81725"/>
            <a:ext cx="101441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A content family can contain different statement classes. Instances keep their source and local IDs.</a:t>
            </a:r>
          </a:p>
        </p:txBody>
      </p:sp>
    </p:spTree>
    <p:extLst>
      <p:ext uri="{BB962C8B-B14F-4D97-AF65-F5344CB8AC3E}">
        <p14:creationId xmlns:p14="http://schemas.microsoft.com/office/powerpoint/2010/main" val="166394335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31">
            <a:extLst xmlns:a="http://schemas.openxmlformats.org/drawingml/2006/main">
              <a:ext uri="{FF2B5EF4-FFF2-40B4-BE49-F238E27FC236}">
                <a16:creationId xmlns:a16="http://schemas.microsoft.com/office/drawing/2014/main" id="{9E799725-285A-46D0-AFBA-1C8A6BF8B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A. Joint grouping under strict merge constraints</a:t>
            </a:r>
          </a:p>
        </p:txBody>
      </p:sp>
      <p:sp>
        <p:nvSpPr>
          <p:cNvPr id="2" name="text-32">
            <a:extLst xmlns:a="http://schemas.openxmlformats.org/drawingml/2006/main">
              <a:ext uri="{FF2B5EF4-FFF2-40B4-BE49-F238E27FC236}">
                <a16:creationId xmlns:a16="http://schemas.microsoft.com/office/drawing/2014/main" id="{4045D97F-58BD-4D02-A3E5-5A0F736C7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Every pair inside a cluster must have a verified equivalence decision</a:t>
            </a:r>
          </a:p>
        </p:txBody>
      </p:sp>
      <p:sp>
        <p:nvSpPr>
          <p:cNvPr id="3" name="text-33">
            <a:extLst xmlns:a="http://schemas.openxmlformats.org/drawingml/2006/main">
              <a:ext uri="{FF2B5EF4-FFF2-40B4-BE49-F238E27FC236}">
                <a16:creationId xmlns:a16="http://schemas.microsoft.com/office/drawing/2014/main" id="{EC1471D9-1058-4A79-BE1B-0353D5066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4" name="text-34">
            <a:extLst xmlns:a="http://schemas.openxmlformats.org/drawingml/2006/main">
              <a:ext uri="{FF2B5EF4-FFF2-40B4-BE49-F238E27FC236}">
                <a16:creationId xmlns:a16="http://schemas.microsoft.com/office/drawing/2014/main" id="{D70E397A-599F-4851-987D-718CE069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628775"/>
            <a:ext cx="37623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Verified EQ graph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C54A55-18DB-45D0-BEF8-66BF2FC0D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866900" y="2676525"/>
            <a:ext cx="2076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63758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36E36B-8833-4F7F-8962-3FA034C90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866900" y="2676525"/>
            <a:ext cx="0" cy="1647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63758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28FD6-0844-4869-A976-F01C619E7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943350" y="2676525"/>
            <a:ext cx="0" cy="1647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63758A"/>
            </a:solidFill>
            <a:prstDash val="solid"/>
          </a:ln>
        </p:spPr>
      </p:sp>
      <p:sp>
        <p:nvSpPr>
          <p:cNvPr id="8" name="shape-35">
            <a:extLst xmlns:a="http://schemas.openxmlformats.org/drawingml/2006/main">
              <a:ext uri="{FF2B5EF4-FFF2-40B4-BE49-F238E27FC236}">
                <a16:creationId xmlns:a16="http://schemas.microsoft.com/office/drawing/2014/main" id="{4A09B8A4-F33C-40A6-8473-2202ED9E4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381250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6"/>
          </a:solidFill>
          <a:ln xmlns:a="http://schemas.openxmlformats.org/drawingml/2006/main" w="19050">
            <a:solidFill>
              <a:srgbClr val="63758A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a</a:t>
            </a:r>
          </a:p>
        </p:txBody>
      </p:sp>
      <p:sp>
        <p:nvSpPr>
          <p:cNvPr id="9" name="shape-36">
            <a:extLst xmlns:a="http://schemas.openxmlformats.org/drawingml/2006/main">
              <a:ext uri="{FF2B5EF4-FFF2-40B4-BE49-F238E27FC236}">
                <a16:creationId xmlns:a16="http://schemas.microsoft.com/office/drawing/2014/main" id="{B593F9E4-10FA-4511-B239-6F7A4BB23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2381250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6"/>
          </a:solidFill>
          <a:ln xmlns:a="http://schemas.openxmlformats.org/drawingml/2006/main" w="19050">
            <a:solidFill>
              <a:srgbClr val="63758A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b</a:t>
            </a:r>
          </a:p>
        </p:txBody>
      </p:sp>
      <p:sp>
        <p:nvSpPr>
          <p:cNvPr id="10" name="shape-37">
            <a:extLst xmlns:a="http://schemas.openxmlformats.org/drawingml/2006/main">
              <a:ext uri="{FF2B5EF4-FFF2-40B4-BE49-F238E27FC236}">
                <a16:creationId xmlns:a16="http://schemas.microsoft.com/office/drawing/2014/main" id="{C49F6152-B09B-4B5A-8D25-E47F5B219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029075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6"/>
          </a:solidFill>
          <a:ln xmlns:a="http://schemas.openxmlformats.org/drawingml/2006/main" w="19050">
            <a:solidFill>
              <a:srgbClr val="63758A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c</a:t>
            </a:r>
          </a:p>
        </p:txBody>
      </p:sp>
      <p:sp>
        <p:nvSpPr>
          <p:cNvPr id="11" name="shape-38">
            <a:extLst xmlns:a="http://schemas.openxmlformats.org/drawingml/2006/main">
              <a:ext uri="{FF2B5EF4-FFF2-40B4-BE49-F238E27FC236}">
                <a16:creationId xmlns:a16="http://schemas.microsoft.com/office/drawing/2014/main" id="{772913B2-1750-445E-96FB-F2E4642E2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4029075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6"/>
          </a:solidFill>
          <a:ln xmlns:a="http://schemas.openxmlformats.org/drawingml/2006/main" w="19050">
            <a:solidFill>
              <a:srgbClr val="63758A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d</a:t>
            </a:r>
          </a:p>
        </p:txBody>
      </p:sp>
      <p:sp>
        <p:nvSpPr>
          <p:cNvPr id="12" name="text-39">
            <a:extLst xmlns:a="http://schemas.openxmlformats.org/drawingml/2006/main">
              <a:ext uri="{FF2B5EF4-FFF2-40B4-BE49-F238E27FC236}">
                <a16:creationId xmlns:a16="http://schemas.microsoft.com/office/drawing/2014/main" id="{A82F8BBF-D21E-489D-84FB-ABF787B08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33975"/>
            <a:ext cx="43910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Lines show verified pairs.</a:t>
            </a:r>
          </a:p>
          <a:p xmlns:a="http://schemas.openxmlformats.org/drawingml/2006/main">
            <a:pPr algn="l">
              <a:defRPr sz="172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Missing lines cannot be filled by chaining.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8D64E0-AE1B-42CC-A4FB-7414FE38A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667250" y="3533775"/>
            <a:ext cx="904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2C3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347993-D91E-4185-BFFC-1F362CD5D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495675"/>
            <a:ext cx="76200" cy="76200"/>
          </a:xfrm>
          <a:custGeom xmlns:a="http://schemas.openxmlformats.org/drawingml/2006/main">
            <a:pathLst>
              <a:path w="76200" h="76200">
                <a:moveTo>
                  <a:pt x="76200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 xmlns:a="http://schemas.openxmlformats.org/drawingml/2006/main">
            <a:srgbClr val="172C36"/>
          </a:solidFill>
          <a:ln xmlns:a="http://schemas.openxmlformats.org/drawingml/2006/main" w="9525">
            <a:solidFill>
              <a:srgbClr val="172C36"/>
            </a:solidFill>
          </a:ln>
        </p:spPr>
      </p:sp>
      <p:sp>
        <p:nvSpPr>
          <p:cNvPr id="15" name="text-40">
            <a:extLst xmlns:a="http://schemas.openxmlformats.org/drawingml/2006/main">
              <a:ext uri="{FF2B5EF4-FFF2-40B4-BE49-F238E27FC236}">
                <a16:creationId xmlns:a16="http://schemas.microsoft.com/office/drawing/2014/main" id="{B9730708-3B52-451C-AF60-8863871E4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57350"/>
            <a:ext cx="5162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Greedy first merge</a:t>
            </a:r>
          </a:p>
        </p:txBody>
      </p:sp>
      <p:sp>
        <p:nvSpPr>
          <p:cNvPr id="16" name="shape-41">
            <a:extLst xmlns:a="http://schemas.openxmlformats.org/drawingml/2006/main">
              <a:ext uri="{FF2B5EF4-FFF2-40B4-BE49-F238E27FC236}">
                <a16:creationId xmlns:a16="http://schemas.microsoft.com/office/drawing/2014/main" id="{65379FFE-1F6C-4F09-BCC1-4977C1496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133600"/>
            <a:ext cx="5162550" cy="733425"/>
          </a:xfrm>
          <a:prstGeom xmlns:a="http://schemas.openxmlformats.org/drawingml/2006/main" prst="roundRect">
            <a:avLst>
              <a:gd name="adj" fmla="val 12987"/>
            </a:avLst>
          </a:prstGeom>
          <a:solidFill xmlns:a="http://schemas.openxmlformats.org/drawingml/2006/main">
            <a:srgbClr val="EAF0F6"/>
          </a:solidFill>
          <a:ln xmlns:a="http://schemas.openxmlformats.org/drawingml/2006/main" w="19050">
            <a:solidFill>
              <a:srgbClr val="63758A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{a, b}     {c}     {d}</a:t>
            </a:r>
          </a:p>
        </p:txBody>
      </p:sp>
      <p:sp>
        <p:nvSpPr>
          <p:cNvPr id="17" name="text-42">
            <a:extLst xmlns:a="http://schemas.openxmlformats.org/drawingml/2006/main">
              <a:ext uri="{FF2B5EF4-FFF2-40B4-BE49-F238E27FC236}">
                <a16:creationId xmlns:a16="http://schemas.microsoft.com/office/drawing/2014/main" id="{AA3476AF-118E-4A3A-9396-03DF62F3B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009900"/>
            <a:ext cx="5162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1 retained EQ pair</a:t>
            </a:r>
          </a:p>
        </p:txBody>
      </p:sp>
      <p:sp>
        <p:nvSpPr>
          <p:cNvPr id="18" name="text-43">
            <a:extLst xmlns:a="http://schemas.openxmlformats.org/drawingml/2006/main">
              <a:ext uri="{FF2B5EF4-FFF2-40B4-BE49-F238E27FC236}">
                <a16:creationId xmlns:a16="http://schemas.microsoft.com/office/drawing/2014/main" id="{F4464057-77A3-4AE5-870F-0434D29E8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733800"/>
            <a:ext cx="542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Constrained joint optimization</a:t>
            </a:r>
          </a:p>
        </p:txBody>
      </p:sp>
      <p:sp>
        <p:nvSpPr>
          <p:cNvPr id="19" name="shape-44">
            <a:extLst xmlns:a="http://schemas.openxmlformats.org/drawingml/2006/main">
              <a:ext uri="{FF2B5EF4-FFF2-40B4-BE49-F238E27FC236}">
                <a16:creationId xmlns:a16="http://schemas.microsoft.com/office/drawing/2014/main" id="{C2E728EC-8A3A-4468-A5CD-586AE6B25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295775"/>
            <a:ext cx="5162550" cy="733425"/>
          </a:xfrm>
          <a:prstGeom xmlns:a="http://schemas.openxmlformats.org/drawingml/2006/main" prst="roundRect">
            <a:avLst>
              <a:gd name="adj" fmla="val 12987"/>
            </a:avLst>
          </a:prstGeom>
          <a:solidFill xmlns:a="http://schemas.openxmlformats.org/drawingml/2006/main">
            <a:srgbClr val="F1D7D4"/>
          </a:solidFill>
          <a:ln xmlns:a="http://schemas.openxmlformats.org/drawingml/2006/main" w="19050">
            <a:solidFill>
              <a:srgbClr val="B44948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{a, c}         {b, d}</a:t>
            </a:r>
          </a:p>
        </p:txBody>
      </p:sp>
      <p:sp>
        <p:nvSpPr>
          <p:cNvPr id="20" name="text-45">
            <a:extLst xmlns:a="http://schemas.openxmlformats.org/drawingml/2006/main">
              <a:ext uri="{FF2B5EF4-FFF2-40B4-BE49-F238E27FC236}">
                <a16:creationId xmlns:a16="http://schemas.microsoft.com/office/drawing/2014/main" id="{D2C53110-DED0-4186-BE30-B8BD9EFF0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5162550"/>
            <a:ext cx="528637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2 retained EQ pairs, all constraints satisfied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FC2DCB-C246-4D4F-8B8D-776C6D698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609600" y="6048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E0E5"/>
            </a:solidFill>
            <a:prstDash val="solid"/>
          </a:ln>
        </p:spPr>
      </p:sp>
      <p:sp>
        <p:nvSpPr>
          <p:cNvPr id="22" name="text-46">
            <a:extLst xmlns:a="http://schemas.openxmlformats.org/drawingml/2006/main">
              <a:ext uri="{FF2B5EF4-FFF2-40B4-BE49-F238E27FC236}">
                <a16:creationId xmlns:a16="http://schemas.microsoft.com/office/drawing/2014/main" id="{5DF190F2-FDAF-407B-96AC-028C267A4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81725"/>
            <a:ext cx="101441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Maximize retained verified pairs. Small components use MILP. Large ones use a feasible greedy fallback.</a:t>
            </a:r>
          </a:p>
        </p:txBody>
      </p:sp>
    </p:spTree>
    <p:extLst>
      <p:ext uri="{BB962C8B-B14F-4D97-AF65-F5344CB8AC3E}">
        <p14:creationId xmlns:p14="http://schemas.microsoft.com/office/powerpoint/2010/main" val="166384962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47">
            <a:extLst xmlns:a="http://schemas.openxmlformats.org/drawingml/2006/main">
              <a:ext uri="{FF2B5EF4-FFF2-40B4-BE49-F238E27FC236}">
                <a16:creationId xmlns:a16="http://schemas.microsoft.com/office/drawing/2014/main" id="{8D3E91FC-346E-4616-80B5-FAE51974C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B. Relational pattern search</a:t>
            </a:r>
          </a:p>
        </p:txBody>
      </p:sp>
      <p:sp>
        <p:nvSpPr>
          <p:cNvPr id="2" name="text-48">
            <a:extLst xmlns:a="http://schemas.openxmlformats.org/drawingml/2006/main">
              <a:ext uri="{FF2B5EF4-FFF2-40B4-BE49-F238E27FC236}">
                <a16:creationId xmlns:a16="http://schemas.microsoft.com/office/drawing/2014/main" id="{4972AE28-A3C6-408C-B8B6-1701291EC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A reusable pattern preserves which facts concern the same contract</a:t>
            </a:r>
          </a:p>
        </p:txBody>
      </p:sp>
      <p:sp>
        <p:nvSpPr>
          <p:cNvPr id="3" name="text-49">
            <a:extLst xmlns:a="http://schemas.openxmlformats.org/drawingml/2006/main">
              <a:ext uri="{FF2B5EF4-FFF2-40B4-BE49-F238E27FC236}">
                <a16:creationId xmlns:a16="http://schemas.microsoft.com/office/drawing/2014/main" id="{3EC76C5D-E395-4BE6-8664-0D32DAD8C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4" name="text-50">
            <a:extLst xmlns:a="http://schemas.openxmlformats.org/drawingml/2006/main">
              <a:ext uri="{FF2B5EF4-FFF2-40B4-BE49-F238E27FC236}">
                <a16:creationId xmlns:a16="http://schemas.microsoft.com/office/drawing/2014/main" id="{05D4C81C-A24F-4E69-976B-C341BBCEA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4953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Recorded facts in one case</a:t>
            </a:r>
          </a:p>
        </p:txBody>
      </p:sp>
      <p:sp>
        <p:nvSpPr>
          <p:cNvPr id="5" name="shape-51">
            <a:extLst xmlns:a="http://schemas.openxmlformats.org/drawingml/2006/main">
              <a:ext uri="{FF2B5EF4-FFF2-40B4-BE49-F238E27FC236}">
                <a16:creationId xmlns:a16="http://schemas.microsoft.com/office/drawing/2014/main" id="{540906A9-25BA-4BB7-8670-BA7D37A35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14575"/>
            <a:ext cx="4191000" cy="619125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0F6"/>
          </a:solidFill>
          <a:ln xmlns:a="http://schemas.openxmlformats.org/drawingml/2006/main" w="19050">
            <a:solidFill>
              <a:srgbClr val="63758A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PAID_FULL(b, s, K1)</a:t>
            </a:r>
          </a:p>
        </p:txBody>
      </p:sp>
      <p:sp>
        <p:nvSpPr>
          <p:cNvPr id="6" name="shape-52">
            <a:extLst xmlns:a="http://schemas.openxmlformats.org/drawingml/2006/main">
              <a:ext uri="{FF2B5EF4-FFF2-40B4-BE49-F238E27FC236}">
                <a16:creationId xmlns:a16="http://schemas.microsoft.com/office/drawing/2014/main" id="{C4E5042D-38CC-4738-9B2A-AD891AF7A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4191000" cy="619125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0F6"/>
          </a:solidFill>
          <a:ln xmlns:a="http://schemas.openxmlformats.org/drawingml/2006/main" w="19050">
            <a:solidFill>
              <a:srgbClr val="63758A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NOT_DELIVERED(s, b, K2)</a:t>
            </a:r>
          </a:p>
        </p:txBody>
      </p:sp>
      <p:sp>
        <p:nvSpPr>
          <p:cNvPr id="7" name="shape-53">
            <a:extLst xmlns:a="http://schemas.openxmlformats.org/drawingml/2006/main">
              <a:ext uri="{FF2B5EF4-FFF2-40B4-BE49-F238E27FC236}">
                <a16:creationId xmlns:a16="http://schemas.microsoft.com/office/drawing/2014/main" id="{DE2A713F-DC69-4277-AEE8-6606E7DAE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62425"/>
            <a:ext cx="4191000" cy="619125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5F1E3"/>
          </a:solidFill>
          <a:ln xmlns:a="http://schemas.openxmlformats.org/drawingml/2006/main" w="19050">
            <a:solidFill>
              <a:srgbClr val="5A8A55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NOT_DELIVERED(s, b, K1)</a:t>
            </a:r>
          </a:p>
        </p:txBody>
      </p:sp>
      <p:sp>
        <p:nvSpPr>
          <p:cNvPr id="8" name="text-54">
            <a:extLst xmlns:a="http://schemas.openxmlformats.org/drawingml/2006/main">
              <a:ext uri="{FF2B5EF4-FFF2-40B4-BE49-F238E27FC236}">
                <a16:creationId xmlns:a16="http://schemas.microsoft.com/office/drawing/2014/main" id="{28750AF2-A82B-45FF-AA3B-17194A5F3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91490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A8A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A8A55"/>
                </a:solidFill>
                <a:latin typeface="Helvetica Neue"/>
                <a:ea typeface="Helvetica Neue"/>
                <a:cs typeface="Helvetica Neue"/>
              </a:rPr>
              <a:t>Additional court finding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3149DE-58A0-4530-87BF-13AD7A043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800600" y="2619375"/>
            <a:ext cx="628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2C3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C5DB3F-42C6-42F8-915C-BDBA56B73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5429250" y="2619375"/>
            <a:ext cx="0" cy="466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2C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26B657-8767-4259-9F72-7A1362E38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5429250" y="3086100"/>
            <a:ext cx="666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2C3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0C6169-4DFA-4DD9-AFA8-3CC38D930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048000"/>
            <a:ext cx="76200" cy="76200"/>
          </a:xfrm>
          <a:custGeom xmlns:a="http://schemas.openxmlformats.org/drawingml/2006/main">
            <a:pathLst>
              <a:path w="76200" h="76200">
                <a:moveTo>
                  <a:pt x="76200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 xmlns:a="http://schemas.openxmlformats.org/drawingml/2006/main">
            <a:srgbClr val="172C36"/>
          </a:solidFill>
          <a:ln xmlns:a="http://schemas.openxmlformats.org/drawingml/2006/main" w="9525">
            <a:solidFill>
              <a:srgbClr val="172C3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FCF308-4FA0-4C6E-80B0-681FDF091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800600" y="4476750"/>
            <a:ext cx="819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A8A5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4627ED-AD2E-433A-887A-215A65B56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5619750" y="3705225"/>
            <a:ext cx="0" cy="771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A8A5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66556F-7D06-48EC-8816-679C63FAF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5619750" y="3705225"/>
            <a:ext cx="476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A8A5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5027D3-A845-458C-AAA4-8EE918410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667125"/>
            <a:ext cx="76200" cy="76200"/>
          </a:xfrm>
          <a:custGeom xmlns:a="http://schemas.openxmlformats.org/drawingml/2006/main">
            <a:pathLst>
              <a:path w="76200" h="76200">
                <a:moveTo>
                  <a:pt x="76200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 xmlns:a="http://schemas.openxmlformats.org/drawingml/2006/main">
            <a:srgbClr val="5A8A55"/>
          </a:solidFill>
          <a:ln xmlns:a="http://schemas.openxmlformats.org/drawingml/2006/main" w="9525">
            <a:solidFill>
              <a:srgbClr val="5A8A55"/>
            </a:solidFill>
          </a:ln>
        </p:spPr>
      </p:sp>
      <p:sp>
        <p:nvSpPr>
          <p:cNvPr id="17" name="shape-55">
            <a:extLst xmlns:a="http://schemas.openxmlformats.org/drawingml/2006/main">
              <a:ext uri="{FF2B5EF4-FFF2-40B4-BE49-F238E27FC236}">
                <a16:creationId xmlns:a16="http://schemas.microsoft.com/office/drawing/2014/main" id="{80958CE3-ADB6-44CA-89CB-11F18DEF7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00325"/>
            <a:ext cx="5486400" cy="1514475"/>
          </a:xfrm>
          <a:prstGeom xmlns:a="http://schemas.openxmlformats.org/drawingml/2006/main" prst="roundRect">
            <a:avLst>
              <a:gd name="adj" fmla="val 6289"/>
            </a:avLst>
          </a:prstGeom>
          <a:solidFill xmlns:a="http://schemas.openxmlformats.org/drawingml/2006/main">
            <a:srgbClr val="EAF0F6"/>
          </a:solidFill>
          <a:ln xmlns:a="http://schemas.openxmlformats.org/drawingml/2006/main" w="19050">
            <a:solidFill>
              <a:srgbClr val="63758A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PAID_FULL(b, s, K)</a:t>
            </a:r>
          </a:p>
          <a:p xmlns:a="http://schemas.openxmlformats.org/drawingml/2006/main">
            <a:pPr algn="ctr">
              <a:defRPr sz="217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AND NOT_DELIVERED(s, b, K)</a:t>
            </a:r>
          </a:p>
        </p:txBody>
      </p:sp>
      <p:sp>
        <p:nvSpPr>
          <p:cNvPr id="18" name="text-56">
            <a:extLst xmlns:a="http://schemas.openxmlformats.org/drawingml/2006/main">
              <a:ext uri="{FF2B5EF4-FFF2-40B4-BE49-F238E27FC236}">
                <a16:creationId xmlns:a16="http://schemas.microsoft.com/office/drawing/2014/main" id="{F330DD7F-7E8A-4891-B68B-9AE3A9842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362450"/>
            <a:ext cx="54864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K1 + K2: no shared binding</a:t>
            </a:r>
          </a:p>
          <a:p xmlns:a="http://schemas.openxmlformats.org/drawingml/2006/main">
            <a:pPr algn="l">
              <a:defRPr sz="21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K1 + K1: a complete witness</a:t>
            </a:r>
          </a:p>
        </p:txBody>
      </p:sp>
      <p:sp>
        <p:nvSpPr>
          <p:cNvPr id="19" name="shape-57">
            <a:extLst xmlns:a="http://schemas.openxmlformats.org/drawingml/2006/main">
              <a:ext uri="{FF2B5EF4-FFF2-40B4-BE49-F238E27FC236}">
                <a16:creationId xmlns:a16="http://schemas.microsoft.com/office/drawing/2014/main" id="{FEFEB98A-5D9D-49F8-A6FA-D3AED7283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2314575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AF0F6"/>
          </a:solidFill>
          <a:ln xmlns:a="http://schemas.openxmlformats.org/drawingml/2006/main" w="19050">
            <a:solidFill>
              <a:srgbClr val="63758A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Extend one atom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D08CB2-E496-48B7-BEE8-93B4FE468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924175" y="5705475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2C3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A950AC-2421-4E6E-A895-30A48B64D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5667375"/>
            <a:ext cx="76200" cy="76200"/>
          </a:xfrm>
          <a:custGeom xmlns:a="http://schemas.openxmlformats.org/drawingml/2006/main">
            <a:pathLst>
              <a:path w="76200" h="76200">
                <a:moveTo>
                  <a:pt x="76200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 xmlns:a="http://schemas.openxmlformats.org/drawingml/2006/main">
            <a:srgbClr val="172C36"/>
          </a:solidFill>
          <a:ln xmlns:a="http://schemas.openxmlformats.org/drawingml/2006/main" w="9525">
            <a:solidFill>
              <a:srgbClr val="172C36"/>
            </a:solidFill>
          </a:ln>
        </p:spPr>
      </p:sp>
      <p:sp>
        <p:nvSpPr>
          <p:cNvPr id="22" name="shape-58">
            <a:extLst xmlns:a="http://schemas.openxmlformats.org/drawingml/2006/main">
              <a:ext uri="{FF2B5EF4-FFF2-40B4-BE49-F238E27FC236}">
                <a16:creationId xmlns:a16="http://schemas.microsoft.com/office/drawing/2014/main" id="{37A36881-7F65-4B48-921D-A8A3D3082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5448300"/>
            <a:ext cx="2314575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AF0F6"/>
          </a:solidFill>
          <a:ln xmlns:a="http://schemas.openxmlformats.org/drawingml/2006/main" w="19050">
            <a:solidFill>
              <a:srgbClr val="63758A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Normalize variables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86A6E9-5723-4D6C-9C09-3BBB7E2AA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5810250" y="5705475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2C3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BFA2D2-C56C-45BA-B1A2-EFC9899D3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667375"/>
            <a:ext cx="76200" cy="76200"/>
          </a:xfrm>
          <a:custGeom xmlns:a="http://schemas.openxmlformats.org/drawingml/2006/main">
            <a:pathLst>
              <a:path w="76200" h="76200">
                <a:moveTo>
                  <a:pt x="76200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 xmlns:a="http://schemas.openxmlformats.org/drawingml/2006/main">
            <a:srgbClr val="172C36"/>
          </a:solidFill>
          <a:ln xmlns:a="http://schemas.openxmlformats.org/drawingml/2006/main" w="9525">
            <a:solidFill>
              <a:srgbClr val="172C36"/>
            </a:solidFill>
          </a:ln>
        </p:spPr>
      </p:sp>
      <p:sp>
        <p:nvSpPr>
          <p:cNvPr id="25" name="shape-59">
            <a:extLst xmlns:a="http://schemas.openxmlformats.org/drawingml/2006/main">
              <a:ext uri="{FF2B5EF4-FFF2-40B4-BE49-F238E27FC236}">
                <a16:creationId xmlns:a16="http://schemas.microsoft.com/office/drawing/2014/main" id="{6C412AE7-42D2-4AAB-9BD7-F1755C5D3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448300"/>
            <a:ext cx="2314575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AF0F6"/>
          </a:solidFill>
          <a:ln xmlns:a="http://schemas.openxmlformats.org/drawingml/2006/main" w="19050">
            <a:solidFill>
              <a:srgbClr val="63758A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Join exact bindings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57531A1-1579-46A4-9F34-B6172DE52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8696325" y="5705475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2C3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60156CE-DFED-4B31-BAA2-C0B7A3F9E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667375"/>
            <a:ext cx="76200" cy="76200"/>
          </a:xfrm>
          <a:custGeom xmlns:a="http://schemas.openxmlformats.org/drawingml/2006/main">
            <a:pathLst>
              <a:path w="76200" h="76200">
                <a:moveTo>
                  <a:pt x="76200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 xmlns:a="http://schemas.openxmlformats.org/drawingml/2006/main">
            <a:srgbClr val="172C36"/>
          </a:solidFill>
          <a:ln xmlns:a="http://schemas.openxmlformats.org/drawingml/2006/main" w="9525">
            <a:solidFill>
              <a:srgbClr val="172C36"/>
            </a:solidFill>
          </a:ln>
        </p:spPr>
      </p:sp>
      <p:sp>
        <p:nvSpPr>
          <p:cNvPr id="28" name="shape-60">
            <a:extLst xmlns:a="http://schemas.openxmlformats.org/drawingml/2006/main">
              <a:ext uri="{FF2B5EF4-FFF2-40B4-BE49-F238E27FC236}">
                <a16:creationId xmlns:a16="http://schemas.microsoft.com/office/drawing/2014/main" id="{2EE200B2-524A-4AAD-8CC5-211C916D1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5448300"/>
            <a:ext cx="2314575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AF0F6"/>
          </a:solidFill>
          <a:ln xmlns:a="http://schemas.openxmlformats.org/drawingml/2006/main" w="19050">
            <a:solidFill>
              <a:srgbClr val="63758A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Count units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BFCC15C-33BB-4FF1-BA5D-B2F755BF8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609600" y="6048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E0E5"/>
            </a:solidFill>
            <a:prstDash val="solid"/>
          </a:ln>
        </p:spPr>
      </p:sp>
      <p:sp>
        <p:nvSpPr>
          <p:cNvPr id="30" name="text-61">
            <a:extLst xmlns:a="http://schemas.openxmlformats.org/drawingml/2006/main">
              <a:ext uri="{FF2B5EF4-FFF2-40B4-BE49-F238E27FC236}">
                <a16:creationId xmlns:a16="http://schemas.microsoft.com/office/drawing/2014/main" id="{89D6FE2E-E3B2-4CB2-8D23-54613532A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81725"/>
            <a:ext cx="101441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WARMR-style bounded search. More required atoms cannot increase support. b: buyer, s: seller, K: contract.</a:t>
            </a:r>
          </a:p>
        </p:txBody>
      </p:sp>
    </p:spTree>
    <p:extLst>
      <p:ext uri="{BB962C8B-B14F-4D97-AF65-F5344CB8AC3E}">
        <p14:creationId xmlns:p14="http://schemas.microsoft.com/office/powerpoint/2010/main" val="1766374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62">
            <a:extLst xmlns:a="http://schemas.openxmlformats.org/drawingml/2006/main">
              <a:ext uri="{FF2B5EF4-FFF2-40B4-BE49-F238E27FC236}">
                <a16:creationId xmlns:a16="http://schemas.microsoft.com/office/drawing/2014/main" id="{4C3FD4F0-3A85-41EE-A6F9-282EEACDD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B. A compact dictionary of recurring structures</a:t>
            </a:r>
          </a:p>
        </p:txBody>
      </p:sp>
      <p:sp>
        <p:nvSpPr>
          <p:cNvPr id="2" name="text-63">
            <a:extLst xmlns:a="http://schemas.openxmlformats.org/drawingml/2006/main">
              <a:ext uri="{FF2B5EF4-FFF2-40B4-BE49-F238E27FC236}">
                <a16:creationId xmlns:a16="http://schemas.microsoft.com/office/drawing/2014/main" id="{1EC7BF59-3F19-4670-A008-A64C4D4E9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Select patterns jointly so overlapping descriptions pay for their full cost</a:t>
            </a:r>
          </a:p>
        </p:txBody>
      </p:sp>
      <p:sp>
        <p:nvSpPr>
          <p:cNvPr id="3" name="text-64">
            <a:extLst xmlns:a="http://schemas.openxmlformats.org/drawingml/2006/main">
              <a:ext uri="{FF2B5EF4-FFF2-40B4-BE49-F238E27FC236}">
                <a16:creationId xmlns:a16="http://schemas.microsoft.com/office/drawing/2014/main" id="{3656FFD2-2362-4B1E-9205-EE669E0B3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4" name="text-65">
            <a:extLst xmlns:a="http://schemas.openxmlformats.org/drawingml/2006/main">
              <a:ext uri="{FF2B5EF4-FFF2-40B4-BE49-F238E27FC236}">
                <a16:creationId xmlns:a16="http://schemas.microsoft.com/office/drawing/2014/main" id="{31BBFBF4-BE66-4034-BEEC-363BCBBE0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24025"/>
            <a:ext cx="4857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Pattern dictionary</a:t>
            </a:r>
          </a:p>
        </p:txBody>
      </p:sp>
      <p:sp>
        <p:nvSpPr>
          <p:cNvPr id="5" name="shape-66">
            <a:extLst xmlns:a="http://schemas.openxmlformats.org/drawingml/2006/main">
              <a:ext uri="{FF2B5EF4-FFF2-40B4-BE49-F238E27FC236}">
                <a16:creationId xmlns:a16="http://schemas.microsoft.com/office/drawing/2014/main" id="{AB714C29-102E-4E22-A015-98A08F00F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24100"/>
            <a:ext cx="5143500" cy="1171575"/>
          </a:xfrm>
          <a:prstGeom xmlns:a="http://schemas.openxmlformats.org/drawingml/2006/main" prst="roundRect">
            <a:avLst>
              <a:gd name="adj" fmla="val 8130"/>
            </a:avLst>
          </a:prstGeom>
          <a:solidFill xmlns:a="http://schemas.openxmlformats.org/drawingml/2006/main">
            <a:srgbClr val="EAF0F6"/>
          </a:solidFill>
          <a:ln xmlns:a="http://schemas.openxmlformats.org/drawingml/2006/main" w="19050">
            <a:solidFill>
              <a:srgbClr val="63758A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P(b,s,K) = PAID_FULL(b,s,K)</a:t>
            </a:r>
          </a:p>
          <a:p xmlns:a="http://schemas.openxmlformats.org/drawingml/2006/main">
            <a:pPr algn="ctr">
              <a:def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AND NOT_DELIVERED(s,b,K)</a:t>
            </a:r>
          </a:p>
        </p:txBody>
      </p:sp>
      <p:sp>
        <p:nvSpPr>
          <p:cNvPr id="6" name="text-67">
            <a:extLst xmlns:a="http://schemas.openxmlformats.org/drawingml/2006/main">
              <a:ext uri="{FF2B5EF4-FFF2-40B4-BE49-F238E27FC236}">
                <a16:creationId xmlns:a16="http://schemas.microsoft.com/office/drawing/2014/main" id="{DACF7042-4B44-4928-8F73-B959DC217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86175"/>
            <a:ext cx="51435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Pay once for the complete definition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39C7EC-C158-4DA7-98C9-15BA1825D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5753100" y="2905125"/>
            <a:ext cx="6000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2C3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CE45D4-BA6E-4C5C-AC04-98211B9E8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2867025"/>
            <a:ext cx="76200" cy="76200"/>
          </a:xfrm>
          <a:custGeom xmlns:a="http://schemas.openxmlformats.org/drawingml/2006/main">
            <a:pathLst>
              <a:path w="76200" h="76200">
                <a:moveTo>
                  <a:pt x="76200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 xmlns:a="http://schemas.openxmlformats.org/drawingml/2006/main">
            <a:srgbClr val="172C36"/>
          </a:solidFill>
          <a:ln xmlns:a="http://schemas.openxmlformats.org/drawingml/2006/main" w="9525">
            <a:solidFill>
              <a:srgbClr val="172C36"/>
            </a:solidFill>
          </a:ln>
        </p:spPr>
      </p:sp>
      <p:sp>
        <p:nvSpPr>
          <p:cNvPr id="9" name="text-68">
            <a:extLst xmlns:a="http://schemas.openxmlformats.org/drawingml/2006/main">
              <a:ext uri="{FF2B5EF4-FFF2-40B4-BE49-F238E27FC236}">
                <a16:creationId xmlns:a16="http://schemas.microsoft.com/office/drawing/2014/main" id="{6A977872-1122-4ECC-8B7B-8FFE488A8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1714500"/>
            <a:ext cx="49244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Uses retain the exact bindings</a:t>
            </a:r>
          </a:p>
        </p:txBody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6657975" y="2286000"/>
          <a:ext xmlns:a="http://schemas.openxmlformats.org/drawingml/2006/main" cx="4924425" cy="2314575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162175"/>
                <a:gridCol w="2762250"/>
              </a:tblGrid>
              <a:tr h="578644"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Unit</a:t>
                      </a:r>
                    </a:p>
                  </a:txBody>
                  <a:tcPr marL="91440" marR="91440" marT="45720" marB="45720" anchor="ctr">
                    <a:solidFill>
                      <a:srgbClr val="EAF0F6"/>
                    </a:solidFill>
                  </a:tcPr>
                </a:tc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Pattern + binding</a:t>
                      </a:r>
                    </a:p>
                  </a:txBody>
                  <a:tcPr marL="91440" marR="91440" marT="45720" marB="45720" anchor="ctr">
                    <a:solidFill>
                      <a:srgbClr val="EAF0F6"/>
                    </a:solidFill>
                  </a:tcPr>
                </a:tc>
              </a:tr>
              <a:tr h="578644"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J1 / claim 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P(b1, s1, K1)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78644"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J2 / claim 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P(b2, s2, K7)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78644"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J3 / claim 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P(b3, s3, K9)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-69">
            <a:extLst xmlns:a="http://schemas.openxmlformats.org/drawingml/2006/main">
              <a:ext uri="{FF2B5EF4-FFF2-40B4-BE49-F238E27FC236}">
                <a16:creationId xmlns:a16="http://schemas.microsoft.com/office/drawing/2014/main" id="{F2F907FE-9C8C-4562-A24F-7792339CF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4772025"/>
            <a:ext cx="49244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Other facts remain explicit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B9DD67-1B49-4496-A482-A33C033F8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609600" y="4695825"/>
            <a:ext cx="5143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E0E5"/>
            </a:solidFill>
            <a:prstDash val="solid"/>
          </a:ln>
        </p:spPr>
      </p:sp>
      <p:sp>
        <p:nvSpPr>
          <p:cNvPr id="13" name="text-70">
            <a:extLst xmlns:a="http://schemas.openxmlformats.org/drawingml/2006/main">
              <a:ext uri="{FF2B5EF4-FFF2-40B4-BE49-F238E27FC236}">
                <a16:creationId xmlns:a16="http://schemas.microsoft.com/office/drawing/2014/main" id="{81D0DAD2-7988-4E8C-9D0A-784C1DDEB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86325"/>
            <a:ext cx="523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Joint set-cover optimization</a:t>
            </a:r>
          </a:p>
        </p:txBody>
      </p:sp>
      <p:sp>
        <p:nvSpPr>
          <p:cNvPr id="14" name="text-71">
            <a:extLst xmlns:a="http://schemas.openxmlformats.org/drawingml/2006/main">
              <a:ext uri="{FF2B5EF4-FFF2-40B4-BE49-F238E27FC236}">
                <a16:creationId xmlns:a16="http://schemas.microsoft.com/office/drawing/2014/main" id="{B948FA09-4E96-427E-8B52-595E977E0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Minimize  definitions + uses + remaining facts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A30006-ACC5-4680-8795-2FB6B6C2F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609600" y="6048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E0E5"/>
            </a:solidFill>
            <a:prstDash val="solid"/>
          </a:ln>
        </p:spPr>
      </p:sp>
      <p:sp>
        <p:nvSpPr>
          <p:cNvPr id="16" name="text-72">
            <a:extLst xmlns:a="http://schemas.openxmlformats.org/drawingml/2006/main">
              <a:ext uri="{FF2B5EF4-FFF2-40B4-BE49-F238E27FC236}">
                <a16:creationId xmlns:a16="http://schemas.microsoft.com/office/drawing/2014/main" id="{DC5FADA0-67EA-4C08-AD98-176F6FAB2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81725"/>
            <a:ext cx="101441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Every fact must reconstruct exactly. Compression rewards reuse, while rare legal facts stay available to C.</a:t>
            </a:r>
          </a:p>
        </p:txBody>
      </p:sp>
    </p:spTree>
    <p:extLst>
      <p:ext uri="{BB962C8B-B14F-4D97-AF65-F5344CB8AC3E}">
        <p14:creationId xmlns:p14="http://schemas.microsoft.com/office/powerpoint/2010/main" val="114840583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text-73">
            <a:extLst xmlns:a="http://schemas.openxmlformats.org/drawingml/2006/main">
              <a:ext uri="{FF2B5EF4-FFF2-40B4-BE49-F238E27FC236}">
                <a16:creationId xmlns:a16="http://schemas.microsoft.com/office/drawing/2014/main" id="{ED43CCA8-0570-4C3F-90C3-9EE21DC47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C. Rules, arguments and objections</a:t>
            </a:r>
          </a:p>
        </p:txBody>
      </p:sp>
      <p:sp>
        <p:nvSpPr>
          <p:cNvPr id="2" name="text-74">
            <a:extLst xmlns:a="http://schemas.openxmlformats.org/drawingml/2006/main">
              <a:ext uri="{FF2B5EF4-FFF2-40B4-BE49-F238E27FC236}">
                <a16:creationId xmlns:a16="http://schemas.microsoft.com/office/drawing/2014/main" id="{D51845BB-F6A4-4190-AB32-7EA04F3D5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ASPIC+ supplies the structure. Grounded semantics resolves the defeat graph.</a:t>
            </a:r>
          </a:p>
        </p:txBody>
      </p:sp>
      <p:sp>
        <p:nvSpPr>
          <p:cNvPr id="3" name="text-75">
            <a:extLst xmlns:a="http://schemas.openxmlformats.org/drawingml/2006/main">
              <a:ext uri="{FF2B5EF4-FFF2-40B4-BE49-F238E27FC236}">
                <a16:creationId xmlns:a16="http://schemas.microsoft.com/office/drawing/2014/main" id="{5DC53D3F-E1D4-4F8B-9B0D-80F0AABCD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4" name="shape-76">
            <a:extLst xmlns:a="http://schemas.openxmlformats.org/drawingml/2006/main">
              <a:ext uri="{FF2B5EF4-FFF2-40B4-BE49-F238E27FC236}">
                <a16:creationId xmlns:a16="http://schemas.microsoft.com/office/drawing/2014/main" id="{B79409E5-659D-4655-8314-EF7E5DE6F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771650"/>
            <a:ext cx="36195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758A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4B7332-3FFE-4AB5-BC67-92453BFC8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752475" y="1905000"/>
            <a:ext cx="209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3758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60851D-E0C3-41C2-A218-2AD2374E4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752475" y="2009775"/>
            <a:ext cx="209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3758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4B31F0-B339-4202-9DCF-95F6B81A2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752475" y="2114550"/>
            <a:ext cx="209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3758A"/>
            </a:solidFill>
            <a:prstDash val="solid"/>
          </a:ln>
        </p:spPr>
      </p:sp>
      <p:sp>
        <p:nvSpPr>
          <p:cNvPr id="8" name="shape-77">
            <a:extLst xmlns:a="http://schemas.openxmlformats.org/drawingml/2006/main">
              <a:ext uri="{FF2B5EF4-FFF2-40B4-BE49-F238E27FC236}">
                <a16:creationId xmlns:a16="http://schemas.microsoft.com/office/drawing/2014/main" id="{F6A294FB-35DC-4869-9BBD-A8A7DB033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1771650"/>
            <a:ext cx="36195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758A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3ABB0C-8824-42A3-8305-FB5C74C5C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114425" y="1905000"/>
            <a:ext cx="209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3758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BA5276-4A47-4931-BA77-8F1DDB4CA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114425" y="2009775"/>
            <a:ext cx="209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3758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68F8F1-5FF0-46E7-8D54-FC208A2C9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114425" y="2114550"/>
            <a:ext cx="209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3758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9D0069-70D4-4B64-AE1A-800D176A7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038225" y="1743075"/>
            <a:ext cx="0" cy="6381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72C36"/>
            </a:solidFill>
            <a:prstDash val="solid"/>
          </a:ln>
        </p:spPr>
      </p:sp>
      <p:sp>
        <p:nvSpPr>
          <p:cNvPr id="13" name="text-78">
            <a:extLst xmlns:a="http://schemas.openxmlformats.org/drawingml/2006/main">
              <a:ext uri="{FF2B5EF4-FFF2-40B4-BE49-F238E27FC236}">
                <a16:creationId xmlns:a16="http://schemas.microsoft.com/office/drawing/2014/main" id="{23BA9FC5-82FC-4FD7-BF8C-718179559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762125"/>
            <a:ext cx="228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Authorities</a:t>
            </a:r>
          </a:p>
        </p:txBody>
      </p:sp>
      <p:sp>
        <p:nvSpPr>
          <p:cNvPr id="14" name="shape-79">
            <a:extLst xmlns:a="http://schemas.openxmlformats.org/drawingml/2006/main">
              <a:ext uri="{FF2B5EF4-FFF2-40B4-BE49-F238E27FC236}">
                <a16:creationId xmlns:a16="http://schemas.microsoft.com/office/drawing/2014/main" id="{BF1D5A0A-5DD9-4A24-8B50-53B3CE6F3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1676400"/>
            <a:ext cx="3248025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AF0F6"/>
          </a:solidFill>
          <a:ln xmlns:a="http://schemas.openxmlformats.org/drawingml/2006/main" w="19050">
            <a:solidFill>
              <a:srgbClr val="63758A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Review and compile</a:t>
            </a:r>
          </a:p>
          <a:p xmlns:a="http://schemas.openxmlformats.org/drawingml/2006/main">
            <a:pPr algn="ctr">
              <a:def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conditions + exceptions</a:t>
            </a:r>
          </a:p>
        </p:txBody>
      </p:sp>
      <p:sp>
        <p:nvSpPr>
          <p:cNvPr id="15" name="shape-80">
            <a:extLst xmlns:a="http://schemas.openxmlformats.org/drawingml/2006/main">
              <a:ext uri="{FF2B5EF4-FFF2-40B4-BE49-F238E27FC236}">
                <a16:creationId xmlns:a16="http://schemas.microsoft.com/office/drawing/2014/main" id="{45FF7383-3BA8-4EDC-8FDB-20E01091D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676400"/>
            <a:ext cx="3248025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AF0F6"/>
          </a:solidFill>
          <a:ln xmlns:a="http://schemas.openxmlformats.org/drawingml/2006/main" w="19050">
            <a:solidFill>
              <a:srgbClr val="63758A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Construct arguments</a:t>
            </a:r>
          </a:p>
          <a:p xmlns:a="http://schemas.openxmlformats.org/drawingml/2006/main">
            <a:pPr algn="ctr">
              <a:def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with source IDs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5DD4A4-0F00-4966-B0E9-2F5846589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238500" y="2057400"/>
            <a:ext cx="742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2C3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87DCE3-3112-413F-9E43-DAF58AAAD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019300"/>
            <a:ext cx="76200" cy="76200"/>
          </a:xfrm>
          <a:custGeom xmlns:a="http://schemas.openxmlformats.org/drawingml/2006/main">
            <a:pathLst>
              <a:path w="76200" h="76200">
                <a:moveTo>
                  <a:pt x="76200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 xmlns:a="http://schemas.openxmlformats.org/drawingml/2006/main">
            <a:srgbClr val="172C36"/>
          </a:solidFill>
          <a:ln xmlns:a="http://schemas.openxmlformats.org/drawingml/2006/main" w="9525">
            <a:solidFill>
              <a:srgbClr val="172C3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DB06C8-929B-4D13-97DD-E3AC5B581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7229475" y="2057400"/>
            <a:ext cx="110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2C3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B30A57-9BD1-465D-92A6-EA3F9F8C0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019300"/>
            <a:ext cx="76200" cy="76200"/>
          </a:xfrm>
          <a:custGeom xmlns:a="http://schemas.openxmlformats.org/drawingml/2006/main">
            <a:pathLst>
              <a:path w="76200" h="76200">
                <a:moveTo>
                  <a:pt x="76200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 xmlns:a="http://schemas.openxmlformats.org/drawingml/2006/main">
            <a:srgbClr val="172C36"/>
          </a:solidFill>
          <a:ln xmlns:a="http://schemas.openxmlformats.org/drawingml/2006/main" w="9525">
            <a:solidFill>
              <a:srgbClr val="172C36"/>
            </a:solidFill>
          </a:ln>
        </p:spPr>
      </p:sp>
      <p:sp>
        <p:nvSpPr>
          <p:cNvPr id="20" name="text-81">
            <a:extLst xmlns:a="http://schemas.openxmlformats.org/drawingml/2006/main">
              <a:ext uri="{FF2B5EF4-FFF2-40B4-BE49-F238E27FC236}">
                <a16:creationId xmlns:a16="http://schemas.microsoft.com/office/drawing/2014/main" id="{2CCD39D2-C8D3-40F8-A6D7-79C6FD1A1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685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Argument conflict for K1</a:t>
            </a:r>
          </a:p>
        </p:txBody>
      </p:sp>
      <p:sp>
        <p:nvSpPr>
          <p:cNvPr id="21" name="shape-82">
            <a:extLst xmlns:a="http://schemas.openxmlformats.org/drawingml/2006/main">
              <a:ext uri="{FF2B5EF4-FFF2-40B4-BE49-F238E27FC236}">
                <a16:creationId xmlns:a16="http://schemas.microsoft.com/office/drawing/2014/main" id="{3DC81EC1-DDA7-410F-95D9-C225FCB3A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2524125" cy="714375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AF0F6"/>
          </a:solidFill>
          <a:ln xmlns:a="http://schemas.openxmlformats.org/drawingml/2006/main" w="19050">
            <a:solidFill>
              <a:srgbClr val="63758A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A: no extension</a:t>
            </a:r>
          </a:p>
        </p:txBody>
      </p:sp>
      <p:sp>
        <p:nvSpPr>
          <p:cNvPr id="22" name="shape-83">
            <a:extLst xmlns:a="http://schemas.openxmlformats.org/drawingml/2006/main">
              <a:ext uri="{FF2B5EF4-FFF2-40B4-BE49-F238E27FC236}">
                <a16:creationId xmlns:a16="http://schemas.microsoft.com/office/drawing/2014/main" id="{7380AB1A-C28E-4FD1-8C33-1EA8432AC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81575"/>
            <a:ext cx="2524125" cy="714375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1D7D4"/>
          </a:solidFill>
          <a:ln xmlns:a="http://schemas.openxmlformats.org/drawingml/2006/main" w="19050">
            <a:solidFill>
              <a:srgbClr val="B44948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B: deadline extended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D7EA93-46D7-4B7C-8D72-A36097161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323975" y="4448175"/>
            <a:ext cx="0" cy="533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4494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1B5A86-8ED3-48DE-8399-201042848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905375"/>
            <a:ext cx="76200" cy="76200"/>
          </a:xfrm>
          <a:custGeom xmlns:a="http://schemas.openxmlformats.org/drawingml/2006/main">
            <a:pathLst>
              <a:path w="76200" h="76200">
                <a:moveTo>
                  <a:pt x="38100" y="76200"/>
                </a:moveTo>
                <a:lnTo>
                  <a:pt x="0" y="0"/>
                </a:lnTo>
                <a:lnTo>
                  <a:pt x="76200" y="0"/>
                </a:lnTo>
                <a:close/>
              </a:path>
            </a:pathLst>
          </a:custGeom>
          <a:solidFill xmlns:a="http://schemas.openxmlformats.org/drawingml/2006/main">
            <a:srgbClr val="B44948"/>
          </a:solidFill>
          <a:ln xmlns:a="http://schemas.openxmlformats.org/drawingml/2006/main" w="9525">
            <a:solidFill>
              <a:srgbClr val="B44948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C12BE6-9D80-4927-9C32-15557108C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381250" y="4448175"/>
            <a:ext cx="0" cy="533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4494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F9D2FDD-99DF-4022-AABD-CEA449012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448175"/>
            <a:ext cx="76200" cy="76200"/>
          </a:xfrm>
          <a:custGeom xmlns:a="http://schemas.openxmlformats.org/drawingml/2006/main">
            <a:pathLst>
              <a:path w="76200" h="76200">
                <a:moveTo>
                  <a:pt x="38100" y="0"/>
                </a:moveTo>
                <a:lnTo>
                  <a:pt x="0" y="76200"/>
                </a:lnTo>
                <a:lnTo>
                  <a:pt x="76200" y="76200"/>
                </a:lnTo>
                <a:close/>
              </a:path>
            </a:pathLst>
          </a:custGeom>
          <a:solidFill xmlns:a="http://schemas.openxmlformats.org/drawingml/2006/main">
            <a:srgbClr val="B44948"/>
          </a:solidFill>
          <a:ln xmlns:a="http://schemas.openxmlformats.org/drawingml/2006/main" w="9525">
            <a:solidFill>
              <a:srgbClr val="B44948"/>
            </a:solidFill>
          </a:ln>
        </p:spPr>
      </p:sp>
      <p:sp>
        <p:nvSpPr>
          <p:cNvPr id="27" name="text-84">
            <a:extLst xmlns:a="http://schemas.openxmlformats.org/drawingml/2006/main">
              <a:ext uri="{FF2B5EF4-FFF2-40B4-BE49-F238E27FC236}">
                <a16:creationId xmlns:a16="http://schemas.microsoft.com/office/drawing/2014/main" id="{1B936810-2FFB-49A0-B91C-B5EB2B571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4572000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4494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B44948"/>
                </a:solidFill>
                <a:latin typeface="Helvetica Neue"/>
                <a:ea typeface="Helvetica Neue"/>
                <a:cs typeface="Helvetica Neue"/>
              </a:rPr>
              <a:t>rebut</a:t>
            </a:r>
          </a:p>
        </p:txBody>
      </p:sp>
      <p:sp>
        <p:nvSpPr>
          <p:cNvPr id="28" name="shape-85">
            <a:extLst xmlns:a="http://schemas.openxmlformats.org/drawingml/2006/main">
              <a:ext uri="{FF2B5EF4-FFF2-40B4-BE49-F238E27FC236}">
                <a16:creationId xmlns:a16="http://schemas.microsoft.com/office/drawing/2014/main" id="{602898C4-0AC2-464F-AD7E-F9BAFA727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733800"/>
            <a:ext cx="2724150" cy="714375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AF0F6"/>
          </a:solidFill>
          <a:ln xmlns:a="http://schemas.openxmlformats.org/drawingml/2006/main" w="19050">
            <a:solidFill>
              <a:srgbClr val="63758A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R: breach element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32BD17E-2FB1-4919-8BC8-FBB836987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133725" y="4086225"/>
            <a:ext cx="21050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2C3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B5B80D2-E18A-44D0-9389-998A17C4B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048125"/>
            <a:ext cx="76200" cy="76200"/>
          </a:xfrm>
          <a:custGeom xmlns:a="http://schemas.openxmlformats.org/drawingml/2006/main">
            <a:pathLst>
              <a:path w="76200" h="76200">
                <a:moveTo>
                  <a:pt x="76200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 xmlns:a="http://schemas.openxmlformats.org/drawingml/2006/main">
            <a:srgbClr val="172C36"/>
          </a:solidFill>
          <a:ln xmlns:a="http://schemas.openxmlformats.org/drawingml/2006/main" w="9525">
            <a:solidFill>
              <a:srgbClr val="172C36"/>
            </a:solidFill>
          </a:ln>
        </p:spPr>
      </p:sp>
      <p:sp>
        <p:nvSpPr>
          <p:cNvPr id="31" name="text-86">
            <a:extLst xmlns:a="http://schemas.openxmlformats.org/drawingml/2006/main">
              <a:ext uri="{FF2B5EF4-FFF2-40B4-BE49-F238E27FC236}">
                <a16:creationId xmlns:a16="http://schemas.microsoft.com/office/drawing/2014/main" id="{443B55F5-8AFB-44A3-8843-CA6230C48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55282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r1 + other premises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14C6706-F14B-4062-9CD0-40277690C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133725" y="5334000"/>
            <a:ext cx="34575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4494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CE45712-8E72-42EF-955B-F2408AE48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6591300" y="4448175"/>
            <a:ext cx="0" cy="885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4494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4367125-3843-40BB-90FE-48D63C35C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448175"/>
            <a:ext cx="76200" cy="76200"/>
          </a:xfrm>
          <a:custGeom xmlns:a="http://schemas.openxmlformats.org/drawingml/2006/main">
            <a:pathLst>
              <a:path w="76200" h="76200">
                <a:moveTo>
                  <a:pt x="38100" y="0"/>
                </a:moveTo>
                <a:lnTo>
                  <a:pt x="0" y="76200"/>
                </a:lnTo>
                <a:lnTo>
                  <a:pt x="76200" y="76200"/>
                </a:lnTo>
                <a:close/>
              </a:path>
            </a:pathLst>
          </a:custGeom>
          <a:solidFill xmlns:a="http://schemas.openxmlformats.org/drawingml/2006/main">
            <a:srgbClr val="B44948"/>
          </a:solidFill>
          <a:ln xmlns:a="http://schemas.openxmlformats.org/drawingml/2006/main" w="9525">
            <a:solidFill>
              <a:srgbClr val="B44948"/>
            </a:solidFill>
          </a:ln>
        </p:spPr>
      </p:sp>
      <p:sp>
        <p:nvSpPr>
          <p:cNvPr id="35" name="text-87">
            <a:extLst xmlns:a="http://schemas.openxmlformats.org/drawingml/2006/main">
              <a:ext uri="{FF2B5EF4-FFF2-40B4-BE49-F238E27FC236}">
                <a16:creationId xmlns:a16="http://schemas.microsoft.com/office/drawing/2014/main" id="{D3D4E5EE-E44A-479F-B7EB-AF4ECF03F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5438775"/>
            <a:ext cx="46386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B4494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B44948"/>
                </a:solidFill>
                <a:latin typeface="Helvetica Neue"/>
                <a:ea typeface="Helvetica Neue"/>
                <a:cs typeface="Helvetica Neue"/>
              </a:rPr>
              <a:t>r2 attacks the application of r1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6542AEA-D723-4363-90AA-FEC770A3A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7962900" y="4086225"/>
            <a:ext cx="9620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2C36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28FBDD8-80E9-45D8-A101-86E2AA7A5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048125"/>
            <a:ext cx="76200" cy="76200"/>
          </a:xfrm>
          <a:custGeom xmlns:a="http://schemas.openxmlformats.org/drawingml/2006/main">
            <a:pathLst>
              <a:path w="76200" h="76200">
                <a:moveTo>
                  <a:pt x="76200" y="38100"/>
                </a:moveTo>
                <a:lnTo>
                  <a:pt x="0" y="0"/>
                </a:lnTo>
                <a:lnTo>
                  <a:pt x="0" y="76200"/>
                </a:lnTo>
                <a:close/>
              </a:path>
            </a:pathLst>
          </a:custGeom>
          <a:solidFill xmlns:a="http://schemas.openxmlformats.org/drawingml/2006/main">
            <a:srgbClr val="172C36"/>
          </a:solidFill>
          <a:ln xmlns:a="http://schemas.openxmlformats.org/drawingml/2006/main" w="9525">
            <a:solidFill>
              <a:srgbClr val="172C36"/>
            </a:solidFill>
          </a:ln>
        </p:spPr>
      </p:sp>
      <p:sp>
        <p:nvSpPr>
          <p:cNvPr id="38" name="text-88">
            <a:extLst xmlns:a="http://schemas.openxmlformats.org/drawingml/2006/main">
              <a:ext uri="{FF2B5EF4-FFF2-40B4-BE49-F238E27FC236}">
                <a16:creationId xmlns:a16="http://schemas.microsoft.com/office/drawing/2014/main" id="{45169C7D-3AEA-465D-B9E7-533FD7E22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3038475"/>
            <a:ext cx="266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Grounded result</a:t>
            </a:r>
          </a:p>
        </p:txBody>
      </p:sp>
      <p:sp>
        <p:nvSpPr>
          <p:cNvPr id="39" name="shape-89">
            <a:extLst xmlns:a="http://schemas.openxmlformats.org/drawingml/2006/main">
              <a:ext uri="{FF2B5EF4-FFF2-40B4-BE49-F238E27FC236}">
                <a16:creationId xmlns:a16="http://schemas.microsoft.com/office/drawing/2014/main" id="{696E16BE-E32B-4D9D-96E2-23595652A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3733800"/>
            <a:ext cx="2657475" cy="714375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EEDC"/>
          </a:solidFill>
          <a:ln xmlns:a="http://schemas.openxmlformats.org/drawingml/2006/main" w="19050">
            <a:solidFill>
              <a:srgbClr val="9A7B3F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UNDECIDED</a:t>
            </a:r>
          </a:p>
        </p:txBody>
      </p:sp>
      <p:sp>
        <p:nvSpPr>
          <p:cNvPr id="40" name="text-90">
            <a:extLst xmlns:a="http://schemas.openxmlformats.org/drawingml/2006/main">
              <a:ext uri="{FF2B5EF4-FFF2-40B4-BE49-F238E27FC236}">
                <a16:creationId xmlns:a16="http://schemas.microsoft.com/office/drawing/2014/main" id="{15F2A539-CD2F-4D91-BD00-AB449F95F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4638675"/>
            <a:ext cx="26574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No rule priority resolves</a:t>
            </a:r>
          </a:p>
          <a:p xmlns:a="http://schemas.openxmlformats.org/drawingml/2006/main">
            <a:pPr algn="l">
              <a:defRPr sz="187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this conflict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C07D314-0E37-40A0-9C71-1B8516DA4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609600" y="6048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E0E5"/>
            </a:solidFill>
            <a:prstDash val="solid"/>
          </a:ln>
        </p:spPr>
      </p:sp>
      <p:sp>
        <p:nvSpPr>
          <p:cNvPr id="42" name="text-91">
            <a:extLst xmlns:a="http://schemas.openxmlformats.org/drawingml/2006/main">
              <a:ext uri="{FF2B5EF4-FFF2-40B4-BE49-F238E27FC236}">
                <a16:creationId xmlns:a16="http://schemas.microsoft.com/office/drawing/2014/main" id="{60C81512-263C-4B01-ABEE-1A679842B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81725"/>
            <a:ext cx="101441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Constructed example. Dark arrows: support / data. Red arrows: attacks. Legal priorities require sources.</a:t>
            </a:r>
          </a:p>
        </p:txBody>
      </p:sp>
    </p:spTree>
    <p:extLst>
      <p:ext uri="{BB962C8B-B14F-4D97-AF65-F5344CB8AC3E}">
        <p14:creationId xmlns:p14="http://schemas.microsoft.com/office/powerpoint/2010/main" val="145118186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92">
            <a:extLst xmlns:a="http://schemas.openxmlformats.org/drawingml/2006/main">
              <a:ext uri="{FF2B5EF4-FFF2-40B4-BE49-F238E27FC236}">
                <a16:creationId xmlns:a16="http://schemas.microsoft.com/office/drawing/2014/main" id="{80344DDB-78BA-449A-A4A7-406E9BE88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C. Missing facts and exception handling</a:t>
            </a:r>
          </a:p>
        </p:txBody>
      </p:sp>
      <p:sp>
        <p:nvSpPr>
          <p:cNvPr id="2" name="text-93">
            <a:extLst xmlns:a="http://schemas.openxmlformats.org/drawingml/2006/main">
              <a:ext uri="{FF2B5EF4-FFF2-40B4-BE49-F238E27FC236}">
                <a16:creationId xmlns:a16="http://schemas.microsoft.com/office/drawing/2014/main" id="{9186C3A8-4EB8-4E1D-BA1D-E78903A07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The rule package must specify how an exception affects applicability</a:t>
            </a:r>
          </a:p>
        </p:txBody>
      </p:sp>
      <p:sp>
        <p:nvSpPr>
          <p:cNvPr id="3" name="text-94">
            <a:extLst xmlns:a="http://schemas.openxmlformats.org/drawingml/2006/main">
              <a:ext uri="{FF2B5EF4-FFF2-40B4-BE49-F238E27FC236}">
                <a16:creationId xmlns:a16="http://schemas.microsoft.com/office/drawing/2014/main" id="{63885B96-5EFE-47B8-AD8A-E931EAE5E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09600" y="1724025"/>
          <a:ext xmlns:a="http://schemas.openxmlformats.org/drawingml/2006/main" cx="10972800" cy="3438525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571875"/>
                <a:gridCol w="3829050"/>
                <a:gridCol w="3571875"/>
              </a:tblGrid>
              <a:tr h="687705"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Available information</a:t>
                      </a:r>
                    </a:p>
                  </a:txBody>
                  <a:tcPr marL="91440" marR="91440" marT="45720" marB="45720" anchor="ctr">
                    <a:solidFill>
                      <a:srgbClr val="EAF0F6"/>
                    </a:solidFill>
                  </a:tcPr>
                </a:tc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Reviewed rule mode</a:t>
                      </a:r>
                    </a:p>
                  </a:txBody>
                  <a:tcPr marL="91440" marR="91440" marT="45720" marB="45720" anchor="ctr">
                    <a:solidFill>
                      <a:srgbClr val="EAF0F6"/>
                    </a:solidFill>
                  </a:tcPr>
                </a:tc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Result for this route</a:t>
                      </a:r>
                    </a:p>
                  </a:txBody>
                  <a:tcPr marL="91440" marR="91440" marT="45720" marB="45720" anchor="ctr">
                    <a:solidFill>
                      <a:srgbClr val="EAF0F6"/>
                    </a:solidFill>
                  </a:tcPr>
                </a:tc>
              </a:tr>
              <a:tr h="687705"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Deadline is missing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Deadline is required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 argument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87705"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Extension is unknown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Explicit no-extension</a:t>
                      </a:r>
                    </a:p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evidence required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 argument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87705"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Extension is unknown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Default applicability</a:t>
                      </a:r>
                    </a:p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with exception attack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Defeasible support*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87705"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Opposing extension</a:t>
                      </a:r>
                    </a:p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arguments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 legal priority</a:t>
                      </a:r>
                    </a:p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resolves the conflict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Undecided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-95">
            <a:extLst xmlns:a="http://schemas.openxmlformats.org/drawingml/2006/main">
              <a:ext uri="{FF2B5EF4-FFF2-40B4-BE49-F238E27FC236}">
                <a16:creationId xmlns:a16="http://schemas.microsoft.com/office/drawing/2014/main" id="{3A556DB6-966C-437E-8DBF-303831AD9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6257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* Other required premises are satisfied. No “no-extension” fact is invented.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8C37E3-C345-48D4-AE6E-DCC69F441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609600" y="6048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E0E5"/>
            </a:solidFill>
            <a:prstDash val="solid"/>
          </a:ln>
        </p:spPr>
      </p:sp>
      <p:sp>
        <p:nvSpPr>
          <p:cNvPr id="7" name="text-96">
            <a:extLst xmlns:a="http://schemas.openxmlformats.org/drawingml/2006/main">
              <a:ext uri="{FF2B5EF4-FFF2-40B4-BE49-F238E27FC236}">
                <a16:creationId xmlns:a16="http://schemas.microsoft.com/office/drawing/2014/main" id="{F0519AD3-4DE8-4198-989E-014791E41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81725"/>
            <a:ext cx="101441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One supported element does not establish the whole claim. Patterns cannot fill missing legal premises.</a:t>
            </a:r>
          </a:p>
        </p:txBody>
      </p:sp>
    </p:spTree>
    <p:extLst>
      <p:ext uri="{BB962C8B-B14F-4D97-AF65-F5344CB8AC3E}">
        <p14:creationId xmlns:p14="http://schemas.microsoft.com/office/powerpoint/2010/main" val="203329147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97">
            <a:extLst xmlns:a="http://schemas.openxmlformats.org/drawingml/2006/main">
              <a:ext uri="{FF2B5EF4-FFF2-40B4-BE49-F238E27FC236}">
                <a16:creationId xmlns:a16="http://schemas.microsoft.com/office/drawing/2014/main" id="{74190BD3-ACAB-4936-B0FE-5C889277F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Algorithm choices and tests that could change them</a:t>
            </a:r>
          </a:p>
        </p:txBody>
      </p:sp>
      <p:sp>
        <p:nvSpPr>
          <p:cNvPr id="2" name="text-98">
            <a:extLst xmlns:a="http://schemas.openxmlformats.org/drawingml/2006/main">
              <a:ext uri="{FF2B5EF4-FFF2-40B4-BE49-F238E27FC236}">
                <a16:creationId xmlns:a16="http://schemas.microsoft.com/office/drawing/2014/main" id="{E672A129-EBEE-499A-9161-81046F77F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Use the same facts, legal information and total resource budget for every comparison</a:t>
            </a:r>
          </a:p>
        </p:txBody>
      </p:sp>
      <p:sp>
        <p:nvSpPr>
          <p:cNvPr id="3" name="text-99">
            <a:extLst xmlns:a="http://schemas.openxmlformats.org/drawingml/2006/main">
              <a:ext uri="{FF2B5EF4-FFF2-40B4-BE49-F238E27FC236}">
                <a16:creationId xmlns:a16="http://schemas.microsoft.com/office/drawing/2014/main" id="{4D230E0F-11E8-4C5C-8D89-5BD324BE1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2962275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904875"/>
                <a:gridCol w="3381375"/>
                <a:gridCol w="3238500"/>
                <a:gridCol w="3448050"/>
              </a:tblGrid>
              <a:tr h="740569"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Part</a:t>
                      </a:r>
                    </a:p>
                  </a:txBody>
                  <a:tcPr marL="91440" marR="91440" marT="45720" marB="45720" anchor="ctr">
                    <a:solidFill>
                      <a:srgbClr val="EAF0F6"/>
                    </a:solidFill>
                  </a:tcPr>
                </a:tc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Preferred mechanism</a:t>
                      </a:r>
                    </a:p>
                  </a:txBody>
                  <a:tcPr marL="91440" marR="91440" marT="45720" marB="45720" anchor="ctr">
                    <a:solidFill>
                      <a:srgbClr val="EAF0F6"/>
                    </a:solidFill>
                  </a:tcPr>
                </a:tc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Strong comparison</a:t>
                      </a:r>
                    </a:p>
                  </a:txBody>
                  <a:tcPr marL="91440" marR="91440" marT="45720" marB="45720" anchor="ctr">
                    <a:solidFill>
                      <a:srgbClr val="EAF0F6"/>
                    </a:solidFill>
                  </a:tcPr>
                </a:tc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Reason to switch</a:t>
                      </a:r>
                    </a:p>
                  </a:txBody>
                  <a:tcPr marL="91440" marR="91440" marT="45720" marB="45720" anchor="ctr">
                    <a:solidFill>
                      <a:srgbClr val="EAF0F6"/>
                    </a:solidFill>
                  </a:tcPr>
                </a:tc>
              </a:tr>
              <a:tr h="740569"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Verified-pair constraints</a:t>
                      </a:r>
                    </a:p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+ joint grouping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Full PDF pipeline</a:t>
                      </a:r>
                    </a:p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Same-graph greedy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 gain in correct reuse</a:t>
                      </a:r>
                    </a:p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at matched cost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40569"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Typed query search</a:t>
                      </a:r>
                    </a:p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+ dictionary set cover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gSpan / KG-MDL</a:t>
                      </a:r>
                    </a:p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Same-code greedy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Better compression</a:t>
                      </a:r>
                    </a:p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but worse useful patterns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40569"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Reviewed ASPIC+</a:t>
                      </a:r>
                    </a:p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+ grounded semantics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Same-input checklist</a:t>
                      </a:r>
                    </a:p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Mature formal engine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114300" rIns="152400" bIns="1143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 reduction in errors</a:t>
                      </a:r>
                    </a:p>
                    <a:p>
                      <a:r>
                        <a:rPr sz="1875" b="0">
                          <a:solidFill>
                            <a:srgbClr val="172C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at matched coverage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-100">
            <a:extLst xmlns:a="http://schemas.openxmlformats.org/drawingml/2006/main">
              <a:ext uri="{FF2B5EF4-FFF2-40B4-BE49-F238E27FC236}">
                <a16:creationId xmlns:a16="http://schemas.microsoft.com/office/drawing/2014/main" id="{43BD220D-7C0E-4EA8-9F19-0464F214D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First implementation: one legal issue, linked-case groups kept together</a:t>
            </a:r>
          </a:p>
        </p:txBody>
      </p:sp>
      <p:sp>
        <p:nvSpPr>
          <p:cNvPr id="6" name="text-101">
            <a:extLst xmlns:a="http://schemas.openxmlformats.org/drawingml/2006/main">
              <a:ext uri="{FF2B5EF4-FFF2-40B4-BE49-F238E27FC236}">
                <a16:creationId xmlns:a16="http://schemas.microsoft.com/office/drawing/2014/main" id="{11F1527B-85F8-4B54-9FD6-DDAB2B07E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172C36"/>
                </a:solidFill>
                <a:latin typeface="Helvetica Neue"/>
                <a:ea typeface="Helvetica Neue"/>
                <a:cs typeface="Helvetica Neue"/>
              </a:rPr>
              <a:t>Develop and freeze A       Discover and freeze B       Confirm on unseen groups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B28939-5FDB-4947-B525-886D1C418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609600" y="6048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E0E5"/>
            </a:solidFill>
            <a:prstDash val="solid"/>
          </a:ln>
        </p:spPr>
      </p:sp>
      <p:sp>
        <p:nvSpPr>
          <p:cNvPr id="8" name="text-102">
            <a:extLst xmlns:a="http://schemas.openxmlformats.org/drawingml/2006/main">
              <a:ext uri="{FF2B5EF4-FFF2-40B4-BE49-F238E27FC236}">
                <a16:creationId xmlns:a16="http://schemas.microsoft.com/office/drawing/2014/main" id="{2085004A-E10D-48F3-8E6E-8ABACC767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81725"/>
            <a:ext cx="101441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66B76"/>
                </a:solidFill>
                <a:latin typeface="Helvetica Neue"/>
                <a:ea typeface="Helvetica Neue"/>
                <a:cs typeface="Helvetica Neue"/>
              </a:rPr>
              <a:t>Measure useful output, errors and cost together. All-singleton clustering or universal abstention cannot win.</a:t>
            </a:r>
          </a:p>
        </p:txBody>
      </p:sp>
    </p:spTree>
    <p:extLst>
      <p:ext uri="{BB962C8B-B14F-4D97-AF65-F5344CB8AC3E}">
        <p14:creationId xmlns:p14="http://schemas.microsoft.com/office/powerpoint/2010/main" val="41619364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2026-09-29T11:06:23.9140000Z</dcterms:created>
  <dcterms:modified xsi:type="dcterms:W3CDTF">2026-09-29T11:06:23.9140000Z</dcterms:modified>
</coreProperties>
</file>