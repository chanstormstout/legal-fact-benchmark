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477138c57f4c13" /><Relationship Type="http://schemas.openxmlformats.org/officeDocument/2006/relationships/extended-properties" Target="/docProps/app.xml" Id="R903774a9163442c5" /><Relationship Type="http://schemas.openxmlformats.org/officeDocument/2006/relationships/officeDocument" Target="/ppt/presentation.xml" Id="R3bff1a5425364314" /></Relationships>
</file>

<file path=ppt/presentation.xml><?xml version="1.0" encoding="utf-8"?>
<p:presentation xmlns:p="http://schemas.openxmlformats.org/presentationml/2006/main">
  <p:sldMasterIdLst>
    <p:sldMasterId xmlns:r="http://schemas.openxmlformats.org/officeDocument/2006/relationships" id="2147483648" r:id="R7028773b9bad43ff"/>
  </p:sldMasterIdLst>
  <p:notesMasterIdLst>
    <p:notesMasterId xmlns:r="http://schemas.openxmlformats.org/officeDocument/2006/relationships" r:id="R57a39588cfb94eb9"/>
  </p:notesMasterIdLst>
  <p:sldIdLst>
    <p:sldId xmlns:r="http://schemas.openxmlformats.org/officeDocument/2006/relationships" id="256" r:id="R75d61d33160847b3"/>
    <p:sldId xmlns:r="http://schemas.openxmlformats.org/officeDocument/2006/relationships" id="257" r:id="R3deeb161ef1842b1"/>
    <p:sldId xmlns:r="http://schemas.openxmlformats.org/officeDocument/2006/relationships" id="258" r:id="R3a396bd2efc34549"/>
    <p:sldId xmlns:r="http://schemas.openxmlformats.org/officeDocument/2006/relationships" id="259" r:id="R0adf2daabf624127"/>
    <p:sldId xmlns:r="http://schemas.openxmlformats.org/officeDocument/2006/relationships" id="260" r:id="R44007bfb2d294ef4"/>
    <p:sldId xmlns:r="http://schemas.openxmlformats.org/officeDocument/2006/relationships" id="261" r:id="R77cbba5587a44d91"/>
    <p:sldId xmlns:r="http://schemas.openxmlformats.org/officeDocument/2006/relationships" id="262" r:id="Rd6eb2490bed044fb"/>
    <p:sldId xmlns:r="http://schemas.openxmlformats.org/officeDocument/2006/relationships" id="263" r:id="R7db2a44112744b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89ac456b754190" /><Relationship Type="http://schemas.openxmlformats.org/officeDocument/2006/relationships/slideMaster" Target="/ppt/slideMasters/slideMaster1.xml" Id="R7028773b9bad43ff" /><Relationship Type="http://schemas.openxmlformats.org/officeDocument/2006/relationships/notesMaster" Target="/ppt/notesMasters/notesMaster1.xml" Id="R57a39588cfb94eb9" /><Relationship Type="http://schemas.openxmlformats.org/officeDocument/2006/relationships/presProps" Target="/ppt/presProps.xml" Id="Rbb6a9e4c336844aa" /><Relationship Type="http://schemas.openxmlformats.org/officeDocument/2006/relationships/tableStyles" Target="/ppt/tableStyles.xml" Id="Re80df5edc5a54a91" /><Relationship Type="http://schemas.openxmlformats.org/officeDocument/2006/relationships/slide" Target="/ppt/slides/slide1.xml" Id="R75d61d33160847b3" /><Relationship Type="http://schemas.openxmlformats.org/officeDocument/2006/relationships/slide" Target="/ppt/slides/slide2.xml" Id="R3deeb161ef1842b1" /><Relationship Type="http://schemas.openxmlformats.org/officeDocument/2006/relationships/slide" Target="/ppt/slides/slide3.xml" Id="R3a396bd2efc34549" /><Relationship Type="http://schemas.openxmlformats.org/officeDocument/2006/relationships/slide" Target="/ppt/slides/slide4.xml" Id="R0adf2daabf624127" /><Relationship Type="http://schemas.openxmlformats.org/officeDocument/2006/relationships/slide" Target="/ppt/slides/slide5.xml" Id="R44007bfb2d294ef4" /><Relationship Type="http://schemas.openxmlformats.org/officeDocument/2006/relationships/slide" Target="/ppt/slides/slide6.xml" Id="R77cbba5587a44d91" /><Relationship Type="http://schemas.openxmlformats.org/officeDocument/2006/relationships/slide" Target="/ppt/slides/slide7.xml" Id="Rd6eb2490bed044fb" /><Relationship Type="http://schemas.openxmlformats.org/officeDocument/2006/relationships/slide" Target="/ppt/slides/slide8.xml" Id="R7db2a44112744b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7acc04638f42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bce83957504b7f" /><Relationship Type="http://schemas.openxmlformats.org/officeDocument/2006/relationships/notesMaster" Target="/ppt/notesMasters/notesMaster1.xml" Id="R74774eed6e1f4e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0fa248733d4c65" /><Relationship Type="http://schemas.openxmlformats.org/officeDocument/2006/relationships/notesMaster" Target="/ppt/notesMasters/notesMaster1.xml" Id="R2a979de6009d48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55e223eef64bb2" /><Relationship Type="http://schemas.openxmlformats.org/officeDocument/2006/relationships/notesMaster" Target="/ppt/notesMasters/notesMaster1.xml" Id="Rd8e373a31d0a47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caa9fb28c234f09" /><Relationship Type="http://schemas.openxmlformats.org/officeDocument/2006/relationships/notesMaster" Target="/ppt/notesMasters/notesMaster1.xml" Id="Refbf8c02355542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1bc7bd83b3412e" /><Relationship Type="http://schemas.openxmlformats.org/officeDocument/2006/relationships/notesMaster" Target="/ppt/notesMasters/notesMaster1.xml" Id="Rec51b9c55e944f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8ac86e93fb4c7d" /><Relationship Type="http://schemas.openxmlformats.org/officeDocument/2006/relationships/notesMaster" Target="/ppt/notesMasters/notesMaster1.xml" Id="Rd4138420fc9241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e5e0cb618e4f1a" /><Relationship Type="http://schemas.openxmlformats.org/officeDocument/2006/relationships/notesMaster" Target="/ppt/notesMasters/notesMaster1.xml" Id="Rb3dd90fe0b534b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17e01b24314e2b" /><Relationship Type="http://schemas.openxmlformats.org/officeDocument/2006/relationships/notesMaster" Target="/ppt/notesMasters/notesMaster1.xml" Id="R231782d0b770435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retains evidence, facts, patterns, factors, elements and conclusions. A gives facts explicit meanings and computational uses; B proposes reusable relations and executes/checks/repairs them; C acquires sourced rules/bridges and reconstructs arguments. Point to A-to-C: B is not the only legal-fact entry. The original PDF already has embedding retrieval, LLM relation judgments, conservative clustering and provenance. Additions concern definition revision, object-relation search and cross-module use conditions. Judgment data support retrospective discovery, not predecision prediction. All examples/rules in this deck are fictional and no real-case effectiveness result is established.</a:t>
            </a:r>
          </a:p>
          <a:p xmlns:a="http://schemas.openxmlformats.org/drawingml/2006/main">
            <a:r>
              <a:t/>
            </a:r>
          </a:p>
          <a:p xmlns:a="http://schemas.openxmlformats.org/drawingml/2006/main">
            <a:r>
              <a:t>Sources: Original PDF pp1–8; team pipeline and assignments; 最终算法方案.md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sourced assertions, open extraction and cards containing parameters, exclusions, positives and hard boundaries. Retrieve by aliases, BM25 and vectors, check each slot against sources, and accept a uniquely supported most-specific machine mapping. Similarity cannot offset important qualifications. Payment examples share a type while retaining debt, partial/full settlement and court-found/alleged status. Strict equivalence requires full signatures under a declared abstraction policy; families organize related/parent types without substitution. Dispatch and receipt may be separate NOTICE_EVENT types. Repair aliases/parameters or split definitions from sources and replay reviewed positives/negatives without regression before release. Keep source status, field availability, machine acceptance and human review separate: COURT_FOUND may still be unreviewed extraction. ClassMATe motivates definition/instance revision, GraphRefine distinguishes correction, meaning-preserving rewrite and exclusion; their supervised scores do not transfer automatically.</a:t>
            </a:r>
          </a:p>
          <a:p xmlns:a="http://schemas.openxmlformats.org/drawingml/2006/main">
            <a:r>
              <a:t/>
            </a:r>
          </a:p>
          <a:p xmlns:a="http://schemas.openxmlformats.org/drawingml/2006/main">
            <a:r>
              <a:t>Sources: ClassMATe https://aclanthology.org/2025.tacl-1.55.pdf; GraphRefine https://aclanthology.org/2026.acl-long.1353.pdf; Final design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extraction finds payment and full amount but misses only for D2. Metadata preservation alone lets downstream full=true incorrectly discharge D1. Attach the residual to its assertion and affected debt/settlement-target fields. Queries declare required reads and the compiler closes dependencies; intersecting unresolved residuals block that use. An approved projection may report payment occurrence without proving D1 settlement. Unknown residual scope blocks its assertion or affected original group; an unsupported LLM irrelevance claim cannot unblock it. Source review resolving D2 produces a definite mismatch. Independent complete D1 payment remains usable, avoiding whole-case blockage. Dependency analysis can err, so random audits sample source paragraphs including omissions, exclusions and high-confidence records. Initial review allocation is one quarter random and three quarters conflict/boundary, not a theoretical optimum. Purpose-level blocking/source repair is the primary hypothesis.</a:t>
            </a:r>
          </a:p>
          <a:p xmlns:a="http://schemas.openxmlformats.org/drawingml/2006/main">
            <a:r>
              <a:t/>
            </a:r>
          </a:p>
          <a:p xmlns:a="http://schemas.openxmlformats.org/drawingml/2006/main">
            <a:r>
              <a:t>Sources: Final design §4; source-grounded use-dependency design is a proposed mechanism, not an established performance result. All text is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real connected 2–4-atom fragments, not arbitrary predicate combinations. Connections require actual parties/contracts/events; case_id, equal amounts or types do not suffice. Typed anti-unification preserves common relations. LLMs add sourced descriptions and distinguish missing observations from missing operators. Fix each candidate's intent. Here same-debt settlement after receipt is violated by joining D1 notice and D2 payment. Node binding traces diagnose ununified debt variables for evidenced local repair. Also require receipt rather than dispatch, full settlement of that debt and eligible status; dates must belong to the corresponding events. Separate intent beams prevent broad concepts winning by coverage. Initial limits: six expanded atoms, six object variables, four scalar variables, two levels, three rounds/intent, eight patches/parent, beam twelve; reserve 10% execution budget for short two-atom supplements. After source/scope/semantic checks compare simplicity and cost. Separate unknown fields, failed bindings, no recorded witness and timeout. Silence is not real-world falsity. RHDA/ADVENT motivate execution feedback/language acquisition, but their supervision differs.</a:t>
            </a:r>
          </a:p>
          <a:p xmlns:a="http://schemas.openxmlformats.org/drawingml/2006/main">
            <a:r>
              <a:t/>
            </a:r>
          </a:p>
          <a:p xmlns:a="http://schemas.openxmlformats.org/drawingml/2006/main">
            <a:r>
              <a:t>Sources: RHDA https://proceedings.iclr.cc/paper_files/paper/2025/file/eeffa70bcbbd43f6bd067edebc6595e8-Paper-Conference.pdf; ADVENT https://arxiv.org/html/2607.01585v1; language bias https://arxiv.org/html/2505.21486v2; Final design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 retains executable relations and review grades; S is a compact overview selected from G. C can use A/G directly, so rare exceptions survive exclusion from S. MDL charges a definition once and each call's real bindings, retaining residual facts. Encode full definitions, all reconstruction variables, source IDs, statuses and residuals; a short P name cannot manufacture savings. Fix D to one A version and charge a shared header consistently. Each fact record is reconstructed once in the initial cover, though calls may share contracts/parties and G witnesses may overlap. This simpler choice may lose compression versus overlapping tokens. Inner covering starts from literals and chooses greatest legal savings; outer add/delete moves recompute total length and require at least one bit improvement. The first call need not repay the entire definition. No MILP or global optimality claim. Every accepted change round-trips D exactly. KG-MDL offers related shared-node/nonoverlapping-edge coding; Snor requires a special overlap mechanism, not merely deleting disjointness. No measured lengths are shown.</a:t>
            </a:r>
          </a:p>
          <a:p xmlns:a="http://schemas.openxmlformats.org/drawingml/2006/main">
            <a:r>
              <a:t/>
            </a:r>
          </a:p>
          <a:p xmlns:a="http://schemas.openxmlformats.org/drawingml/2006/main">
            <a:r>
              <a:t>Sources: KG-MDL https://arxiv.org/html/2309.12908; Snor https://eda.rg.cispa.io/pubs/2025/snor-vanleeuwen%2Cvreeken.pdf; Final design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 starts with legal-source packages, not reliable ready-made rules: text, definitions, exceptions, references, jurisdiction, validity period, procedure and judicial use. Follow identified references and mark missing provisions without claiming exhaustive law retrieval. Jointly draft RuleCard/BridgeCard using shared vocabulary and source every component. Bridges establish what actual receipt additionally needs, such as designated recipient and debt identification under the fictional rule. Deemed receipt is a separate legal rule, never an actual-receipt fact. Type/binding checks and independently source-derived premise/exception/scope tests guide local repair. Self-authored rules and answers cannot self-certify. Allow three interpretations with three rounds each; preserve unresolved disputes. Legal review approves normative meanings, bridges, exception policies and priorities for formal use. Mere factors remain ReasonFor/Against rather than sufficient victory conditions. DDL motivates joint acquisition/source tests; LRI/SILVER induction proposes candidates, not legal authority from majority support.</a:t>
            </a:r>
          </a:p>
          <a:p xmlns:a="http://schemas.openxmlformats.org/drawingml/2006/main">
            <a:r>
              <a:t/>
            </a:r>
          </a:p>
          <a:p xmlns:a="http://schemas.openxmlformats.org/drawingml/2006/main">
            <a:r>
              <a:t>Sources: DDL https://arxiv.org/html/2506.08899v3; LRI/SILVER https://arxiv.org/html/2505.14104v2; AJF https://aclanthology.org/2026.eacl-long.128.pdf; Final design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Alpha K1/D1 with independent complete p5, not D2-qualified p1. n1 arrives May 4 and p5 settles May 13, giving nine calendar days. Dispatch on May 1 would give twelve and cannot replace receipt. Assume recipient/debt bridges hold but legal revocation is unspecified. If qualified revocation evidence attacks a default rule, default support can stand while revocation remains unknown; absence is not proven. A policy requiring explicit nonrevocation instead leaves a missing premise. C first constructs the complete finite arguments/attacks, then grounded labels: undefeated arguments IN, those defeated by IN OUT, others possibly unresolved. Do not require exceptions already IN before drawing attacks or certify incomplete graphs. Restricted ASPIC+ handles explicit priorities and unique last-defeasible-rule comparison; unsupported complex norms remain documented. K2/D3 lacks receipt timing; partial payments/allegations cannot substitute for complete court findings. Output concerns a particular termination ground, not whole-case victory.</a:t>
            </a:r>
          </a:p>
          <a:p xmlns:a="http://schemas.openxmlformats.org/drawingml/2006/main">
            <a:r>
              <a:t/>
            </a:r>
          </a:p>
          <a:p xmlns:a="http://schemas.openxmlformats.org/drawingml/2006/main">
            <a:r>
              <a:t>Sources: ASPIC+ tutorial https://journals.sagepub.com/doi/10.1080/19462166.2013.869766; Final design §§7–8. Rule, dates and cases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 A/B/C for one issue/stage. Focus on purpose-level blocking and local source repair: a fact may qualify for one use and remain pending for another. GraphRefine repairs facts, ClassMATe definitions, RHDA/ADVENT programs, and dependency propagation is established. Combining them is insufficient; demonstrate incremental value for legal meaning, objects, status and deadlines. At matched model/source/expert budget compare ignoring qualifications, whole-assertion blocking and dependency-level blocking/repair on misuse, correct witnesses retained, pending rate and review time. Reject-all cannot win on precision. Fall back to assertion blocking if local scope is unreliable; retain real seeds/deterministic execution if LLM edits add no benefit. Defer fine-tuning, all-member EQ/MILP, broad enumeration, overlapping-record coding, possible worlds and automatic factor weights. Preserve outcome association after party/request/stage label validation: compare single facts versus added relations within dispute-group training splits, without final-confirmation repairs. Present an evidence-motivated, testable design, not superiority or established novelty.</a:t>
            </a:r>
          </a:p>
          <a:p xmlns:a="http://schemas.openxmlformats.org/drawingml/2006/main">
            <a:r>
              <a:t/>
            </a:r>
          </a:p>
          <a:p xmlns:a="http://schemas.openxmlformats.org/drawingml/2006/main">
            <a:r>
              <a:t>Sources: Final design §§9–10; recent-paper coverage and choices in 文献依据与最终取舍.md. No real-case experiment has been run for this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91e151ab9d46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ba676455104265" /><Relationship Type="http://schemas.openxmlformats.org/officeDocument/2006/relationships/slideLayout" Target="/ppt/slideLayouts/slideLayout1.xml" Id="Re35e1c0c9f61495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35e1c0c9f61495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9fa4a0d96b4ee8" /><Relationship Type="http://schemas.openxmlformats.org/officeDocument/2006/relationships/notesSlide" Target="/ppt/notesSlides/notesSlide1.xml" Id="R471e0210663348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fd02ab28ef4ca8" /><Relationship Type="http://schemas.openxmlformats.org/officeDocument/2006/relationships/notesSlide" Target="/ppt/notesSlides/notesSlide2.xml" Id="Rbeb4fc085e7e43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1d61eb1a2e45f1" /><Relationship Type="http://schemas.openxmlformats.org/officeDocument/2006/relationships/notesSlide" Target="/ppt/notesSlides/notesSlide3.xml" Id="Rf115ba532977414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a75b2c9e884e79" /><Relationship Type="http://schemas.openxmlformats.org/officeDocument/2006/relationships/notesSlide" Target="/ppt/notesSlides/notesSlide4.xml" Id="R19db2e45695b4ea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c026aced7e4400" /><Relationship Type="http://schemas.openxmlformats.org/officeDocument/2006/relationships/notesSlide" Target="/ppt/notesSlides/notesSlide5.xml" Id="R0d769a37a94045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711d80e06d4dc2" /><Relationship Type="http://schemas.openxmlformats.org/officeDocument/2006/relationships/notesSlide" Target="/ppt/notesSlides/notesSlide6.xml" Id="R22469c62cb384a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01b7bd13184784" /><Relationship Type="http://schemas.openxmlformats.org/officeDocument/2006/relationships/notesSlide" Target="/ppt/notesSlides/notesSlide7.xml" Id="R31afc0daf4ff4b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0d83c584fb43c3" /><Relationship Type="http://schemas.openxmlformats.org/officeDocument/2006/relationships/notesSlide" Target="/ppt/notesSlides/notesSlide8.xml" Id="Rbd7bfea9f3f64e8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text-1">
            <a:extLst xmlns:a="http://schemas.openxmlformats.org/drawingml/2006/main">
              <a:ext uri="{FF2B5EF4-FFF2-40B4-BE49-F238E27FC236}">
                <a16:creationId xmlns:a16="http://schemas.microsoft.com/office/drawing/2014/main" id="{779281E2-3C48-441B-AD0F-6DAD6DBCD911}"/>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Legal fact algorithms</a:t>
            </a:r>
          </a:p>
        </p:txBody>
      </p:sp>
      <p:sp>
        <p:nvSpPr>
          <p:cNvPr id="2" name="text-2">
            <a:extLst xmlns:a="http://schemas.openxmlformats.org/drawingml/2006/main">
              <a:ext uri="{FF2B5EF4-FFF2-40B4-BE49-F238E27FC236}">
                <a16:creationId xmlns:a16="http://schemas.microsoft.com/office/drawing/2014/main" id="{0904F2CA-D2EE-4AD2-BB79-CD7EC4B3CAE4}"/>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research design for comparing cases and reconstructing legal arguments</a:t>
            </a:r>
          </a:p>
        </p:txBody>
      </p:sp>
      <p:sp>
        <p:nvSpPr>
          <p:cNvPr id="3" name="text-3">
            <a:extLst xmlns:a="http://schemas.openxmlformats.org/drawingml/2006/main">
              <a:ext uri="{FF2B5EF4-FFF2-40B4-BE49-F238E27FC236}">
                <a16:creationId xmlns:a16="http://schemas.microsoft.com/office/drawing/2014/main" id="{43136390-8FC1-4443-A87B-45706253545D}"/>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01</a:t>
            </a:r>
          </a:p>
        </p:txBody>
      </p:sp>
      <p:sp>
        <p:nvSpPr>
          <p:cNvPr id="4" name="shape-4">
            <a:extLst xmlns:a="http://schemas.openxmlformats.org/drawingml/2006/main">
              <a:ext uri="{FF2B5EF4-FFF2-40B4-BE49-F238E27FC236}">
                <a16:creationId xmlns:a16="http://schemas.microsoft.com/office/drawing/2014/main" id="{887484BF-3C8E-4B94-ABE9-331F6D779720}"/>
              </a:ext>
            </a:extLst>
          </p:cNvPr>
          <p:cNvSpPr>
            <a:spLocks xmlns:a="http://schemas.openxmlformats.org/drawingml/2006/main" noGrp="1"/>
          </p:cNvSpPr>
          <p:nvPr/>
        </p:nvSpPr>
        <p:spPr>
          <a:xfrm xmlns:a="http://schemas.openxmlformats.org/drawingml/2006/main">
            <a:off x="742950" y="2381250"/>
            <a:ext cx="647700" cy="80010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shape-5">
            <a:extLst xmlns:a="http://schemas.openxmlformats.org/drawingml/2006/main">
              <a:ext uri="{FF2B5EF4-FFF2-40B4-BE49-F238E27FC236}">
                <a16:creationId xmlns:a16="http://schemas.microsoft.com/office/drawing/2014/main" id="{97CF9949-D2F0-4CCA-863B-8D4BC93EB134}"/>
              </a:ext>
            </a:extLst>
          </p:cNvPr>
          <p:cNvSpPr>
            <a:spLocks xmlns:a="http://schemas.openxmlformats.org/drawingml/2006/main" noGrp="1"/>
          </p:cNvSpPr>
          <p:nvPr/>
        </p:nvSpPr>
        <p:spPr>
          <a:xfrm xmlns:a="http://schemas.openxmlformats.org/drawingml/2006/main">
            <a:off x="1238250" y="2381250"/>
            <a:ext cx="152400" cy="152400"/>
          </a:xfrm>
          <a:prstGeom xmlns:a="http://schemas.openxmlformats.org/drawingml/2006/main" prst="rect">
            <a:avLst/>
          </a:prstGeom>
          <a:solidFill xmlns:a="http://schemas.openxmlformats.org/drawingml/2006/main">
            <a:srgbClr val="EAF0F6"/>
          </a:solidFill>
          <a:ln xmlns:a="http://schemas.openxmlformats.org/drawingml/2006/main" w="19050">
            <a:solidFill>
              <a:srgbClr val="63758A"/>
            </a:solidFill>
          </a:ln>
        </p:spPr>
      </p:sp>
      <p:sp>
        <p:nvSpPr>
          <p:cNvPr id="6" name="">
            <a:extLst xmlns:a="http://schemas.openxmlformats.org/drawingml/2006/main">
              <a:ext uri="{FF2B5EF4-FFF2-40B4-BE49-F238E27FC236}">
                <a16:creationId xmlns:a16="http://schemas.microsoft.com/office/drawing/2014/main" id="{C920956F-4F61-4D04-9C22-97935A7DCDCA}"/>
              </a:ext>
            </a:extLst>
          </p:cNvPr>
          <p:cNvSpPr>
            <a:spLocks xmlns:a="http://schemas.openxmlformats.org/drawingml/2006/main" noGrp="1"/>
          </p:cNvSpPr>
          <p:nvPr/>
        </p:nvSpPr>
        <p:spPr>
          <a:xfrm xmlns:a="http://schemas.openxmlformats.org/drawingml/2006/main" flipV="0">
            <a:off x="857250" y="2667000"/>
            <a:ext cx="4191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A1911D38-6D68-4610-AC34-1E231A2EC23B}"/>
              </a:ext>
            </a:extLst>
          </p:cNvPr>
          <p:cNvSpPr>
            <a:spLocks xmlns:a="http://schemas.openxmlformats.org/drawingml/2006/main" noGrp="1"/>
          </p:cNvSpPr>
          <p:nvPr/>
        </p:nvSpPr>
        <p:spPr>
          <a:xfrm xmlns:a="http://schemas.openxmlformats.org/drawingml/2006/main" flipV="0">
            <a:off x="857250" y="2781300"/>
            <a:ext cx="4191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
            <a:extLst xmlns:a="http://schemas.openxmlformats.org/drawingml/2006/main">
              <a:ext uri="{FF2B5EF4-FFF2-40B4-BE49-F238E27FC236}">
                <a16:creationId xmlns:a16="http://schemas.microsoft.com/office/drawing/2014/main" id="{7E92EA08-71D4-48D8-900B-E9A45C0417DB}"/>
              </a:ext>
            </a:extLst>
          </p:cNvPr>
          <p:cNvSpPr>
            <a:spLocks xmlns:a="http://schemas.openxmlformats.org/drawingml/2006/main" noGrp="1"/>
          </p:cNvSpPr>
          <p:nvPr/>
        </p:nvSpPr>
        <p:spPr>
          <a:xfrm xmlns:a="http://schemas.openxmlformats.org/drawingml/2006/main" flipV="0">
            <a:off x="857250" y="2895600"/>
            <a:ext cx="4191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9" name="text-6">
            <a:extLst xmlns:a="http://schemas.openxmlformats.org/drawingml/2006/main">
              <a:ext uri="{FF2B5EF4-FFF2-40B4-BE49-F238E27FC236}">
                <a16:creationId xmlns:a16="http://schemas.microsoft.com/office/drawing/2014/main" id="{704CE046-C12A-466D-98F9-1B79D8015DB1}"/>
              </a:ext>
            </a:extLst>
          </p:cNvPr>
          <p:cNvSpPr>
            <a:spLocks xmlns:a="http://schemas.openxmlformats.org/drawingml/2006/main" noGrp="1"/>
          </p:cNvSpPr>
          <p:nvPr/>
        </p:nvSpPr>
        <p:spPr>
          <a:xfrm xmlns:a="http://schemas.openxmlformats.org/drawingml/2006/main">
            <a:off x="476250" y="3390900"/>
            <a:ext cx="1562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Judgment</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passages</a:t>
            </a:r>
          </a:p>
        </p:txBody>
      </p:sp>
      <p:sp>
        <p:nvSpPr>
          <p:cNvPr id="10" name="shape-7">
            <a:extLst xmlns:a="http://schemas.openxmlformats.org/drawingml/2006/main">
              <a:ext uri="{FF2B5EF4-FFF2-40B4-BE49-F238E27FC236}">
                <a16:creationId xmlns:a16="http://schemas.microsoft.com/office/drawing/2014/main" id="{A788E3F2-DBC6-47A7-BCF9-2B9FAC028571}"/>
              </a:ext>
            </a:extLst>
          </p:cNvPr>
          <p:cNvSpPr>
            <a:spLocks xmlns:a="http://schemas.openxmlformats.org/drawingml/2006/main" noGrp="1"/>
          </p:cNvSpPr>
          <p:nvPr/>
        </p:nvSpPr>
        <p:spPr>
          <a:xfrm xmlns:a="http://schemas.openxmlformats.org/drawingml/2006/main">
            <a:off x="2324100" y="2305050"/>
            <a:ext cx="2533650" cy="1009650"/>
          </a:xfrm>
          <a:prstGeom xmlns:a="http://schemas.openxmlformats.org/drawingml/2006/main" prst="roundRect">
            <a:avLst>
              <a:gd name="adj" fmla="val 9434"/>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A</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Canonical facts</a:t>
            </a:r>
          </a:p>
        </p:txBody>
      </p:sp>
      <p:sp>
        <p:nvSpPr>
          <p:cNvPr id="11" name="shape-8">
            <a:extLst xmlns:a="http://schemas.openxmlformats.org/drawingml/2006/main">
              <a:ext uri="{FF2B5EF4-FFF2-40B4-BE49-F238E27FC236}">
                <a16:creationId xmlns:a16="http://schemas.microsoft.com/office/drawing/2014/main" id="{4E813E49-5B5A-4EAC-B2E1-68B38646A235}"/>
              </a:ext>
            </a:extLst>
          </p:cNvPr>
          <p:cNvSpPr>
            <a:spLocks xmlns:a="http://schemas.openxmlformats.org/drawingml/2006/main" noGrp="1"/>
          </p:cNvSpPr>
          <p:nvPr/>
        </p:nvSpPr>
        <p:spPr>
          <a:xfrm xmlns:a="http://schemas.openxmlformats.org/drawingml/2006/main">
            <a:off x="5572125" y="2305050"/>
            <a:ext cx="2533650" cy="1009650"/>
          </a:xfrm>
          <a:prstGeom xmlns:a="http://schemas.openxmlformats.org/drawingml/2006/main" prst="roundRect">
            <a:avLst>
              <a:gd name="adj" fmla="val 9434"/>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B</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Fact patterns</a:t>
            </a:r>
          </a:p>
        </p:txBody>
      </p:sp>
      <p:sp>
        <p:nvSpPr>
          <p:cNvPr id="12" name="shape-9">
            <a:extLst xmlns:a="http://schemas.openxmlformats.org/drawingml/2006/main">
              <a:ext uri="{FF2B5EF4-FFF2-40B4-BE49-F238E27FC236}">
                <a16:creationId xmlns:a16="http://schemas.microsoft.com/office/drawing/2014/main" id="{70AE69B6-27AF-400A-A574-9E544AE7A3E5}"/>
              </a:ext>
            </a:extLst>
          </p:cNvPr>
          <p:cNvSpPr>
            <a:spLocks xmlns:a="http://schemas.openxmlformats.org/drawingml/2006/main" noGrp="1"/>
          </p:cNvSpPr>
          <p:nvPr/>
        </p:nvSpPr>
        <p:spPr>
          <a:xfrm xmlns:a="http://schemas.openxmlformats.org/drawingml/2006/main">
            <a:off x="8839200" y="2305050"/>
            <a:ext cx="2743200" cy="1009650"/>
          </a:xfrm>
          <a:prstGeom xmlns:a="http://schemas.openxmlformats.org/drawingml/2006/main" prst="roundRect">
            <a:avLst>
              <a:gd name="adj" fmla="val 9434"/>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C</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Legal arguments</a:t>
            </a:r>
          </a:p>
        </p:txBody>
      </p:sp>
      <p:sp>
        <p:nvSpPr>
          <p:cNvPr id="13" name="">
            <a:extLst xmlns:a="http://schemas.openxmlformats.org/drawingml/2006/main">
              <a:ext uri="{FF2B5EF4-FFF2-40B4-BE49-F238E27FC236}">
                <a16:creationId xmlns:a16="http://schemas.microsoft.com/office/drawing/2014/main" id="{683F4FEC-0451-422B-BBA2-2A625D7EBD66}"/>
              </a:ext>
            </a:extLst>
          </p:cNvPr>
          <p:cNvSpPr>
            <a:spLocks xmlns:a="http://schemas.openxmlformats.org/drawingml/2006/main" noGrp="1"/>
          </p:cNvSpPr>
          <p:nvPr/>
        </p:nvSpPr>
        <p:spPr>
          <a:xfrm xmlns:a="http://schemas.openxmlformats.org/drawingml/2006/main" flipV="0">
            <a:off x="1409700" y="2809875"/>
            <a:ext cx="9144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4" name="">
            <a:extLst xmlns:a="http://schemas.openxmlformats.org/drawingml/2006/main">
              <a:ext uri="{FF2B5EF4-FFF2-40B4-BE49-F238E27FC236}">
                <a16:creationId xmlns:a16="http://schemas.microsoft.com/office/drawing/2014/main" id="{B7E9C389-10CD-4249-B7A3-5704E393D164}"/>
              </a:ext>
            </a:extLst>
          </p:cNvPr>
          <p:cNvSpPr>
            <a:spLocks xmlns:a="http://schemas.openxmlformats.org/drawingml/2006/main" noGrp="1"/>
          </p:cNvSpPr>
          <p:nvPr/>
        </p:nvSpPr>
        <p:spPr>
          <a:xfrm xmlns:a="http://schemas.openxmlformats.org/drawingml/2006/main">
            <a:off x="2247900"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5" name="">
            <a:extLst xmlns:a="http://schemas.openxmlformats.org/drawingml/2006/main">
              <a:ext uri="{FF2B5EF4-FFF2-40B4-BE49-F238E27FC236}">
                <a16:creationId xmlns:a16="http://schemas.microsoft.com/office/drawing/2014/main" id="{54640C35-3F5E-4B69-9BBE-BAD64F596E70}"/>
              </a:ext>
            </a:extLst>
          </p:cNvPr>
          <p:cNvSpPr>
            <a:spLocks xmlns:a="http://schemas.openxmlformats.org/drawingml/2006/main" noGrp="1"/>
          </p:cNvSpPr>
          <p:nvPr/>
        </p:nvSpPr>
        <p:spPr>
          <a:xfrm xmlns:a="http://schemas.openxmlformats.org/drawingml/2006/main" flipV="0">
            <a:off x="4857750" y="2809875"/>
            <a:ext cx="7143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6" name="">
            <a:extLst xmlns:a="http://schemas.openxmlformats.org/drawingml/2006/main">
              <a:ext uri="{FF2B5EF4-FFF2-40B4-BE49-F238E27FC236}">
                <a16:creationId xmlns:a16="http://schemas.microsoft.com/office/drawing/2014/main" id="{698BDEBF-F11D-42BA-97B7-4678121F6D7A}"/>
              </a:ext>
            </a:extLst>
          </p:cNvPr>
          <p:cNvSpPr>
            <a:spLocks xmlns:a="http://schemas.openxmlformats.org/drawingml/2006/main" noGrp="1"/>
          </p:cNvSpPr>
          <p:nvPr/>
        </p:nvSpPr>
        <p:spPr>
          <a:xfrm xmlns:a="http://schemas.openxmlformats.org/drawingml/2006/main">
            <a:off x="5495925"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7" name="">
            <a:extLst xmlns:a="http://schemas.openxmlformats.org/drawingml/2006/main">
              <a:ext uri="{FF2B5EF4-FFF2-40B4-BE49-F238E27FC236}">
                <a16:creationId xmlns:a16="http://schemas.microsoft.com/office/drawing/2014/main" id="{E67B43AE-F933-422F-9966-22FAD557DF70}"/>
              </a:ext>
            </a:extLst>
          </p:cNvPr>
          <p:cNvSpPr>
            <a:spLocks xmlns:a="http://schemas.openxmlformats.org/drawingml/2006/main" noGrp="1"/>
          </p:cNvSpPr>
          <p:nvPr/>
        </p:nvSpPr>
        <p:spPr>
          <a:xfrm xmlns:a="http://schemas.openxmlformats.org/drawingml/2006/main" flipV="0">
            <a:off x="8105775" y="2809875"/>
            <a:ext cx="733425" cy="0"/>
          </a:xfrm>
          <a:prstGeom xmlns:a="http://schemas.openxmlformats.org/drawingml/2006/main" prst="line">
            <a:avLst/>
          </a:prstGeom>
          <a:noFill xmlns:a="http://schemas.openxmlformats.org/drawingml/2006/main"/>
          <a:ln xmlns:a="http://schemas.openxmlformats.org/drawingml/2006/main" w="19050">
            <a:solidFill>
              <a:srgbClr val="63758A"/>
            </a:solidFill>
            <a:prstDash val="dash"/>
          </a:ln>
        </p:spPr>
      </p:sp>
      <p:sp>
        <p:nvSpPr>
          <p:cNvPr id="18" name="">
            <a:extLst xmlns:a="http://schemas.openxmlformats.org/drawingml/2006/main">
              <a:ext uri="{FF2B5EF4-FFF2-40B4-BE49-F238E27FC236}">
                <a16:creationId xmlns:a16="http://schemas.microsoft.com/office/drawing/2014/main" id="{E5080364-2AEE-490F-ADF0-0A09B2B5A6AB}"/>
              </a:ext>
            </a:extLst>
          </p:cNvPr>
          <p:cNvSpPr>
            <a:spLocks xmlns:a="http://schemas.openxmlformats.org/drawingml/2006/main" noGrp="1"/>
          </p:cNvSpPr>
          <p:nvPr/>
        </p:nvSpPr>
        <p:spPr>
          <a:xfrm xmlns:a="http://schemas.openxmlformats.org/drawingml/2006/main">
            <a:off x="8763000" y="27717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63758A"/>
          </a:solidFill>
          <a:ln xmlns:a="http://schemas.openxmlformats.org/drawingml/2006/main" w="9525">
            <a:solidFill>
              <a:srgbClr val="63758A"/>
            </a:solidFill>
          </a:ln>
        </p:spPr>
      </p:sp>
      <p:sp>
        <p:nvSpPr>
          <p:cNvPr id="19" name="text-10">
            <a:extLst xmlns:a="http://schemas.openxmlformats.org/drawingml/2006/main">
              <a:ext uri="{FF2B5EF4-FFF2-40B4-BE49-F238E27FC236}">
                <a16:creationId xmlns:a16="http://schemas.microsoft.com/office/drawing/2014/main" id="{5C859636-50BD-4520-8B40-571571A15548}"/>
              </a:ext>
            </a:extLst>
          </p:cNvPr>
          <p:cNvSpPr>
            <a:spLocks xmlns:a="http://schemas.openxmlformats.org/drawingml/2006/main" noGrp="1"/>
          </p:cNvSpPr>
          <p:nvPr/>
        </p:nvSpPr>
        <p:spPr>
          <a:xfrm xmlns:a="http://schemas.openxmlformats.org/drawingml/2006/main">
            <a:off x="8067675" y="2390775"/>
            <a:ext cx="819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optional</a:t>
            </a:r>
          </a:p>
        </p:txBody>
      </p:sp>
      <p:sp>
        <p:nvSpPr>
          <p:cNvPr id="20" name="text-11">
            <a:extLst xmlns:a="http://schemas.openxmlformats.org/drawingml/2006/main">
              <a:ext uri="{FF2B5EF4-FFF2-40B4-BE49-F238E27FC236}">
                <a16:creationId xmlns:a16="http://schemas.microsoft.com/office/drawing/2014/main" id="{CAD7905D-3621-493C-B01C-BD918C7D564E}"/>
              </a:ext>
            </a:extLst>
          </p:cNvPr>
          <p:cNvSpPr>
            <a:spLocks xmlns:a="http://schemas.openxmlformats.org/drawingml/2006/main" noGrp="1"/>
          </p:cNvSpPr>
          <p:nvPr/>
        </p:nvSpPr>
        <p:spPr>
          <a:xfrm xmlns:a="http://schemas.openxmlformats.org/drawingml/2006/main">
            <a:off x="2181225" y="3590925"/>
            <a:ext cx="2819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Define the meaning</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and permitted uses</a:t>
            </a:r>
          </a:p>
        </p:txBody>
      </p:sp>
      <p:sp>
        <p:nvSpPr>
          <p:cNvPr id="21" name="text-12">
            <a:extLst xmlns:a="http://schemas.openxmlformats.org/drawingml/2006/main">
              <a:ext uri="{FF2B5EF4-FFF2-40B4-BE49-F238E27FC236}">
                <a16:creationId xmlns:a16="http://schemas.microsoft.com/office/drawing/2014/main" id="{412F1C85-2F85-4EF9-BF7B-1E1ED695C841}"/>
              </a:ext>
            </a:extLst>
          </p:cNvPr>
          <p:cNvSpPr>
            <a:spLocks xmlns:a="http://schemas.openxmlformats.org/drawingml/2006/main" noGrp="1"/>
          </p:cNvSpPr>
          <p:nvPr/>
        </p:nvSpPr>
        <p:spPr>
          <a:xfrm xmlns:a="http://schemas.openxmlformats.org/drawingml/2006/main">
            <a:off x="5457825" y="35909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Generate, execute</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and repair relations</a:t>
            </a:r>
          </a:p>
        </p:txBody>
      </p:sp>
      <p:sp>
        <p:nvSpPr>
          <p:cNvPr id="22" name="text-13">
            <a:extLst xmlns:a="http://schemas.openxmlformats.org/drawingml/2006/main">
              <a:ext uri="{FF2B5EF4-FFF2-40B4-BE49-F238E27FC236}">
                <a16:creationId xmlns:a16="http://schemas.microsoft.com/office/drawing/2014/main" id="{8CE3CE91-1698-4770-8CEF-381B3935F847}"/>
              </a:ext>
            </a:extLst>
          </p:cNvPr>
          <p:cNvSpPr>
            <a:spLocks xmlns:a="http://schemas.openxmlformats.org/drawingml/2006/main" noGrp="1"/>
          </p:cNvSpPr>
          <p:nvPr/>
        </p:nvSpPr>
        <p:spPr>
          <a:xfrm xmlns:a="http://schemas.openxmlformats.org/drawingml/2006/main">
            <a:off x="8763000" y="3590925"/>
            <a:ext cx="2876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Check legal conditions</a:t>
            </a:r>
          </a:p>
          <a:p xmlns:a="http://schemas.openxmlformats.org/drawingml/2006/main">
            <a:pPr algn="ctr">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and objections</a:t>
            </a:r>
          </a:p>
        </p:txBody>
      </p:sp>
      <p:sp>
        <p:nvSpPr>
          <p:cNvPr id="23" name="shape-14">
            <a:extLst xmlns:a="http://schemas.openxmlformats.org/drawingml/2006/main">
              <a:ext uri="{FF2B5EF4-FFF2-40B4-BE49-F238E27FC236}">
                <a16:creationId xmlns:a16="http://schemas.microsoft.com/office/drawing/2014/main" id="{E7F45282-43AF-44E4-A191-372D60893FDC}"/>
              </a:ext>
            </a:extLst>
          </p:cNvPr>
          <p:cNvSpPr>
            <a:spLocks xmlns:a="http://schemas.openxmlformats.org/drawingml/2006/main" noGrp="1"/>
          </p:cNvSpPr>
          <p:nvPr/>
        </p:nvSpPr>
        <p:spPr>
          <a:xfrm xmlns:a="http://schemas.openxmlformats.org/drawingml/2006/main">
            <a:off x="9163050" y="1562100"/>
            <a:ext cx="30480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24" name="">
            <a:extLst xmlns:a="http://schemas.openxmlformats.org/drawingml/2006/main">
              <a:ext uri="{FF2B5EF4-FFF2-40B4-BE49-F238E27FC236}">
                <a16:creationId xmlns:a16="http://schemas.microsoft.com/office/drawing/2014/main" id="{FA90903B-0EAA-4BE9-B544-7BD9EBAF8724}"/>
              </a:ext>
            </a:extLst>
          </p:cNvPr>
          <p:cNvSpPr>
            <a:spLocks xmlns:a="http://schemas.openxmlformats.org/drawingml/2006/main" noGrp="1"/>
          </p:cNvSpPr>
          <p:nvPr/>
        </p:nvSpPr>
        <p:spPr>
          <a:xfrm xmlns:a="http://schemas.openxmlformats.org/drawingml/2006/main" flipV="0">
            <a:off x="9239250" y="1695450"/>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5" name="">
            <a:extLst xmlns:a="http://schemas.openxmlformats.org/drawingml/2006/main">
              <a:ext uri="{FF2B5EF4-FFF2-40B4-BE49-F238E27FC236}">
                <a16:creationId xmlns:a16="http://schemas.microsoft.com/office/drawing/2014/main" id="{5CB9DF5D-5998-42B3-828B-5700EF3E6D4D}"/>
              </a:ext>
            </a:extLst>
          </p:cNvPr>
          <p:cNvSpPr>
            <a:spLocks xmlns:a="http://schemas.openxmlformats.org/drawingml/2006/main" noGrp="1"/>
          </p:cNvSpPr>
          <p:nvPr/>
        </p:nvSpPr>
        <p:spPr>
          <a:xfrm xmlns:a="http://schemas.openxmlformats.org/drawingml/2006/main" flipV="0">
            <a:off x="9239250" y="1800225"/>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6" name="">
            <a:extLst xmlns:a="http://schemas.openxmlformats.org/drawingml/2006/main">
              <a:ext uri="{FF2B5EF4-FFF2-40B4-BE49-F238E27FC236}">
                <a16:creationId xmlns:a16="http://schemas.microsoft.com/office/drawing/2014/main" id="{1D995BD2-14E5-4371-85D5-8DE5ABA708A2}"/>
              </a:ext>
            </a:extLst>
          </p:cNvPr>
          <p:cNvSpPr>
            <a:spLocks xmlns:a="http://schemas.openxmlformats.org/drawingml/2006/main" noGrp="1"/>
          </p:cNvSpPr>
          <p:nvPr/>
        </p:nvSpPr>
        <p:spPr>
          <a:xfrm xmlns:a="http://schemas.openxmlformats.org/drawingml/2006/main" flipV="0">
            <a:off x="9239250" y="1905000"/>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7" name="shape-15">
            <a:extLst xmlns:a="http://schemas.openxmlformats.org/drawingml/2006/main">
              <a:ext uri="{FF2B5EF4-FFF2-40B4-BE49-F238E27FC236}">
                <a16:creationId xmlns:a16="http://schemas.microsoft.com/office/drawing/2014/main" id="{3F717125-F515-47C5-884B-15610A453E7F}"/>
              </a:ext>
            </a:extLst>
          </p:cNvPr>
          <p:cNvSpPr>
            <a:spLocks xmlns:a="http://schemas.openxmlformats.org/drawingml/2006/main" noGrp="1"/>
          </p:cNvSpPr>
          <p:nvPr/>
        </p:nvSpPr>
        <p:spPr>
          <a:xfrm xmlns:a="http://schemas.openxmlformats.org/drawingml/2006/main">
            <a:off x="9467850" y="1562100"/>
            <a:ext cx="304800" cy="466725"/>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28" name="">
            <a:extLst xmlns:a="http://schemas.openxmlformats.org/drawingml/2006/main">
              <a:ext uri="{FF2B5EF4-FFF2-40B4-BE49-F238E27FC236}">
                <a16:creationId xmlns:a16="http://schemas.microsoft.com/office/drawing/2014/main" id="{C1252756-72CB-476E-B3D9-CA27499DAA74}"/>
              </a:ext>
            </a:extLst>
          </p:cNvPr>
          <p:cNvSpPr>
            <a:spLocks xmlns:a="http://schemas.openxmlformats.org/drawingml/2006/main" noGrp="1"/>
          </p:cNvSpPr>
          <p:nvPr/>
        </p:nvSpPr>
        <p:spPr>
          <a:xfrm xmlns:a="http://schemas.openxmlformats.org/drawingml/2006/main" flipV="0">
            <a:off x="9544050" y="1695450"/>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29" name="">
            <a:extLst xmlns:a="http://schemas.openxmlformats.org/drawingml/2006/main">
              <a:ext uri="{FF2B5EF4-FFF2-40B4-BE49-F238E27FC236}">
                <a16:creationId xmlns:a16="http://schemas.microsoft.com/office/drawing/2014/main" id="{5A74FF70-3C55-4C8B-A047-259B13D88808}"/>
              </a:ext>
            </a:extLst>
          </p:cNvPr>
          <p:cNvSpPr>
            <a:spLocks xmlns:a="http://schemas.openxmlformats.org/drawingml/2006/main" noGrp="1"/>
          </p:cNvSpPr>
          <p:nvPr/>
        </p:nvSpPr>
        <p:spPr>
          <a:xfrm xmlns:a="http://schemas.openxmlformats.org/drawingml/2006/main" flipV="0">
            <a:off x="9544050" y="1800225"/>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30" name="">
            <a:extLst xmlns:a="http://schemas.openxmlformats.org/drawingml/2006/main">
              <a:ext uri="{FF2B5EF4-FFF2-40B4-BE49-F238E27FC236}">
                <a16:creationId xmlns:a16="http://schemas.microsoft.com/office/drawing/2014/main" id="{3CCC0E40-853F-48F8-AEC0-CDBC6FB0B46A}"/>
              </a:ext>
            </a:extLst>
          </p:cNvPr>
          <p:cNvSpPr>
            <a:spLocks xmlns:a="http://schemas.openxmlformats.org/drawingml/2006/main" noGrp="1"/>
          </p:cNvSpPr>
          <p:nvPr/>
        </p:nvSpPr>
        <p:spPr>
          <a:xfrm xmlns:a="http://schemas.openxmlformats.org/drawingml/2006/main" flipV="0">
            <a:off x="9544050" y="1905000"/>
            <a:ext cx="15240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31" name="">
            <a:extLst xmlns:a="http://schemas.openxmlformats.org/drawingml/2006/main">
              <a:ext uri="{FF2B5EF4-FFF2-40B4-BE49-F238E27FC236}">
                <a16:creationId xmlns:a16="http://schemas.microsoft.com/office/drawing/2014/main" id="{71AE8F12-A0B3-453E-A48C-B8EED4F54934}"/>
              </a:ext>
            </a:extLst>
          </p:cNvPr>
          <p:cNvSpPr>
            <a:spLocks xmlns:a="http://schemas.openxmlformats.org/drawingml/2006/main" noGrp="1"/>
          </p:cNvSpPr>
          <p:nvPr/>
        </p:nvSpPr>
        <p:spPr>
          <a:xfrm xmlns:a="http://schemas.openxmlformats.org/drawingml/2006/main" flipV="0">
            <a:off x="9467850" y="1533525"/>
            <a:ext cx="0" cy="523875"/>
          </a:xfrm>
          <a:prstGeom xmlns:a="http://schemas.openxmlformats.org/drawingml/2006/main" prst="line">
            <a:avLst/>
          </a:prstGeom>
          <a:noFill xmlns:a="http://schemas.openxmlformats.org/drawingml/2006/main"/>
          <a:ln xmlns:a="http://schemas.openxmlformats.org/drawingml/2006/main" w="23813">
            <a:solidFill>
              <a:srgbClr val="172C36"/>
            </a:solidFill>
            <a:prstDash val="solid"/>
          </a:ln>
        </p:spPr>
      </p:sp>
      <p:sp>
        <p:nvSpPr>
          <p:cNvPr id="32" name="text-16">
            <a:extLst xmlns:a="http://schemas.openxmlformats.org/drawingml/2006/main">
              <a:ext uri="{FF2B5EF4-FFF2-40B4-BE49-F238E27FC236}">
                <a16:creationId xmlns:a16="http://schemas.microsoft.com/office/drawing/2014/main" id="{F941ADA6-F716-4544-835A-20A941A89EA2}"/>
              </a:ext>
            </a:extLst>
          </p:cNvPr>
          <p:cNvSpPr>
            <a:spLocks xmlns:a="http://schemas.openxmlformats.org/drawingml/2006/main" noGrp="1"/>
          </p:cNvSpPr>
          <p:nvPr/>
        </p:nvSpPr>
        <p:spPr>
          <a:xfrm xmlns:a="http://schemas.openxmlformats.org/drawingml/2006/main">
            <a:off x="9934575" y="1581150"/>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72C36"/>
                </a:solidFill>
                <a:latin typeface="Helvetica Neue"/>
                <a:ea typeface="Helvetica Neue"/>
                <a:cs typeface="Helvetica Neue"/>
              </a:defRPr>
            </a:pPr>
            <a:r>
              <a:rPr sz="1875" b="1">
                <a:solidFill>
                  <a:srgbClr val="172C36"/>
                </a:solidFill>
                <a:latin typeface="Helvetica Neue"/>
                <a:ea typeface="Helvetica Neue"/>
                <a:cs typeface="Helvetica Neue"/>
              </a:rPr>
              <a:t>Authorities</a:t>
            </a:r>
          </a:p>
        </p:txBody>
      </p:sp>
      <p:sp>
        <p:nvSpPr>
          <p:cNvPr id="33" name="">
            <a:extLst xmlns:a="http://schemas.openxmlformats.org/drawingml/2006/main">
              <a:ext uri="{FF2B5EF4-FFF2-40B4-BE49-F238E27FC236}">
                <a16:creationId xmlns:a16="http://schemas.microsoft.com/office/drawing/2014/main" id="{D0476298-F7A0-44BE-85A8-1D61DEAE74DA}"/>
              </a:ext>
            </a:extLst>
          </p:cNvPr>
          <p:cNvSpPr>
            <a:spLocks xmlns:a="http://schemas.openxmlformats.org/drawingml/2006/main" noGrp="1"/>
          </p:cNvSpPr>
          <p:nvPr/>
        </p:nvSpPr>
        <p:spPr>
          <a:xfrm xmlns:a="http://schemas.openxmlformats.org/drawingml/2006/main" flipV="0">
            <a:off x="9467850" y="2028825"/>
            <a:ext cx="0" cy="27622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4" name="">
            <a:extLst xmlns:a="http://schemas.openxmlformats.org/drawingml/2006/main">
              <a:ext uri="{FF2B5EF4-FFF2-40B4-BE49-F238E27FC236}">
                <a16:creationId xmlns:a16="http://schemas.microsoft.com/office/drawing/2014/main" id="{871B7A98-15B6-4CD0-A430-504E680C33ED}"/>
              </a:ext>
            </a:extLst>
          </p:cNvPr>
          <p:cNvSpPr>
            <a:spLocks xmlns:a="http://schemas.openxmlformats.org/drawingml/2006/main" noGrp="1"/>
          </p:cNvSpPr>
          <p:nvPr/>
        </p:nvSpPr>
        <p:spPr>
          <a:xfrm xmlns:a="http://schemas.openxmlformats.org/drawingml/2006/main">
            <a:off x="9429750" y="2228850"/>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172C36"/>
          </a:solidFill>
          <a:ln xmlns:a="http://schemas.openxmlformats.org/drawingml/2006/main" w="9525">
            <a:solidFill>
              <a:srgbClr val="172C36"/>
            </a:solidFill>
          </a:ln>
        </p:spPr>
      </p:sp>
      <p:sp>
        <p:nvSpPr>
          <p:cNvPr id="35" name="">
            <a:extLst xmlns:a="http://schemas.openxmlformats.org/drawingml/2006/main">
              <a:ext uri="{FF2B5EF4-FFF2-40B4-BE49-F238E27FC236}">
                <a16:creationId xmlns:a16="http://schemas.microsoft.com/office/drawing/2014/main" id="{5A95401C-4C5D-4993-BBB8-E66C7D00CBEF}"/>
              </a:ext>
            </a:extLst>
          </p:cNvPr>
          <p:cNvSpPr>
            <a:spLocks xmlns:a="http://schemas.openxmlformats.org/drawingml/2006/main" noGrp="1"/>
          </p:cNvSpPr>
          <p:nvPr/>
        </p:nvSpPr>
        <p:spPr>
          <a:xfrm xmlns:a="http://schemas.openxmlformats.org/drawingml/2006/main" flipV="0">
            <a:off x="4857750" y="3133725"/>
            <a:ext cx="3619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6" name="">
            <a:extLst xmlns:a="http://schemas.openxmlformats.org/drawingml/2006/main">
              <a:ext uri="{FF2B5EF4-FFF2-40B4-BE49-F238E27FC236}">
                <a16:creationId xmlns:a16="http://schemas.microsoft.com/office/drawing/2014/main" id="{CEC90F50-115E-4F34-84F9-874BD1613C08}"/>
              </a:ext>
            </a:extLst>
          </p:cNvPr>
          <p:cNvSpPr>
            <a:spLocks xmlns:a="http://schemas.openxmlformats.org/drawingml/2006/main" noGrp="1"/>
          </p:cNvSpPr>
          <p:nvPr/>
        </p:nvSpPr>
        <p:spPr>
          <a:xfrm xmlns:a="http://schemas.openxmlformats.org/drawingml/2006/main" flipV="0">
            <a:off x="5219700" y="3133725"/>
            <a:ext cx="0" cy="174307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7" name="">
            <a:extLst xmlns:a="http://schemas.openxmlformats.org/drawingml/2006/main">
              <a:ext uri="{FF2B5EF4-FFF2-40B4-BE49-F238E27FC236}">
                <a16:creationId xmlns:a16="http://schemas.microsoft.com/office/drawing/2014/main" id="{8C3A39CA-6580-4BB7-90DD-6F7016E8D549}"/>
              </a:ext>
            </a:extLst>
          </p:cNvPr>
          <p:cNvSpPr>
            <a:spLocks xmlns:a="http://schemas.openxmlformats.org/drawingml/2006/main" noGrp="1"/>
          </p:cNvSpPr>
          <p:nvPr/>
        </p:nvSpPr>
        <p:spPr>
          <a:xfrm xmlns:a="http://schemas.openxmlformats.org/drawingml/2006/main" flipV="0">
            <a:off x="5219700" y="4876800"/>
            <a:ext cx="324802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8" name="">
            <a:extLst xmlns:a="http://schemas.openxmlformats.org/drawingml/2006/main">
              <a:ext uri="{FF2B5EF4-FFF2-40B4-BE49-F238E27FC236}">
                <a16:creationId xmlns:a16="http://schemas.microsoft.com/office/drawing/2014/main" id="{618263E7-0646-40E6-8BCB-03DEF1F66D2E}"/>
              </a:ext>
            </a:extLst>
          </p:cNvPr>
          <p:cNvSpPr>
            <a:spLocks xmlns:a="http://schemas.openxmlformats.org/drawingml/2006/main" noGrp="1"/>
          </p:cNvSpPr>
          <p:nvPr/>
        </p:nvSpPr>
        <p:spPr>
          <a:xfrm xmlns:a="http://schemas.openxmlformats.org/drawingml/2006/main" flipV="0">
            <a:off x="8467725" y="3133725"/>
            <a:ext cx="0" cy="174307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39" name="">
            <a:extLst xmlns:a="http://schemas.openxmlformats.org/drawingml/2006/main">
              <a:ext uri="{FF2B5EF4-FFF2-40B4-BE49-F238E27FC236}">
                <a16:creationId xmlns:a16="http://schemas.microsoft.com/office/drawing/2014/main" id="{8DAB9295-1EA4-40F8-89D9-C533A84EC229}"/>
              </a:ext>
            </a:extLst>
          </p:cNvPr>
          <p:cNvSpPr>
            <a:spLocks xmlns:a="http://schemas.openxmlformats.org/drawingml/2006/main" noGrp="1"/>
          </p:cNvSpPr>
          <p:nvPr/>
        </p:nvSpPr>
        <p:spPr>
          <a:xfrm xmlns:a="http://schemas.openxmlformats.org/drawingml/2006/main" flipV="0">
            <a:off x="8467725" y="3133725"/>
            <a:ext cx="3714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40" name="">
            <a:extLst xmlns:a="http://schemas.openxmlformats.org/drawingml/2006/main">
              <a:ext uri="{FF2B5EF4-FFF2-40B4-BE49-F238E27FC236}">
                <a16:creationId xmlns:a16="http://schemas.microsoft.com/office/drawing/2014/main" id="{D204CF5C-018E-48CE-BCC4-4C924E0FC35F}"/>
              </a:ext>
            </a:extLst>
          </p:cNvPr>
          <p:cNvSpPr>
            <a:spLocks xmlns:a="http://schemas.openxmlformats.org/drawingml/2006/main" noGrp="1"/>
          </p:cNvSpPr>
          <p:nvPr/>
        </p:nvSpPr>
        <p:spPr>
          <a:xfrm xmlns:a="http://schemas.openxmlformats.org/drawingml/2006/main">
            <a:off x="8763000" y="30956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41" name="text-17">
            <a:extLst xmlns:a="http://schemas.openxmlformats.org/drawingml/2006/main">
              <a:ext uri="{FF2B5EF4-FFF2-40B4-BE49-F238E27FC236}">
                <a16:creationId xmlns:a16="http://schemas.microsoft.com/office/drawing/2014/main" id="{8697F77C-5E97-4838-8093-47B94528B181}"/>
              </a:ext>
            </a:extLst>
          </p:cNvPr>
          <p:cNvSpPr>
            <a:spLocks xmlns:a="http://schemas.openxmlformats.org/drawingml/2006/main" noGrp="1"/>
          </p:cNvSpPr>
          <p:nvPr/>
        </p:nvSpPr>
        <p:spPr>
          <a:xfrm xmlns:a="http://schemas.openxmlformats.org/drawingml/2006/main">
            <a:off x="4286250" y="5019675"/>
            <a:ext cx="4933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566B76"/>
                </a:solidFill>
                <a:latin typeface="Helvetica Neue"/>
                <a:ea typeface="Helvetica Neue"/>
                <a:cs typeface="Helvetica Neue"/>
              </a:defRPr>
            </a:pPr>
            <a:r>
              <a:rPr sz="2025" b="0">
                <a:solidFill>
                  <a:srgbClr val="566B76"/>
                </a:solidFill>
                <a:latin typeface="Helvetica Neue"/>
                <a:ea typeface="Helvetica Neue"/>
                <a:cs typeface="Helvetica Neue"/>
              </a:rPr>
              <a:t>C also reads facts directly</a:t>
            </a:r>
          </a:p>
        </p:txBody>
      </p:sp>
      <p:sp>
        <p:nvSpPr>
          <p:cNvPr id="42" name="">
            <a:extLst xmlns:a="http://schemas.openxmlformats.org/drawingml/2006/main">
              <a:ext uri="{FF2B5EF4-FFF2-40B4-BE49-F238E27FC236}">
                <a16:creationId xmlns:a16="http://schemas.microsoft.com/office/drawing/2014/main" id="{6CCF67C5-B269-45CC-AB54-BCBC15B1C32A}"/>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43" name="text-18">
            <a:extLst xmlns:a="http://schemas.openxmlformats.org/drawingml/2006/main">
              <a:ext uri="{FF2B5EF4-FFF2-40B4-BE49-F238E27FC236}">
                <a16:creationId xmlns:a16="http://schemas.microsoft.com/office/drawing/2014/main" id="{44C365C7-F603-493D-8FA4-68076BB76C06}"/>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Research proposal. Real-case gains remain untested. Solid arrows: inputs. Dashed arrow: optional use.</a:t>
            </a:r>
          </a:p>
        </p:txBody>
      </p:sp>
    </p:spTree>
    <p:extLst>
      <p:ext uri="{BB962C8B-B14F-4D97-AF65-F5344CB8AC3E}">
        <p14:creationId xmlns:p14="http://schemas.microsoft.com/office/powerpoint/2010/main" val="147149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19">
            <a:extLst xmlns:a="http://schemas.openxmlformats.org/drawingml/2006/main">
              <a:ext uri="{FF2B5EF4-FFF2-40B4-BE49-F238E27FC236}">
                <a16:creationId xmlns:a16="http://schemas.microsoft.com/office/drawing/2014/main" id="{A6B43771-7AF8-4E16-95C4-3540515AC5C5}"/>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A. A shared definition with preserved differences</a:t>
            </a:r>
          </a:p>
        </p:txBody>
      </p:sp>
      <p:sp>
        <p:nvSpPr>
          <p:cNvPr id="2" name="text-20">
            <a:extLst xmlns:a="http://schemas.openxmlformats.org/drawingml/2006/main">
              <a:ext uri="{FF2B5EF4-FFF2-40B4-BE49-F238E27FC236}">
                <a16:creationId xmlns:a16="http://schemas.microsoft.com/office/drawing/2014/main" id="{602E9A67-153A-4CC3-9C76-07F7E2F32CEC}"/>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common fact type keeps each instance’s identity, parameters and source status</a:t>
            </a:r>
          </a:p>
        </p:txBody>
      </p:sp>
      <p:sp>
        <p:nvSpPr>
          <p:cNvPr id="3" name="text-21">
            <a:extLst xmlns:a="http://schemas.openxmlformats.org/drawingml/2006/main">
              <a:ext uri="{FF2B5EF4-FFF2-40B4-BE49-F238E27FC236}">
                <a16:creationId xmlns:a16="http://schemas.microsoft.com/office/drawing/2014/main" id="{1799D151-E585-4EA7-AE34-714966A3F0F2}"/>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02</a:t>
            </a:r>
          </a:p>
        </p:txBody>
      </p:sp>
      <p:sp>
        <p:nvSpPr>
          <p:cNvPr id="4" name="text-22">
            <a:extLst xmlns:a="http://schemas.openxmlformats.org/drawingml/2006/main">
              <a:ext uri="{FF2B5EF4-FFF2-40B4-BE49-F238E27FC236}">
                <a16:creationId xmlns:a16="http://schemas.microsoft.com/office/drawing/2014/main" id="{3C0EA415-D4AC-45C7-8473-17CE77464442}"/>
              </a:ext>
            </a:extLst>
          </p:cNvPr>
          <p:cNvSpPr>
            <a:spLocks xmlns:a="http://schemas.openxmlformats.org/drawingml/2006/main" noGrp="1"/>
          </p:cNvSpPr>
          <p:nvPr/>
        </p:nvSpPr>
        <p:spPr>
          <a:xfrm xmlns:a="http://schemas.openxmlformats.org/drawingml/2006/main">
            <a:off x="609600" y="1685925"/>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172C36"/>
                </a:solidFill>
                <a:latin typeface="Helvetica Neue"/>
                <a:ea typeface="Helvetica Neue"/>
                <a:cs typeface="Helvetica Neue"/>
              </a:defRPr>
            </a:pPr>
            <a:r>
              <a:rPr sz="1800" b="1">
                <a:solidFill>
                  <a:srgbClr val="172C36"/>
                </a:solidFill>
                <a:latin typeface="Helvetica Neue"/>
                <a:ea typeface="Helvetica Neue"/>
                <a:cs typeface="Helvetica Neue"/>
              </a:rPr>
              <a:t>Source assertion</a:t>
            </a:r>
          </a:p>
        </p:txBody>
      </p:sp>
      <p:sp>
        <p:nvSpPr>
          <p:cNvPr id="5" name="">
            <a:extLst xmlns:a="http://schemas.openxmlformats.org/drawingml/2006/main">
              <a:ext uri="{FF2B5EF4-FFF2-40B4-BE49-F238E27FC236}">
                <a16:creationId xmlns:a16="http://schemas.microsoft.com/office/drawing/2014/main" id="{1154E257-1D44-4842-8D64-8906F184EB66}"/>
              </a:ext>
            </a:extLst>
          </p:cNvPr>
          <p:cNvSpPr>
            <a:spLocks xmlns:a="http://schemas.openxmlformats.org/drawingml/2006/main" noGrp="1"/>
          </p:cNvSpPr>
          <p:nvPr/>
        </p:nvSpPr>
        <p:spPr>
          <a:xfrm xmlns:a="http://schemas.openxmlformats.org/drawingml/2006/main" flipV="0">
            <a:off x="3067050" y="1933575"/>
            <a:ext cx="3333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6" name="">
            <a:extLst xmlns:a="http://schemas.openxmlformats.org/drawingml/2006/main">
              <a:ext uri="{FF2B5EF4-FFF2-40B4-BE49-F238E27FC236}">
                <a16:creationId xmlns:a16="http://schemas.microsoft.com/office/drawing/2014/main" id="{5B376D18-A340-4179-B5A0-D42F401652A2}"/>
              </a:ext>
            </a:extLst>
          </p:cNvPr>
          <p:cNvSpPr>
            <a:spLocks xmlns:a="http://schemas.openxmlformats.org/drawingml/2006/main" noGrp="1"/>
          </p:cNvSpPr>
          <p:nvPr/>
        </p:nvSpPr>
        <p:spPr>
          <a:xfrm xmlns:a="http://schemas.openxmlformats.org/drawingml/2006/main">
            <a:off x="3324225" y="18954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7" name="text-23">
            <a:extLst xmlns:a="http://schemas.openxmlformats.org/drawingml/2006/main">
              <a:ext uri="{FF2B5EF4-FFF2-40B4-BE49-F238E27FC236}">
                <a16:creationId xmlns:a16="http://schemas.microsoft.com/office/drawing/2014/main" id="{0F1261AC-5436-4F6C-BC4C-B87B34601C84}"/>
              </a:ext>
            </a:extLst>
          </p:cNvPr>
          <p:cNvSpPr>
            <a:spLocks xmlns:a="http://schemas.openxmlformats.org/drawingml/2006/main" noGrp="1"/>
          </p:cNvSpPr>
          <p:nvPr/>
        </p:nvSpPr>
        <p:spPr>
          <a:xfrm xmlns:a="http://schemas.openxmlformats.org/drawingml/2006/main">
            <a:off x="3457575" y="1685925"/>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172C36"/>
                </a:solidFill>
                <a:latin typeface="Helvetica Neue"/>
                <a:ea typeface="Helvetica Neue"/>
                <a:cs typeface="Helvetica Neue"/>
              </a:defRPr>
            </a:pPr>
            <a:r>
              <a:rPr sz="1800" b="1">
                <a:solidFill>
                  <a:srgbClr val="172C36"/>
                </a:solidFill>
                <a:latin typeface="Helvetica Neue"/>
                <a:ea typeface="Helvetica Neue"/>
                <a:cs typeface="Helvetica Neue"/>
              </a:rPr>
              <a:t>Retrieve definitions</a:t>
            </a:r>
          </a:p>
        </p:txBody>
      </p:sp>
      <p:sp>
        <p:nvSpPr>
          <p:cNvPr id="8" name="">
            <a:extLst xmlns:a="http://schemas.openxmlformats.org/drawingml/2006/main">
              <a:ext uri="{FF2B5EF4-FFF2-40B4-BE49-F238E27FC236}">
                <a16:creationId xmlns:a16="http://schemas.microsoft.com/office/drawing/2014/main" id="{B9E13A5B-D55E-465A-9253-A59260DB47B7}"/>
              </a:ext>
            </a:extLst>
          </p:cNvPr>
          <p:cNvSpPr>
            <a:spLocks xmlns:a="http://schemas.openxmlformats.org/drawingml/2006/main" noGrp="1"/>
          </p:cNvSpPr>
          <p:nvPr/>
        </p:nvSpPr>
        <p:spPr>
          <a:xfrm xmlns:a="http://schemas.openxmlformats.org/drawingml/2006/main" flipV="0">
            <a:off x="5915025" y="1933575"/>
            <a:ext cx="3333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9" name="">
            <a:extLst xmlns:a="http://schemas.openxmlformats.org/drawingml/2006/main">
              <a:ext uri="{FF2B5EF4-FFF2-40B4-BE49-F238E27FC236}">
                <a16:creationId xmlns:a16="http://schemas.microsoft.com/office/drawing/2014/main" id="{2EA1705F-A0C1-4964-A450-D8CAA49D8C25}"/>
              </a:ext>
            </a:extLst>
          </p:cNvPr>
          <p:cNvSpPr>
            <a:spLocks xmlns:a="http://schemas.openxmlformats.org/drawingml/2006/main" noGrp="1"/>
          </p:cNvSpPr>
          <p:nvPr/>
        </p:nvSpPr>
        <p:spPr>
          <a:xfrm xmlns:a="http://schemas.openxmlformats.org/drawingml/2006/main">
            <a:off x="6172200" y="18954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0" name="text-24">
            <a:extLst xmlns:a="http://schemas.openxmlformats.org/drawingml/2006/main">
              <a:ext uri="{FF2B5EF4-FFF2-40B4-BE49-F238E27FC236}">
                <a16:creationId xmlns:a16="http://schemas.microsoft.com/office/drawing/2014/main" id="{D6FBDF73-3E19-439D-8C7D-FB5256C89B02}"/>
              </a:ext>
            </a:extLst>
          </p:cNvPr>
          <p:cNvSpPr>
            <a:spLocks xmlns:a="http://schemas.openxmlformats.org/drawingml/2006/main" noGrp="1"/>
          </p:cNvSpPr>
          <p:nvPr/>
        </p:nvSpPr>
        <p:spPr>
          <a:xfrm xmlns:a="http://schemas.openxmlformats.org/drawingml/2006/main">
            <a:off x="6305550" y="1685925"/>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172C36"/>
                </a:solidFill>
                <a:latin typeface="Helvetica Neue"/>
                <a:ea typeface="Helvetica Neue"/>
                <a:cs typeface="Helvetica Neue"/>
              </a:defRPr>
            </a:pPr>
            <a:r>
              <a:rPr sz="1800" b="1">
                <a:solidFill>
                  <a:srgbClr val="172C36"/>
                </a:solidFill>
                <a:latin typeface="Helvetica Neue"/>
                <a:ea typeface="Helvetica Neue"/>
                <a:cs typeface="Helvetica Neue"/>
              </a:rPr>
              <a:t>Check each slot</a:t>
            </a:r>
          </a:p>
        </p:txBody>
      </p:sp>
      <p:sp>
        <p:nvSpPr>
          <p:cNvPr id="11" name="">
            <a:extLst xmlns:a="http://schemas.openxmlformats.org/drawingml/2006/main">
              <a:ext uri="{FF2B5EF4-FFF2-40B4-BE49-F238E27FC236}">
                <a16:creationId xmlns:a16="http://schemas.microsoft.com/office/drawing/2014/main" id="{CCFE36FC-C0D4-4AD8-B79A-DD355AE092E9}"/>
              </a:ext>
            </a:extLst>
          </p:cNvPr>
          <p:cNvSpPr>
            <a:spLocks xmlns:a="http://schemas.openxmlformats.org/drawingml/2006/main" noGrp="1"/>
          </p:cNvSpPr>
          <p:nvPr/>
        </p:nvSpPr>
        <p:spPr>
          <a:xfrm xmlns:a="http://schemas.openxmlformats.org/drawingml/2006/main" flipV="0">
            <a:off x="8763000" y="1933575"/>
            <a:ext cx="3333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2" name="">
            <a:extLst xmlns:a="http://schemas.openxmlformats.org/drawingml/2006/main">
              <a:ext uri="{FF2B5EF4-FFF2-40B4-BE49-F238E27FC236}">
                <a16:creationId xmlns:a16="http://schemas.microsoft.com/office/drawing/2014/main" id="{BF9491A7-0BB8-4E80-80A6-B1E5A277FF71}"/>
              </a:ext>
            </a:extLst>
          </p:cNvPr>
          <p:cNvSpPr>
            <a:spLocks xmlns:a="http://schemas.openxmlformats.org/drawingml/2006/main" noGrp="1"/>
          </p:cNvSpPr>
          <p:nvPr/>
        </p:nvSpPr>
        <p:spPr>
          <a:xfrm xmlns:a="http://schemas.openxmlformats.org/drawingml/2006/main">
            <a:off x="9020175" y="18954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3" name="text-25">
            <a:extLst xmlns:a="http://schemas.openxmlformats.org/drawingml/2006/main">
              <a:ext uri="{FF2B5EF4-FFF2-40B4-BE49-F238E27FC236}">
                <a16:creationId xmlns:a16="http://schemas.microsoft.com/office/drawing/2014/main" id="{517BC72A-93E7-4BBE-BDE3-5C9A92B5243F}"/>
              </a:ext>
            </a:extLst>
          </p:cNvPr>
          <p:cNvSpPr>
            <a:spLocks xmlns:a="http://schemas.openxmlformats.org/drawingml/2006/main" noGrp="1"/>
          </p:cNvSpPr>
          <p:nvPr/>
        </p:nvSpPr>
        <p:spPr>
          <a:xfrm xmlns:a="http://schemas.openxmlformats.org/drawingml/2006/main">
            <a:off x="9153525" y="1685925"/>
            <a:ext cx="2428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a:solidFill>
                  <a:srgbClr val="172C36"/>
                </a:solidFill>
                <a:latin typeface="Helvetica Neue"/>
                <a:ea typeface="Helvetica Neue"/>
                <a:cs typeface="Helvetica Neue"/>
              </a:defRPr>
            </a:pPr>
            <a:r>
              <a:rPr sz="1800" b="1">
                <a:solidFill>
                  <a:srgbClr val="172C36"/>
                </a:solidFill>
                <a:latin typeface="Helvetica Neue"/>
                <a:ea typeface="Helvetica Neue"/>
                <a:cs typeface="Helvetica Neue"/>
              </a:rPr>
              <a:t>Map or keep pending</a:t>
            </a:r>
          </a:p>
        </p:txBody>
      </p:sp>
      <p:sp>
        <p:nvSpPr>
          <p:cNvPr id="14" name="shape-26">
            <a:extLst xmlns:a="http://schemas.openxmlformats.org/drawingml/2006/main">
              <a:ext uri="{FF2B5EF4-FFF2-40B4-BE49-F238E27FC236}">
                <a16:creationId xmlns:a16="http://schemas.microsoft.com/office/drawing/2014/main" id="{B59B88D2-704C-45FC-B089-9EC1B4CA95FB}"/>
              </a:ext>
            </a:extLst>
          </p:cNvPr>
          <p:cNvSpPr>
            <a:spLocks xmlns:a="http://schemas.openxmlformats.org/drawingml/2006/main" noGrp="1"/>
          </p:cNvSpPr>
          <p:nvPr/>
        </p:nvSpPr>
        <p:spPr>
          <a:xfrm xmlns:a="http://schemas.openxmlformats.org/drawingml/2006/main">
            <a:off x="609600" y="2590800"/>
            <a:ext cx="3829050" cy="2095500"/>
          </a:xfrm>
          <a:prstGeom xmlns:a="http://schemas.openxmlformats.org/drawingml/2006/main" prst="roundRect">
            <a:avLst>
              <a:gd name="adj" fmla="val 4545"/>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PAYMENT definition</a:t>
            </a:r>
          </a:p>
          <a:p xmlns:a="http://schemas.openxmlformats.org/drawingml/2006/main">
            <a:r>
              <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payer, recipient, contract</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debt, amount, date</a:t>
            </a:r>
          </a:p>
        </p:txBody>
      </p:sp>
      <p:sp>
        <p:nvSpPr>
          <p:cNvPr id="15" name="">
            <a:extLst xmlns:a="http://schemas.openxmlformats.org/drawingml/2006/main">
              <a:ext uri="{FF2B5EF4-FFF2-40B4-BE49-F238E27FC236}">
                <a16:creationId xmlns:a16="http://schemas.microsoft.com/office/drawing/2014/main" id="{8FCDB5CC-DFB0-401F-B893-AB6138352254}"/>
              </a:ext>
            </a:extLst>
          </p:cNvPr>
          <p:cNvSpPr>
            <a:spLocks xmlns:a="http://schemas.openxmlformats.org/drawingml/2006/main" noGrp="1"/>
          </p:cNvSpPr>
          <p:nvPr/>
        </p:nvSpPr>
        <p:spPr>
          <a:xfrm xmlns:a="http://schemas.openxmlformats.org/drawingml/2006/main" flipV="0">
            <a:off x="4438650" y="3638550"/>
            <a:ext cx="6286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6" name="">
            <a:extLst xmlns:a="http://schemas.openxmlformats.org/drawingml/2006/main">
              <a:ext uri="{FF2B5EF4-FFF2-40B4-BE49-F238E27FC236}">
                <a16:creationId xmlns:a16="http://schemas.microsoft.com/office/drawing/2014/main" id="{9CC40E86-163F-4338-BA43-7522D87D9E31}"/>
              </a:ext>
            </a:extLst>
          </p:cNvPr>
          <p:cNvSpPr>
            <a:spLocks xmlns:a="http://schemas.openxmlformats.org/drawingml/2006/main" noGrp="1"/>
          </p:cNvSpPr>
          <p:nvPr/>
        </p:nvSpPr>
        <p:spPr>
          <a:xfrm xmlns:a="http://schemas.openxmlformats.org/drawingml/2006/main">
            <a:off x="4991100" y="36004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graphicFrame>
        <p:nvGraphicFramePr>
          <p:cNvPr id="38" name=""/>
          <p:cNvGraphicFramePr/>
          <p:nvPr/>
        </p:nvGraphicFramePr>
        <p:xfrm>
          <a:off xmlns:a="http://schemas.openxmlformats.org/drawingml/2006/main" x="5067300" y="2505075"/>
          <a:ext xmlns:a="http://schemas.openxmlformats.org/drawingml/2006/main" cx="6515100" cy="2371725"/>
        </p:xfrm>
        <a:graphic xmlns:a="http://schemas.openxmlformats.org/drawingml/2006/main">
          <a:graphicData uri="http://schemas.openxmlformats.org/drawingml/2006/table">
            <a:tbl>
              <a:tblPr firstRow="0" bandRow="0"/>
              <a:tblGrid>
                <a:gridCol w="2895600"/>
                <a:gridCol w="1076325"/>
                <a:gridCol w="2543175"/>
              </a:tblGrid>
              <a:tr h="592931">
                <a:tc>
                  <a:txBody>
                    <a:bodyPr lIns="152400" tIns="114300" rIns="152400" bIns="114300">
                      <a:noAutofit/>
                    </a:bodyPr>
                    <a:lstStyle/>
                    <a:p>
                      <a:r>
                        <a:rPr sz="1800" b="1">
                          <a:solidFill>
                            <a:srgbClr val="172C36"/>
                          </a:solidFill>
                          <a:latin typeface="Helvetica Neue"/>
                          <a:ea typeface="Helvetica Neue"/>
                          <a:cs typeface="Helvetica Neue"/>
                        </a:rPr>
                        <a:t>Instance</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Debt</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Source status</a:t>
                      </a:r>
                    </a:p>
                  </a:txBody>
                  <a:tcPr marL="91440" marR="91440" marT="45720" marB="45720" anchor="ctr">
                    <a:solidFill>
                      <a:srgbClr val="EAF0F6"/>
                    </a:solidFill>
                  </a:tcPr>
                </a:tc>
              </a:tr>
              <a:tr h="592931">
                <a:tc>
                  <a:txBody>
                    <a:bodyPr lIns="152400" tIns="114300" rIns="152400" bIns="114300">
                      <a:noAutofit/>
                    </a:bodyPr>
                    <a:lstStyle/>
                    <a:p>
                      <a:r>
                        <a:rPr sz="1875" b="0">
                          <a:solidFill>
                            <a:srgbClr val="172C36"/>
                          </a:solidFill>
                          <a:latin typeface="Helvetica Neue"/>
                          <a:ea typeface="Helvetica Neue"/>
                          <a:cs typeface="Helvetica Neue"/>
                        </a:rPr>
                        <a:t>p1: full payment</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D2</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COURT_FOUND</a:t>
                      </a:r>
                    </a:p>
                  </a:txBody>
                  <a:tcPr marL="91440" marR="91440" marT="45720" marB="45720" anchor="ctr">
                    <a:solidFill>
                      <a:srgbClr val="FFFFFF"/>
                    </a:solidFill>
                  </a:tcPr>
                </a:tc>
              </a:tr>
              <a:tr h="592931">
                <a:tc>
                  <a:txBody>
                    <a:bodyPr lIns="152400" tIns="114300" rIns="152400" bIns="114300">
                      <a:noAutofit/>
                    </a:bodyPr>
                    <a:lstStyle/>
                    <a:p>
                      <a:r>
                        <a:rPr sz="1875" b="0">
                          <a:solidFill>
                            <a:srgbClr val="172C36"/>
                          </a:solidFill>
                          <a:latin typeface="Helvetica Neue"/>
                          <a:ea typeface="Helvetica Neue"/>
                          <a:cs typeface="Helvetica Neue"/>
                        </a:rPr>
                        <a:t>p2: partial payment</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COURT_FOUND</a:t>
                      </a:r>
                    </a:p>
                  </a:txBody>
                  <a:tcPr marL="91440" marR="91440" marT="45720" marB="45720" anchor="ctr">
                    <a:solidFill>
                      <a:srgbClr val="FFFFFF"/>
                    </a:solidFill>
                  </a:tcPr>
                </a:tc>
              </a:tr>
              <a:tr h="592931">
                <a:tc>
                  <a:txBody>
                    <a:bodyPr lIns="152400" tIns="114300" rIns="152400" bIns="114300">
                      <a:noAutofit/>
                    </a:bodyPr>
                    <a:lstStyle/>
                    <a:p>
                      <a:r>
                        <a:rPr sz="1875" b="0">
                          <a:solidFill>
                            <a:srgbClr val="172C36"/>
                          </a:solidFill>
                          <a:latin typeface="Helvetica Neue"/>
                          <a:ea typeface="Helvetica Neue"/>
                          <a:cs typeface="Helvetica Neue"/>
                        </a:rPr>
                        <a:t>p3: full payment</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D1</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ALLEGED</a:t>
                      </a:r>
                    </a:p>
                  </a:txBody>
                  <a:tcPr marL="91440" marR="91440" marT="45720" marB="45720" anchor="ctr">
                    <a:solidFill>
                      <a:srgbClr val="FFFFFF"/>
                    </a:solidFill>
                  </a:tcPr>
                </a:tc>
              </a:tr>
            </a:tbl>
          </a:graphicData>
        </a:graphic>
      </p:graphicFrame>
      <p:sp>
        <p:nvSpPr>
          <p:cNvPr id="18" name="text-27">
            <a:extLst xmlns:a="http://schemas.openxmlformats.org/drawingml/2006/main">
              <a:ext uri="{FF2B5EF4-FFF2-40B4-BE49-F238E27FC236}">
                <a16:creationId xmlns:a16="http://schemas.microsoft.com/office/drawing/2014/main" id="{FBB3B62A-C89D-41CE-8541-BD49412463E6}"/>
              </a:ext>
            </a:extLst>
          </p:cNvPr>
          <p:cNvSpPr>
            <a:spLocks xmlns:a="http://schemas.openxmlformats.org/drawingml/2006/main" noGrp="1"/>
          </p:cNvSpPr>
          <p:nvPr/>
        </p:nvSpPr>
        <p:spPr>
          <a:xfrm xmlns:a="http://schemas.openxmlformats.org/drawingml/2006/main">
            <a:off x="609600" y="528637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Same type</a:t>
            </a:r>
          </a:p>
        </p:txBody>
      </p:sp>
      <p:sp>
        <p:nvSpPr>
          <p:cNvPr id="19" name="text-28">
            <a:extLst xmlns:a="http://schemas.openxmlformats.org/drawingml/2006/main">
              <a:ext uri="{FF2B5EF4-FFF2-40B4-BE49-F238E27FC236}">
                <a16:creationId xmlns:a16="http://schemas.microsoft.com/office/drawing/2014/main" id="{52157792-D223-465E-8075-4F5308FE2C0F}"/>
              </a:ext>
            </a:extLst>
          </p:cNvPr>
          <p:cNvSpPr>
            <a:spLocks xmlns:a="http://schemas.openxmlformats.org/drawingml/2006/main" noGrp="1"/>
          </p:cNvSpPr>
          <p:nvPr/>
        </p:nvSpPr>
        <p:spPr>
          <a:xfrm xmlns:a="http://schemas.openxmlformats.org/drawingml/2006/main">
            <a:off x="3371850" y="5238750"/>
            <a:ext cx="8172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Different parameters and assertions remain distinct</a:t>
            </a:r>
          </a:p>
        </p:txBody>
      </p:sp>
      <p:sp>
        <p:nvSpPr>
          <p:cNvPr id="20" name="">
            <a:extLst xmlns:a="http://schemas.openxmlformats.org/drawingml/2006/main">
              <a:ext uri="{FF2B5EF4-FFF2-40B4-BE49-F238E27FC236}">
                <a16:creationId xmlns:a16="http://schemas.microsoft.com/office/drawing/2014/main" id="{BC67BD74-C342-47A6-B8E6-6D57CB825002}"/>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1" name="text-29">
            <a:extLst xmlns:a="http://schemas.openxmlformats.org/drawingml/2006/main">
              <a:ext uri="{FF2B5EF4-FFF2-40B4-BE49-F238E27FC236}">
                <a16:creationId xmlns:a16="http://schemas.microsoft.com/office/drawing/2014/main" id="{88B81507-8B7B-4B2F-ACD5-19369781D1BE}"/>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ClassMATe / GraphRefine inform definition revision and extraction repair. A shared type does not grant substitution.</a:t>
            </a:r>
          </a:p>
        </p:txBody>
      </p:sp>
    </p:spTree>
    <p:extLst>
      <p:ext uri="{BB962C8B-B14F-4D97-AF65-F5344CB8AC3E}">
        <p14:creationId xmlns:p14="http://schemas.microsoft.com/office/powerpoint/2010/main" val="10590902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30">
            <a:extLst xmlns:a="http://schemas.openxmlformats.org/drawingml/2006/main">
              <a:ext uri="{FF2B5EF4-FFF2-40B4-BE49-F238E27FC236}">
                <a16:creationId xmlns:a16="http://schemas.microsoft.com/office/drawing/2014/main" id="{43B0B574-E405-4A25-9D8E-68C880F1BB89}"/>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A. A qualifier blocks only the uses it affects</a:t>
            </a:r>
          </a:p>
        </p:txBody>
      </p:sp>
      <p:sp>
        <p:nvSpPr>
          <p:cNvPr id="2" name="text-31">
            <a:extLst xmlns:a="http://schemas.openxmlformats.org/drawingml/2006/main">
              <a:ext uri="{FF2B5EF4-FFF2-40B4-BE49-F238E27FC236}">
                <a16:creationId xmlns:a16="http://schemas.microsoft.com/office/drawing/2014/main" id="{A96F893E-B310-4E2E-BD7B-000EFD07D6AF}"/>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Each query declares which fields and semantic conditions it requires</a:t>
            </a:r>
          </a:p>
        </p:txBody>
      </p:sp>
      <p:sp>
        <p:nvSpPr>
          <p:cNvPr id="3" name="text-32">
            <a:extLst xmlns:a="http://schemas.openxmlformats.org/drawingml/2006/main">
              <a:ext uri="{FF2B5EF4-FFF2-40B4-BE49-F238E27FC236}">
                <a16:creationId xmlns:a16="http://schemas.microsoft.com/office/drawing/2014/main" id="{3A1BF141-322A-46E5-9FE9-987B5BAB4419}"/>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03</a:t>
            </a:r>
          </a:p>
        </p:txBody>
      </p:sp>
      <p:sp>
        <p:nvSpPr>
          <p:cNvPr id="4" name="shape-33">
            <a:extLst xmlns:a="http://schemas.openxmlformats.org/drawingml/2006/main">
              <a:ext uri="{FF2B5EF4-FFF2-40B4-BE49-F238E27FC236}">
                <a16:creationId xmlns:a16="http://schemas.microsoft.com/office/drawing/2014/main" id="{A82C0571-D119-427D-A596-DD16E13F8777}"/>
              </a:ext>
            </a:extLst>
          </p:cNvPr>
          <p:cNvSpPr>
            <a:spLocks xmlns:a="http://schemas.openxmlformats.org/drawingml/2006/main" noGrp="1"/>
          </p:cNvSpPr>
          <p:nvPr/>
        </p:nvSpPr>
        <p:spPr>
          <a:xfrm xmlns:a="http://schemas.openxmlformats.org/drawingml/2006/main">
            <a:off x="609600" y="1695450"/>
            <a:ext cx="485775"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shape-34">
            <a:extLst xmlns:a="http://schemas.openxmlformats.org/drawingml/2006/main">
              <a:ext uri="{FF2B5EF4-FFF2-40B4-BE49-F238E27FC236}">
                <a16:creationId xmlns:a16="http://schemas.microsoft.com/office/drawing/2014/main" id="{113E82B1-C594-4028-9C83-15B1FF672911}"/>
              </a:ext>
            </a:extLst>
          </p:cNvPr>
          <p:cNvSpPr>
            <a:spLocks xmlns:a="http://schemas.openxmlformats.org/drawingml/2006/main" noGrp="1"/>
          </p:cNvSpPr>
          <p:nvPr/>
        </p:nvSpPr>
        <p:spPr>
          <a:xfrm xmlns:a="http://schemas.openxmlformats.org/drawingml/2006/main">
            <a:off x="942975" y="1695450"/>
            <a:ext cx="152400" cy="152400"/>
          </a:xfrm>
          <a:prstGeom xmlns:a="http://schemas.openxmlformats.org/drawingml/2006/main" prst="rect">
            <a:avLst/>
          </a:prstGeom>
          <a:solidFill xmlns:a="http://schemas.openxmlformats.org/drawingml/2006/main">
            <a:srgbClr val="EAF0F6"/>
          </a:solidFill>
          <a:ln xmlns:a="http://schemas.openxmlformats.org/drawingml/2006/main" w="19050">
            <a:solidFill>
              <a:srgbClr val="63758A"/>
            </a:solidFill>
          </a:ln>
        </p:spPr>
      </p:sp>
      <p:sp>
        <p:nvSpPr>
          <p:cNvPr id="6" name="">
            <a:extLst xmlns:a="http://schemas.openxmlformats.org/drawingml/2006/main">
              <a:ext uri="{FF2B5EF4-FFF2-40B4-BE49-F238E27FC236}">
                <a16:creationId xmlns:a16="http://schemas.microsoft.com/office/drawing/2014/main" id="{0C82E016-4B03-4255-842A-4153720B8958}"/>
              </a:ext>
            </a:extLst>
          </p:cNvPr>
          <p:cNvSpPr>
            <a:spLocks xmlns:a="http://schemas.openxmlformats.org/drawingml/2006/main" noGrp="1"/>
          </p:cNvSpPr>
          <p:nvPr/>
        </p:nvSpPr>
        <p:spPr>
          <a:xfrm xmlns:a="http://schemas.openxmlformats.org/drawingml/2006/main" flipV="0">
            <a:off x="723900" y="19812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85E59AAB-E186-45CE-B0C4-DB1134EDA16B}"/>
              </a:ext>
            </a:extLst>
          </p:cNvPr>
          <p:cNvSpPr>
            <a:spLocks xmlns:a="http://schemas.openxmlformats.org/drawingml/2006/main" noGrp="1"/>
          </p:cNvSpPr>
          <p:nvPr/>
        </p:nvSpPr>
        <p:spPr>
          <a:xfrm xmlns:a="http://schemas.openxmlformats.org/drawingml/2006/main" flipV="0">
            <a:off x="723900" y="20955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
            <a:extLst xmlns:a="http://schemas.openxmlformats.org/drawingml/2006/main">
              <a:ext uri="{FF2B5EF4-FFF2-40B4-BE49-F238E27FC236}">
                <a16:creationId xmlns:a16="http://schemas.microsoft.com/office/drawing/2014/main" id="{89359C0F-2F2D-4323-AA5E-52FE7C4F5CF3}"/>
              </a:ext>
            </a:extLst>
          </p:cNvPr>
          <p:cNvSpPr>
            <a:spLocks xmlns:a="http://schemas.openxmlformats.org/drawingml/2006/main" noGrp="1"/>
          </p:cNvSpPr>
          <p:nvPr/>
        </p:nvSpPr>
        <p:spPr>
          <a:xfrm xmlns:a="http://schemas.openxmlformats.org/drawingml/2006/main" flipV="0">
            <a:off x="723900" y="22098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9" name="text-35">
            <a:extLst xmlns:a="http://schemas.openxmlformats.org/drawingml/2006/main">
              <a:ext uri="{FF2B5EF4-FFF2-40B4-BE49-F238E27FC236}">
                <a16:creationId xmlns:a16="http://schemas.microsoft.com/office/drawing/2014/main" id="{376DF639-0532-4A2B-A4FB-FC47C53C551E}"/>
              </a:ext>
            </a:extLst>
          </p:cNvPr>
          <p:cNvSpPr>
            <a:spLocks xmlns:a="http://schemas.openxmlformats.org/drawingml/2006/main" noGrp="1"/>
          </p:cNvSpPr>
          <p:nvPr/>
        </p:nvSpPr>
        <p:spPr>
          <a:xfrm xmlns:a="http://schemas.openxmlformats.org/drawingml/2006/main">
            <a:off x="1362075" y="1638300"/>
            <a:ext cx="102203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“Full payment was made, but only for debt D2.”</a:t>
            </a:r>
          </a:p>
        </p:txBody>
      </p:sp>
      <p:sp>
        <p:nvSpPr>
          <p:cNvPr id="10" name="text-36">
            <a:extLst xmlns:a="http://schemas.openxmlformats.org/drawingml/2006/main">
              <a:ext uri="{FF2B5EF4-FFF2-40B4-BE49-F238E27FC236}">
                <a16:creationId xmlns:a16="http://schemas.microsoft.com/office/drawing/2014/main" id="{849AAE53-3CF8-4522-9B37-23F3FDA26117}"/>
              </a:ext>
            </a:extLst>
          </p:cNvPr>
          <p:cNvSpPr>
            <a:spLocks xmlns:a="http://schemas.openxmlformats.org/drawingml/2006/main" noGrp="1"/>
          </p:cNvSpPr>
          <p:nvPr/>
        </p:nvSpPr>
        <p:spPr>
          <a:xfrm xmlns:a="http://schemas.openxmlformats.org/drawingml/2006/main">
            <a:off x="1362075" y="2266950"/>
            <a:ext cx="971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44948"/>
                </a:solidFill>
                <a:latin typeface="Helvetica Neue"/>
                <a:ea typeface="Helvetica Neue"/>
                <a:cs typeface="Helvetica Neue"/>
              </a:defRPr>
            </a:pPr>
            <a:r>
              <a:rPr sz="1950" b="0">
                <a:solidFill>
                  <a:srgbClr val="B44948"/>
                </a:solidFill>
                <a:latin typeface="Helvetica Neue"/>
                <a:ea typeface="Helvetica Neue"/>
                <a:cs typeface="Helvetica Neue"/>
              </a:rPr>
              <a:t>The debt qualifier is still unparsed.</a:t>
            </a:r>
          </a:p>
        </p:txBody>
      </p:sp>
      <p:sp>
        <p:nvSpPr>
          <p:cNvPr id="11" name="shape-37">
            <a:extLst xmlns:a="http://schemas.openxmlformats.org/drawingml/2006/main">
              <a:ext uri="{FF2B5EF4-FFF2-40B4-BE49-F238E27FC236}">
                <a16:creationId xmlns:a16="http://schemas.microsoft.com/office/drawing/2014/main" id="{ED71203B-32F5-4AB7-B4FD-EF71EBF4CD7F}"/>
              </a:ext>
            </a:extLst>
          </p:cNvPr>
          <p:cNvSpPr>
            <a:spLocks xmlns:a="http://schemas.openxmlformats.org/drawingml/2006/main" noGrp="1"/>
          </p:cNvSpPr>
          <p:nvPr/>
        </p:nvSpPr>
        <p:spPr>
          <a:xfrm xmlns:a="http://schemas.openxmlformats.org/drawingml/2006/main">
            <a:off x="609600" y="3248025"/>
            <a:ext cx="3324225" cy="1304925"/>
          </a:xfrm>
          <a:prstGeom xmlns:a="http://schemas.openxmlformats.org/drawingml/2006/main" prst="roundRect">
            <a:avLst>
              <a:gd name="adj" fmla="val 7299"/>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p1: PAYMENT</a:t>
            </a:r>
          </a:p>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Unresolved debt scope</a:t>
            </a:r>
          </a:p>
        </p:txBody>
      </p:sp>
      <p:sp>
        <p:nvSpPr>
          <p:cNvPr id="12" name="">
            <a:extLst xmlns:a="http://schemas.openxmlformats.org/drawingml/2006/main">
              <a:ext uri="{FF2B5EF4-FFF2-40B4-BE49-F238E27FC236}">
                <a16:creationId xmlns:a16="http://schemas.microsoft.com/office/drawing/2014/main" id="{C31FA149-0D68-470E-9E77-E51451470A20}"/>
              </a:ext>
            </a:extLst>
          </p:cNvPr>
          <p:cNvSpPr>
            <a:spLocks xmlns:a="http://schemas.openxmlformats.org/drawingml/2006/main" noGrp="1"/>
          </p:cNvSpPr>
          <p:nvPr/>
        </p:nvSpPr>
        <p:spPr>
          <a:xfrm xmlns:a="http://schemas.openxmlformats.org/drawingml/2006/main" flipV="0">
            <a:off x="3933825" y="3581400"/>
            <a:ext cx="8191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3" name="">
            <a:extLst xmlns:a="http://schemas.openxmlformats.org/drawingml/2006/main">
              <a:ext uri="{FF2B5EF4-FFF2-40B4-BE49-F238E27FC236}">
                <a16:creationId xmlns:a16="http://schemas.microsoft.com/office/drawing/2014/main" id="{5CFE6BDB-B943-4F41-9FE4-A8D9DCC0B9F4}"/>
              </a:ext>
            </a:extLst>
          </p:cNvPr>
          <p:cNvSpPr>
            <a:spLocks xmlns:a="http://schemas.openxmlformats.org/drawingml/2006/main" noGrp="1"/>
          </p:cNvSpPr>
          <p:nvPr/>
        </p:nvSpPr>
        <p:spPr>
          <a:xfrm xmlns:a="http://schemas.openxmlformats.org/drawingml/2006/main" flipV="0">
            <a:off x="4752975" y="3257550"/>
            <a:ext cx="0" cy="32385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4" name="">
            <a:extLst xmlns:a="http://schemas.openxmlformats.org/drawingml/2006/main">
              <a:ext uri="{FF2B5EF4-FFF2-40B4-BE49-F238E27FC236}">
                <a16:creationId xmlns:a16="http://schemas.microsoft.com/office/drawing/2014/main" id="{954BBE36-0385-462E-B4F9-7310C9361072}"/>
              </a:ext>
            </a:extLst>
          </p:cNvPr>
          <p:cNvSpPr>
            <a:spLocks xmlns:a="http://schemas.openxmlformats.org/drawingml/2006/main" noGrp="1"/>
          </p:cNvSpPr>
          <p:nvPr/>
        </p:nvSpPr>
        <p:spPr>
          <a:xfrm xmlns:a="http://schemas.openxmlformats.org/drawingml/2006/main" flipV="0">
            <a:off x="4752975" y="3257550"/>
            <a:ext cx="6667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5" name="">
            <a:extLst xmlns:a="http://schemas.openxmlformats.org/drawingml/2006/main">
              <a:ext uri="{FF2B5EF4-FFF2-40B4-BE49-F238E27FC236}">
                <a16:creationId xmlns:a16="http://schemas.microsoft.com/office/drawing/2014/main" id="{935EBE48-3B0A-4A6D-90D4-9E422F089865}"/>
              </a:ext>
            </a:extLst>
          </p:cNvPr>
          <p:cNvSpPr>
            <a:spLocks xmlns:a="http://schemas.openxmlformats.org/drawingml/2006/main" noGrp="1"/>
          </p:cNvSpPr>
          <p:nvPr/>
        </p:nvSpPr>
        <p:spPr>
          <a:xfrm xmlns:a="http://schemas.openxmlformats.org/drawingml/2006/main">
            <a:off x="5343525" y="32194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6" name="">
            <a:extLst xmlns:a="http://schemas.openxmlformats.org/drawingml/2006/main">
              <a:ext uri="{FF2B5EF4-FFF2-40B4-BE49-F238E27FC236}">
                <a16:creationId xmlns:a16="http://schemas.microsoft.com/office/drawing/2014/main" id="{964D7F76-1662-4CA4-928E-2CC8342732C3}"/>
              </a:ext>
            </a:extLst>
          </p:cNvPr>
          <p:cNvSpPr>
            <a:spLocks xmlns:a="http://schemas.openxmlformats.org/drawingml/2006/main" noGrp="1"/>
          </p:cNvSpPr>
          <p:nvPr/>
        </p:nvSpPr>
        <p:spPr>
          <a:xfrm xmlns:a="http://schemas.openxmlformats.org/drawingml/2006/main" flipV="0">
            <a:off x="3933825" y="4210050"/>
            <a:ext cx="819150" cy="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17" name="">
            <a:extLst xmlns:a="http://schemas.openxmlformats.org/drawingml/2006/main">
              <a:ext uri="{FF2B5EF4-FFF2-40B4-BE49-F238E27FC236}">
                <a16:creationId xmlns:a16="http://schemas.microsoft.com/office/drawing/2014/main" id="{A8861638-E955-4EC5-946F-A954330D3840}"/>
              </a:ext>
            </a:extLst>
          </p:cNvPr>
          <p:cNvSpPr>
            <a:spLocks xmlns:a="http://schemas.openxmlformats.org/drawingml/2006/main" noGrp="1"/>
          </p:cNvSpPr>
          <p:nvPr/>
        </p:nvSpPr>
        <p:spPr>
          <a:xfrm xmlns:a="http://schemas.openxmlformats.org/drawingml/2006/main" flipV="0">
            <a:off x="4752975" y="4210050"/>
            <a:ext cx="0" cy="38100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18" name="">
            <a:extLst xmlns:a="http://schemas.openxmlformats.org/drawingml/2006/main">
              <a:ext uri="{FF2B5EF4-FFF2-40B4-BE49-F238E27FC236}">
                <a16:creationId xmlns:a16="http://schemas.microsoft.com/office/drawing/2014/main" id="{08B38851-B6B9-4171-B056-C274F0D13DE3}"/>
              </a:ext>
            </a:extLst>
          </p:cNvPr>
          <p:cNvSpPr>
            <a:spLocks xmlns:a="http://schemas.openxmlformats.org/drawingml/2006/main" noGrp="1"/>
          </p:cNvSpPr>
          <p:nvPr/>
        </p:nvSpPr>
        <p:spPr>
          <a:xfrm xmlns:a="http://schemas.openxmlformats.org/drawingml/2006/main" flipV="0">
            <a:off x="4752975" y="4591050"/>
            <a:ext cx="666750" cy="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19" name="">
            <a:extLst xmlns:a="http://schemas.openxmlformats.org/drawingml/2006/main">
              <a:ext uri="{FF2B5EF4-FFF2-40B4-BE49-F238E27FC236}">
                <a16:creationId xmlns:a16="http://schemas.microsoft.com/office/drawing/2014/main" id="{382F3245-E35D-402A-98BA-A7FDC791D623}"/>
              </a:ext>
            </a:extLst>
          </p:cNvPr>
          <p:cNvSpPr>
            <a:spLocks xmlns:a="http://schemas.openxmlformats.org/drawingml/2006/main" noGrp="1"/>
          </p:cNvSpPr>
          <p:nvPr/>
        </p:nvSpPr>
        <p:spPr>
          <a:xfrm xmlns:a="http://schemas.openxmlformats.org/drawingml/2006/main">
            <a:off x="5343525" y="45529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B44948"/>
          </a:solidFill>
          <a:ln xmlns:a="http://schemas.openxmlformats.org/drawingml/2006/main" w="9525">
            <a:solidFill>
              <a:srgbClr val="B44948"/>
            </a:solidFill>
          </a:ln>
        </p:spPr>
      </p:sp>
      <p:sp>
        <p:nvSpPr>
          <p:cNvPr id="20" name="shape-38">
            <a:extLst xmlns:a="http://schemas.openxmlformats.org/drawingml/2006/main">
              <a:ext uri="{FF2B5EF4-FFF2-40B4-BE49-F238E27FC236}">
                <a16:creationId xmlns:a16="http://schemas.microsoft.com/office/drawing/2014/main" id="{5FB57DE5-5221-4DCD-9E3F-B3E1CEA2E87E}"/>
              </a:ext>
            </a:extLst>
          </p:cNvPr>
          <p:cNvSpPr>
            <a:spLocks xmlns:a="http://schemas.openxmlformats.org/drawingml/2006/main" noGrp="1"/>
          </p:cNvSpPr>
          <p:nvPr/>
        </p:nvSpPr>
        <p:spPr>
          <a:xfrm xmlns:a="http://schemas.openxmlformats.org/drawingml/2006/main">
            <a:off x="5419725" y="2867025"/>
            <a:ext cx="6162675" cy="790575"/>
          </a:xfrm>
          <a:prstGeom xmlns:a="http://schemas.openxmlformats.org/drawingml/2006/main" prst="roundRect">
            <a:avLst>
              <a:gd name="adj" fmla="val 12048"/>
            </a:avLst>
          </a:prstGeom>
          <a:solidFill xmlns:a="http://schemas.openxmlformats.org/drawingml/2006/main">
            <a:srgbClr val="E5F1E3"/>
          </a:solidFill>
          <a:ln xmlns:a="http://schemas.openxmlformats.org/drawingml/2006/main" w="19050">
            <a:solidFill>
              <a:srgbClr val="5A8A55"/>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“A payment is recorded”</a:t>
            </a:r>
          </a:p>
        </p:txBody>
      </p:sp>
      <p:sp>
        <p:nvSpPr>
          <p:cNvPr id="21" name="text-39">
            <a:extLst xmlns:a="http://schemas.openxmlformats.org/drawingml/2006/main">
              <a:ext uri="{FF2B5EF4-FFF2-40B4-BE49-F238E27FC236}">
                <a16:creationId xmlns:a16="http://schemas.microsoft.com/office/drawing/2014/main" id="{1D96D358-D213-4248-A95D-9474FE688CB6}"/>
              </a:ext>
            </a:extLst>
          </p:cNvPr>
          <p:cNvSpPr>
            <a:spLocks xmlns:a="http://schemas.openxmlformats.org/drawingml/2006/main" noGrp="1"/>
          </p:cNvSpPr>
          <p:nvPr/>
        </p:nvSpPr>
        <p:spPr>
          <a:xfrm xmlns:a="http://schemas.openxmlformats.org/drawingml/2006/main">
            <a:off x="5534025" y="3743325"/>
            <a:ext cx="6048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A8A55"/>
                </a:solidFill>
                <a:latin typeface="Helvetica Neue"/>
                <a:ea typeface="Helvetica Neue"/>
                <a:cs typeface="Helvetica Neue"/>
              </a:defRPr>
            </a:pPr>
            <a:r>
              <a:rPr sz="1800" b="0">
                <a:solidFill>
                  <a:srgbClr val="5A8A55"/>
                </a:solidFill>
                <a:latin typeface="Helvetica Neue"/>
                <a:ea typeface="Helvetica Neue"/>
                <a:cs typeface="Helvetica Neue"/>
              </a:rPr>
              <a:t>Allowed only through a reviewed projection</a:t>
            </a:r>
          </a:p>
        </p:txBody>
      </p:sp>
      <p:sp>
        <p:nvSpPr>
          <p:cNvPr id="22" name="shape-40">
            <a:extLst xmlns:a="http://schemas.openxmlformats.org/drawingml/2006/main">
              <a:ext uri="{FF2B5EF4-FFF2-40B4-BE49-F238E27FC236}">
                <a16:creationId xmlns:a16="http://schemas.microsoft.com/office/drawing/2014/main" id="{288AFABE-A499-4FEF-8592-BDD788B1EAF4}"/>
              </a:ext>
            </a:extLst>
          </p:cNvPr>
          <p:cNvSpPr>
            <a:spLocks xmlns:a="http://schemas.openxmlformats.org/drawingml/2006/main" noGrp="1"/>
          </p:cNvSpPr>
          <p:nvPr/>
        </p:nvSpPr>
        <p:spPr>
          <a:xfrm xmlns:a="http://schemas.openxmlformats.org/drawingml/2006/main">
            <a:off x="5419725" y="4314825"/>
            <a:ext cx="6162675" cy="790575"/>
          </a:xfrm>
          <a:prstGeom xmlns:a="http://schemas.openxmlformats.org/drawingml/2006/main" prst="roundRect">
            <a:avLst>
              <a:gd name="adj" fmla="val 12048"/>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“Debt D1 is fully settled”</a:t>
            </a:r>
          </a:p>
        </p:txBody>
      </p:sp>
      <p:sp>
        <p:nvSpPr>
          <p:cNvPr id="23" name="text-41">
            <a:extLst xmlns:a="http://schemas.openxmlformats.org/drawingml/2006/main">
              <a:ext uri="{FF2B5EF4-FFF2-40B4-BE49-F238E27FC236}">
                <a16:creationId xmlns:a16="http://schemas.microsoft.com/office/drawing/2014/main" id="{B4D755D3-F21C-4CDD-A707-EED7D64D2825}"/>
              </a:ext>
            </a:extLst>
          </p:cNvPr>
          <p:cNvSpPr>
            <a:spLocks xmlns:a="http://schemas.openxmlformats.org/drawingml/2006/main" noGrp="1"/>
          </p:cNvSpPr>
          <p:nvPr/>
        </p:nvSpPr>
        <p:spPr>
          <a:xfrm xmlns:a="http://schemas.openxmlformats.org/drawingml/2006/main">
            <a:off x="5534025" y="5181600"/>
            <a:ext cx="6048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B44948"/>
                </a:solidFill>
                <a:latin typeface="Helvetica Neue"/>
                <a:ea typeface="Helvetica Neue"/>
                <a:cs typeface="Helvetica Neue"/>
              </a:defRPr>
            </a:pPr>
            <a:r>
              <a:rPr sz="1800" b="0">
                <a:solidFill>
                  <a:srgbClr val="B44948"/>
                </a:solidFill>
                <a:latin typeface="Helvetica Neue"/>
                <a:ea typeface="Helvetica Neue"/>
                <a:cs typeface="Helvetica Neue"/>
              </a:rPr>
              <a:t>Blocked: requires the payment’s debt assignment</a:t>
            </a:r>
          </a:p>
        </p:txBody>
      </p:sp>
      <p:sp>
        <p:nvSpPr>
          <p:cNvPr id="24" name="">
            <a:extLst xmlns:a="http://schemas.openxmlformats.org/drawingml/2006/main">
              <a:ext uri="{FF2B5EF4-FFF2-40B4-BE49-F238E27FC236}">
                <a16:creationId xmlns:a16="http://schemas.microsoft.com/office/drawing/2014/main" id="{80388F11-74CD-49D8-99C7-D40D73C2B324}"/>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5" name="text-42">
            <a:extLst xmlns:a="http://schemas.openxmlformats.org/drawingml/2006/main">
              <a:ext uri="{FF2B5EF4-FFF2-40B4-BE49-F238E27FC236}">
                <a16:creationId xmlns:a16="http://schemas.microsoft.com/office/drawing/2014/main" id="{CE557762-CDD5-400C-868F-AC0DBFDB49F9}"/>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After source review: p1 binds to D2. Another complete D1 payment remains usable. Green: allowed. Coral: blocked.</a:t>
            </a:r>
          </a:p>
        </p:txBody>
      </p:sp>
    </p:spTree>
    <p:extLst>
      <p:ext uri="{BB962C8B-B14F-4D97-AF65-F5344CB8AC3E}">
        <p14:creationId xmlns:p14="http://schemas.microsoft.com/office/powerpoint/2010/main" val="10041080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43">
            <a:extLst xmlns:a="http://schemas.openxmlformats.org/drawingml/2006/main">
              <a:ext uri="{FF2B5EF4-FFF2-40B4-BE49-F238E27FC236}">
                <a16:creationId xmlns:a16="http://schemas.microsoft.com/office/drawing/2014/main" id="{4E10AC2E-206A-4ACD-A74D-18227669102E}"/>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B. Relation discovery with execution feedback</a:t>
            </a:r>
          </a:p>
        </p:txBody>
      </p:sp>
      <p:sp>
        <p:nvSpPr>
          <p:cNvPr id="2" name="text-44">
            <a:extLst xmlns:a="http://schemas.openxmlformats.org/drawingml/2006/main">
              <a:ext uri="{FF2B5EF4-FFF2-40B4-BE49-F238E27FC236}">
                <a16:creationId xmlns:a16="http://schemas.microsoft.com/office/drawing/2014/main" id="{B9613B78-9FB4-41AD-88E1-DDE39D8C70DF}"/>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Keep the intended meaning fixed while repairing the query</a:t>
            </a:r>
          </a:p>
        </p:txBody>
      </p:sp>
      <p:sp>
        <p:nvSpPr>
          <p:cNvPr id="3" name="text-45">
            <a:extLst xmlns:a="http://schemas.openxmlformats.org/drawingml/2006/main">
              <a:ext uri="{FF2B5EF4-FFF2-40B4-BE49-F238E27FC236}">
                <a16:creationId xmlns:a16="http://schemas.microsoft.com/office/drawing/2014/main" id="{6025B751-BDA4-49E3-9ED2-12C51BB44A76}"/>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04</a:t>
            </a:r>
          </a:p>
        </p:txBody>
      </p:sp>
      <p:sp>
        <p:nvSpPr>
          <p:cNvPr id="4" name="shape-46">
            <a:extLst xmlns:a="http://schemas.openxmlformats.org/drawingml/2006/main">
              <a:ext uri="{FF2B5EF4-FFF2-40B4-BE49-F238E27FC236}">
                <a16:creationId xmlns:a16="http://schemas.microsoft.com/office/drawing/2014/main" id="{1875ED92-9B58-468D-9491-966CC29ADCA5}"/>
              </a:ext>
            </a:extLst>
          </p:cNvPr>
          <p:cNvSpPr>
            <a:spLocks xmlns:a="http://schemas.openxmlformats.org/drawingml/2006/main" noGrp="1"/>
          </p:cNvSpPr>
          <p:nvPr/>
        </p:nvSpPr>
        <p:spPr>
          <a:xfrm xmlns:a="http://schemas.openxmlformats.org/drawingml/2006/main">
            <a:off x="609600" y="1990725"/>
            <a:ext cx="2400300" cy="962025"/>
          </a:xfrm>
          <a:prstGeom xmlns:a="http://schemas.openxmlformats.org/drawingml/2006/main" prst="roundRect">
            <a:avLst>
              <a:gd name="adj" fmla="val 99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Real connected</a:t>
            </a:r>
          </a:p>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fact fragments</a:t>
            </a:r>
          </a:p>
        </p:txBody>
      </p:sp>
      <p:sp>
        <p:nvSpPr>
          <p:cNvPr id="5" name="">
            <a:extLst xmlns:a="http://schemas.openxmlformats.org/drawingml/2006/main">
              <a:ext uri="{FF2B5EF4-FFF2-40B4-BE49-F238E27FC236}">
                <a16:creationId xmlns:a16="http://schemas.microsoft.com/office/drawing/2014/main" id="{E9771FDD-8492-4D6D-86FE-CD8006BD97F1}"/>
              </a:ext>
            </a:extLst>
          </p:cNvPr>
          <p:cNvSpPr>
            <a:spLocks xmlns:a="http://schemas.openxmlformats.org/drawingml/2006/main" noGrp="1"/>
          </p:cNvSpPr>
          <p:nvPr/>
        </p:nvSpPr>
        <p:spPr>
          <a:xfrm xmlns:a="http://schemas.openxmlformats.org/drawingml/2006/main" flipV="0">
            <a:off x="3009900" y="2476500"/>
            <a:ext cx="4572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6" name="">
            <a:extLst xmlns:a="http://schemas.openxmlformats.org/drawingml/2006/main">
              <a:ext uri="{FF2B5EF4-FFF2-40B4-BE49-F238E27FC236}">
                <a16:creationId xmlns:a16="http://schemas.microsoft.com/office/drawing/2014/main" id="{EE043AB5-7596-49FE-9807-BC9F9ACB3CB1}"/>
              </a:ext>
            </a:extLst>
          </p:cNvPr>
          <p:cNvSpPr>
            <a:spLocks xmlns:a="http://schemas.openxmlformats.org/drawingml/2006/main" noGrp="1"/>
          </p:cNvSpPr>
          <p:nvPr/>
        </p:nvSpPr>
        <p:spPr>
          <a:xfrm xmlns:a="http://schemas.openxmlformats.org/drawingml/2006/main">
            <a:off x="3390900" y="24384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7" name="shape-47">
            <a:extLst xmlns:a="http://schemas.openxmlformats.org/drawingml/2006/main">
              <a:ext uri="{FF2B5EF4-FFF2-40B4-BE49-F238E27FC236}">
                <a16:creationId xmlns:a16="http://schemas.microsoft.com/office/drawing/2014/main" id="{1BEF2067-4DD1-4FBA-BC84-5C68F4EA854C}"/>
              </a:ext>
            </a:extLst>
          </p:cNvPr>
          <p:cNvSpPr>
            <a:spLocks xmlns:a="http://schemas.openxmlformats.org/drawingml/2006/main" noGrp="1"/>
          </p:cNvSpPr>
          <p:nvPr/>
        </p:nvSpPr>
        <p:spPr>
          <a:xfrm xmlns:a="http://schemas.openxmlformats.org/drawingml/2006/main">
            <a:off x="3467100" y="1990725"/>
            <a:ext cx="2400300" cy="962025"/>
          </a:xfrm>
          <a:prstGeom xmlns:a="http://schemas.openxmlformats.org/drawingml/2006/main" prst="roundRect">
            <a:avLst>
              <a:gd name="adj" fmla="val 99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Generalize</a:t>
            </a:r>
          </a:p>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a typed query</a:t>
            </a:r>
          </a:p>
        </p:txBody>
      </p:sp>
      <p:sp>
        <p:nvSpPr>
          <p:cNvPr id="8" name="">
            <a:extLst xmlns:a="http://schemas.openxmlformats.org/drawingml/2006/main">
              <a:ext uri="{FF2B5EF4-FFF2-40B4-BE49-F238E27FC236}">
                <a16:creationId xmlns:a16="http://schemas.microsoft.com/office/drawing/2014/main" id="{2F4E0103-BB87-4D06-BBAE-D389F2A0C620}"/>
              </a:ext>
            </a:extLst>
          </p:cNvPr>
          <p:cNvSpPr>
            <a:spLocks xmlns:a="http://schemas.openxmlformats.org/drawingml/2006/main" noGrp="1"/>
          </p:cNvSpPr>
          <p:nvPr/>
        </p:nvSpPr>
        <p:spPr>
          <a:xfrm xmlns:a="http://schemas.openxmlformats.org/drawingml/2006/main" flipV="0">
            <a:off x="5867400" y="2476500"/>
            <a:ext cx="4572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9" name="">
            <a:extLst xmlns:a="http://schemas.openxmlformats.org/drawingml/2006/main">
              <a:ext uri="{FF2B5EF4-FFF2-40B4-BE49-F238E27FC236}">
                <a16:creationId xmlns:a16="http://schemas.microsoft.com/office/drawing/2014/main" id="{34E957CC-EA44-48B4-A0C0-BEBD5AFB1C07}"/>
              </a:ext>
            </a:extLst>
          </p:cNvPr>
          <p:cNvSpPr>
            <a:spLocks xmlns:a="http://schemas.openxmlformats.org/drawingml/2006/main" noGrp="1"/>
          </p:cNvSpPr>
          <p:nvPr/>
        </p:nvSpPr>
        <p:spPr>
          <a:xfrm xmlns:a="http://schemas.openxmlformats.org/drawingml/2006/main">
            <a:off x="6248400" y="24384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0" name="shape-48">
            <a:extLst xmlns:a="http://schemas.openxmlformats.org/drawingml/2006/main">
              <a:ext uri="{FF2B5EF4-FFF2-40B4-BE49-F238E27FC236}">
                <a16:creationId xmlns:a16="http://schemas.microsoft.com/office/drawing/2014/main" id="{009C533A-9D14-4240-80C7-FF4B88A633C5}"/>
              </a:ext>
            </a:extLst>
          </p:cNvPr>
          <p:cNvSpPr>
            <a:spLocks xmlns:a="http://schemas.openxmlformats.org/drawingml/2006/main" noGrp="1"/>
          </p:cNvSpPr>
          <p:nvPr/>
        </p:nvSpPr>
        <p:spPr>
          <a:xfrm xmlns:a="http://schemas.openxmlformats.org/drawingml/2006/main">
            <a:off x="6324600" y="1990725"/>
            <a:ext cx="2400300" cy="962025"/>
          </a:xfrm>
          <a:prstGeom xmlns:a="http://schemas.openxmlformats.org/drawingml/2006/main" prst="roundRect">
            <a:avLst>
              <a:gd name="adj" fmla="val 99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Execute on</a:t>
            </a:r>
          </a:p>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case records</a:t>
            </a:r>
          </a:p>
        </p:txBody>
      </p:sp>
      <p:sp>
        <p:nvSpPr>
          <p:cNvPr id="11" name="">
            <a:extLst xmlns:a="http://schemas.openxmlformats.org/drawingml/2006/main">
              <a:ext uri="{FF2B5EF4-FFF2-40B4-BE49-F238E27FC236}">
                <a16:creationId xmlns:a16="http://schemas.microsoft.com/office/drawing/2014/main" id="{46082517-6C1C-4267-A4E0-A7F9A2CE5B08}"/>
              </a:ext>
            </a:extLst>
          </p:cNvPr>
          <p:cNvSpPr>
            <a:spLocks xmlns:a="http://schemas.openxmlformats.org/drawingml/2006/main" noGrp="1"/>
          </p:cNvSpPr>
          <p:nvPr/>
        </p:nvSpPr>
        <p:spPr>
          <a:xfrm xmlns:a="http://schemas.openxmlformats.org/drawingml/2006/main" flipV="0">
            <a:off x="8724900" y="2476500"/>
            <a:ext cx="4572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2" name="">
            <a:extLst xmlns:a="http://schemas.openxmlformats.org/drawingml/2006/main">
              <a:ext uri="{FF2B5EF4-FFF2-40B4-BE49-F238E27FC236}">
                <a16:creationId xmlns:a16="http://schemas.microsoft.com/office/drawing/2014/main" id="{139813D8-6C73-462E-8C07-D9F3A9A4E0C0}"/>
              </a:ext>
            </a:extLst>
          </p:cNvPr>
          <p:cNvSpPr>
            <a:spLocks xmlns:a="http://schemas.openxmlformats.org/drawingml/2006/main" noGrp="1"/>
          </p:cNvSpPr>
          <p:nvPr/>
        </p:nvSpPr>
        <p:spPr>
          <a:xfrm xmlns:a="http://schemas.openxmlformats.org/drawingml/2006/main">
            <a:off x="9105900" y="24384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3" name="shape-49">
            <a:extLst xmlns:a="http://schemas.openxmlformats.org/drawingml/2006/main">
              <a:ext uri="{FF2B5EF4-FFF2-40B4-BE49-F238E27FC236}">
                <a16:creationId xmlns:a16="http://schemas.microsoft.com/office/drawing/2014/main" id="{145FF233-0F9C-4201-81B2-E22D6B853D4A}"/>
              </a:ext>
            </a:extLst>
          </p:cNvPr>
          <p:cNvSpPr>
            <a:spLocks xmlns:a="http://schemas.openxmlformats.org/drawingml/2006/main" noGrp="1"/>
          </p:cNvSpPr>
          <p:nvPr/>
        </p:nvSpPr>
        <p:spPr>
          <a:xfrm xmlns:a="http://schemas.openxmlformats.org/drawingml/2006/main">
            <a:off x="9182100" y="1990725"/>
            <a:ext cx="2400300" cy="962025"/>
          </a:xfrm>
          <a:prstGeom xmlns:a="http://schemas.openxmlformats.org/drawingml/2006/main" prst="roundRect">
            <a:avLst>
              <a:gd name="adj" fmla="val 9901"/>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Inspect bindings</a:t>
            </a:r>
          </a:p>
          <a:p xmlns:a="http://schemas.openxmlformats.org/drawingml/2006/main">
            <a:pPr algn="ctr">
              <a:defRPr sz="1950" b="1">
                <a:solidFill>
                  <a:srgbClr val="172C36"/>
                </a:solidFill>
                <a:latin typeface="Helvetica Neue"/>
                <a:ea typeface="Helvetica Neue"/>
                <a:cs typeface="Helvetica Neue"/>
              </a:defRPr>
            </a:pPr>
            <a:r>
              <a:rPr sz="1950" b="1">
                <a:solidFill>
                  <a:srgbClr val="172C36"/>
                </a:solidFill>
                <a:latin typeface="Helvetica Neue"/>
                <a:ea typeface="Helvetica Neue"/>
                <a:cs typeface="Helvetica Neue"/>
              </a:rPr>
              <a:t>and source errors</a:t>
            </a:r>
          </a:p>
        </p:txBody>
      </p:sp>
      <p:sp>
        <p:nvSpPr>
          <p:cNvPr id="14" name="">
            <a:extLst xmlns:a="http://schemas.openxmlformats.org/drawingml/2006/main">
              <a:ext uri="{FF2B5EF4-FFF2-40B4-BE49-F238E27FC236}">
                <a16:creationId xmlns:a16="http://schemas.microsoft.com/office/drawing/2014/main" id="{CD14B264-6E01-42C7-86EF-7F291B3A92C3}"/>
              </a:ext>
            </a:extLst>
          </p:cNvPr>
          <p:cNvSpPr>
            <a:spLocks xmlns:a="http://schemas.openxmlformats.org/drawingml/2006/main" noGrp="1"/>
          </p:cNvSpPr>
          <p:nvPr/>
        </p:nvSpPr>
        <p:spPr>
          <a:xfrm xmlns:a="http://schemas.openxmlformats.org/drawingml/2006/main" flipV="0">
            <a:off x="10382250" y="2952750"/>
            <a:ext cx="0" cy="476250"/>
          </a:xfrm>
          <a:prstGeom xmlns:a="http://schemas.openxmlformats.org/drawingml/2006/main" prst="line">
            <a:avLst/>
          </a:prstGeom>
          <a:noFill xmlns:a="http://schemas.openxmlformats.org/drawingml/2006/main"/>
          <a:ln xmlns:a="http://schemas.openxmlformats.org/drawingml/2006/main" w="19050">
            <a:solidFill>
              <a:srgbClr val="B44948"/>
            </a:solidFill>
            <a:prstDash val="dash"/>
          </a:ln>
        </p:spPr>
      </p:sp>
      <p:sp>
        <p:nvSpPr>
          <p:cNvPr id="15" name="">
            <a:extLst xmlns:a="http://schemas.openxmlformats.org/drawingml/2006/main">
              <a:ext uri="{FF2B5EF4-FFF2-40B4-BE49-F238E27FC236}">
                <a16:creationId xmlns:a16="http://schemas.microsoft.com/office/drawing/2014/main" id="{66696DEE-80CC-4861-918B-12B12ECE0AFE}"/>
              </a:ext>
            </a:extLst>
          </p:cNvPr>
          <p:cNvSpPr>
            <a:spLocks xmlns:a="http://schemas.openxmlformats.org/drawingml/2006/main" noGrp="1"/>
          </p:cNvSpPr>
          <p:nvPr/>
        </p:nvSpPr>
        <p:spPr>
          <a:xfrm xmlns:a="http://schemas.openxmlformats.org/drawingml/2006/main" flipV="0">
            <a:off x="4667250" y="3429000"/>
            <a:ext cx="5715000" cy="0"/>
          </a:xfrm>
          <a:prstGeom xmlns:a="http://schemas.openxmlformats.org/drawingml/2006/main" prst="line">
            <a:avLst/>
          </a:prstGeom>
          <a:noFill xmlns:a="http://schemas.openxmlformats.org/drawingml/2006/main"/>
          <a:ln xmlns:a="http://schemas.openxmlformats.org/drawingml/2006/main" w="19050">
            <a:solidFill>
              <a:srgbClr val="B44948"/>
            </a:solidFill>
            <a:prstDash val="dash"/>
          </a:ln>
        </p:spPr>
      </p:sp>
      <p:sp>
        <p:nvSpPr>
          <p:cNvPr id="16" name="">
            <a:extLst xmlns:a="http://schemas.openxmlformats.org/drawingml/2006/main">
              <a:ext uri="{FF2B5EF4-FFF2-40B4-BE49-F238E27FC236}">
                <a16:creationId xmlns:a16="http://schemas.microsoft.com/office/drawing/2014/main" id="{4454D7AA-7EEB-4AB1-BB80-843387343047}"/>
              </a:ext>
            </a:extLst>
          </p:cNvPr>
          <p:cNvSpPr>
            <a:spLocks xmlns:a="http://schemas.openxmlformats.org/drawingml/2006/main" noGrp="1"/>
          </p:cNvSpPr>
          <p:nvPr/>
        </p:nvSpPr>
        <p:spPr>
          <a:xfrm xmlns:a="http://schemas.openxmlformats.org/drawingml/2006/main" flipV="0">
            <a:off x="4667250" y="2952750"/>
            <a:ext cx="0" cy="476250"/>
          </a:xfrm>
          <a:prstGeom xmlns:a="http://schemas.openxmlformats.org/drawingml/2006/main" prst="line">
            <a:avLst/>
          </a:prstGeom>
          <a:noFill xmlns:a="http://schemas.openxmlformats.org/drawingml/2006/main"/>
          <a:ln xmlns:a="http://schemas.openxmlformats.org/drawingml/2006/main" w="19050">
            <a:solidFill>
              <a:srgbClr val="B44948"/>
            </a:solidFill>
            <a:prstDash val="dash"/>
          </a:ln>
        </p:spPr>
      </p:sp>
      <p:sp>
        <p:nvSpPr>
          <p:cNvPr id="17" name="">
            <a:extLst xmlns:a="http://schemas.openxmlformats.org/drawingml/2006/main">
              <a:ext uri="{FF2B5EF4-FFF2-40B4-BE49-F238E27FC236}">
                <a16:creationId xmlns:a16="http://schemas.microsoft.com/office/drawing/2014/main" id="{7A525322-3E9E-455F-A6A2-4D1F4A00677D}"/>
              </a:ext>
            </a:extLst>
          </p:cNvPr>
          <p:cNvSpPr>
            <a:spLocks xmlns:a="http://schemas.openxmlformats.org/drawingml/2006/main" noGrp="1"/>
          </p:cNvSpPr>
          <p:nvPr/>
        </p:nvSpPr>
        <p:spPr>
          <a:xfrm xmlns:a="http://schemas.openxmlformats.org/drawingml/2006/main">
            <a:off x="4629150" y="2952750"/>
            <a:ext cx="76200" cy="76200"/>
          </a:xfrm>
          <a:custGeom xmlns:a="http://schemas.openxmlformats.org/drawingml/2006/main">
            <a:pathLst>
              <a:path w="76200" h="76200">
                <a:moveTo>
                  <a:pt x="38100" y="0"/>
                </a:moveTo>
                <a:lnTo>
                  <a:pt x="0" y="76200"/>
                </a:lnTo>
                <a:lnTo>
                  <a:pt x="76200" y="76200"/>
                </a:lnTo>
                <a:close/>
              </a:path>
            </a:pathLst>
          </a:custGeom>
          <a:solidFill xmlns:a="http://schemas.openxmlformats.org/drawingml/2006/main">
            <a:srgbClr val="B44948"/>
          </a:solidFill>
          <a:ln xmlns:a="http://schemas.openxmlformats.org/drawingml/2006/main" w="9525">
            <a:solidFill>
              <a:srgbClr val="B44948"/>
            </a:solidFill>
          </a:ln>
        </p:spPr>
      </p:sp>
      <p:sp>
        <p:nvSpPr>
          <p:cNvPr id="18" name="text-50">
            <a:extLst xmlns:a="http://schemas.openxmlformats.org/drawingml/2006/main">
              <a:ext uri="{FF2B5EF4-FFF2-40B4-BE49-F238E27FC236}">
                <a16:creationId xmlns:a16="http://schemas.microsoft.com/office/drawing/2014/main" id="{C614E9D2-EBA3-4CC2-AEB9-854028250E58}"/>
              </a:ext>
            </a:extLst>
          </p:cNvPr>
          <p:cNvSpPr>
            <a:spLocks xmlns:a="http://schemas.openxmlformats.org/drawingml/2006/main" noGrp="1"/>
          </p:cNvSpPr>
          <p:nvPr/>
        </p:nvSpPr>
        <p:spPr>
          <a:xfrm xmlns:a="http://schemas.openxmlformats.org/drawingml/2006/main">
            <a:off x="5676900" y="3048000"/>
            <a:ext cx="368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B44948"/>
                </a:solidFill>
                <a:latin typeface="Helvetica Neue"/>
                <a:ea typeface="Helvetica Neue"/>
                <a:cs typeface="Helvetica Neue"/>
              </a:defRPr>
            </a:pPr>
            <a:r>
              <a:rPr sz="1725" b="0">
                <a:solidFill>
                  <a:srgbClr val="B44948"/>
                </a:solidFill>
                <a:latin typeface="Helvetica Neue"/>
                <a:ea typeface="Helvetica Neue"/>
                <a:cs typeface="Helvetica Neue"/>
              </a:rPr>
              <a:t>Source-supported local edit</a:t>
            </a:r>
          </a:p>
        </p:txBody>
      </p:sp>
      <p:sp>
        <p:nvSpPr>
          <p:cNvPr id="19" name="text-51">
            <a:extLst xmlns:a="http://schemas.openxmlformats.org/drawingml/2006/main">
              <a:ext uri="{FF2B5EF4-FFF2-40B4-BE49-F238E27FC236}">
                <a16:creationId xmlns:a16="http://schemas.microsoft.com/office/drawing/2014/main" id="{73108D57-31B4-4C71-8625-2C0361BBAFDF}"/>
              </a:ext>
            </a:extLst>
          </p:cNvPr>
          <p:cNvSpPr>
            <a:spLocks xmlns:a="http://schemas.openxmlformats.org/drawingml/2006/main" noGrp="1"/>
          </p:cNvSpPr>
          <p:nvPr/>
        </p:nvSpPr>
        <p:spPr>
          <a:xfrm xmlns:a="http://schemas.openxmlformats.org/drawingml/2006/main">
            <a:off x="609600" y="39909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B44948"/>
                </a:solidFill>
                <a:latin typeface="Helvetica Neue"/>
                <a:ea typeface="Helvetica Neue"/>
                <a:cs typeface="Helvetica Neue"/>
              </a:defRPr>
            </a:pPr>
            <a:r>
              <a:rPr sz="2175" b="1">
                <a:solidFill>
                  <a:srgbClr val="B44948"/>
                </a:solidFill>
                <a:latin typeface="Helvetica Neue"/>
                <a:ea typeface="Helvetica Neue"/>
                <a:cs typeface="Helvetica Neue"/>
              </a:rPr>
              <a:t>Wrong binding</a:t>
            </a:r>
          </a:p>
        </p:txBody>
      </p:sp>
      <p:sp>
        <p:nvSpPr>
          <p:cNvPr id="20" name="text-52">
            <a:extLst xmlns:a="http://schemas.openxmlformats.org/drawingml/2006/main">
              <a:ext uri="{FF2B5EF4-FFF2-40B4-BE49-F238E27FC236}">
                <a16:creationId xmlns:a16="http://schemas.microsoft.com/office/drawing/2014/main" id="{BFA21C56-1E51-4C95-9A8E-1CCA0A990932}"/>
              </a:ext>
            </a:extLst>
          </p:cNvPr>
          <p:cNvSpPr>
            <a:spLocks xmlns:a="http://schemas.openxmlformats.org/drawingml/2006/main" noGrp="1"/>
          </p:cNvSpPr>
          <p:nvPr/>
        </p:nvSpPr>
        <p:spPr>
          <a:xfrm xmlns:a="http://schemas.openxmlformats.org/drawingml/2006/main">
            <a:off x="609600" y="4495800"/>
            <a:ext cx="40576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notice: K1 / D1</a:t>
            </a:r>
          </a:p>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payment: K1 / D2</a:t>
            </a:r>
          </a:p>
        </p:txBody>
      </p:sp>
      <p:sp>
        <p:nvSpPr>
          <p:cNvPr id="21" name="">
            <a:extLst xmlns:a="http://schemas.openxmlformats.org/drawingml/2006/main">
              <a:ext uri="{FF2B5EF4-FFF2-40B4-BE49-F238E27FC236}">
                <a16:creationId xmlns:a16="http://schemas.microsoft.com/office/drawing/2014/main" id="{539F970A-4EF0-4179-AA6A-BB8DC545C877}"/>
              </a:ext>
            </a:extLst>
          </p:cNvPr>
          <p:cNvSpPr>
            <a:spLocks xmlns:a="http://schemas.openxmlformats.org/drawingml/2006/main" noGrp="1"/>
          </p:cNvSpPr>
          <p:nvPr/>
        </p:nvSpPr>
        <p:spPr>
          <a:xfrm xmlns:a="http://schemas.openxmlformats.org/drawingml/2006/main" flipV="0">
            <a:off x="4676775" y="4857750"/>
            <a:ext cx="752475" cy="0"/>
          </a:xfrm>
          <a:prstGeom xmlns:a="http://schemas.openxmlformats.org/drawingml/2006/main" prst="line">
            <a:avLst/>
          </a:prstGeom>
          <a:noFill xmlns:a="http://schemas.openxmlformats.org/drawingml/2006/main"/>
          <a:ln xmlns:a="http://schemas.openxmlformats.org/drawingml/2006/main" w="19050">
            <a:solidFill>
              <a:srgbClr val="B44948"/>
            </a:solidFill>
            <a:prstDash val="solid"/>
          </a:ln>
        </p:spPr>
      </p:sp>
      <p:sp>
        <p:nvSpPr>
          <p:cNvPr id="22" name="">
            <a:extLst xmlns:a="http://schemas.openxmlformats.org/drawingml/2006/main">
              <a:ext uri="{FF2B5EF4-FFF2-40B4-BE49-F238E27FC236}">
                <a16:creationId xmlns:a16="http://schemas.microsoft.com/office/drawing/2014/main" id="{B53A796E-DF15-472B-B349-640D935E8FCA}"/>
              </a:ext>
            </a:extLst>
          </p:cNvPr>
          <p:cNvSpPr>
            <a:spLocks xmlns:a="http://schemas.openxmlformats.org/drawingml/2006/main" noGrp="1"/>
          </p:cNvSpPr>
          <p:nvPr/>
        </p:nvSpPr>
        <p:spPr>
          <a:xfrm xmlns:a="http://schemas.openxmlformats.org/drawingml/2006/main">
            <a:off x="5353050" y="481965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B44948"/>
          </a:solidFill>
          <a:ln xmlns:a="http://schemas.openxmlformats.org/drawingml/2006/main" w="9525">
            <a:solidFill>
              <a:srgbClr val="B44948"/>
            </a:solidFill>
          </a:ln>
        </p:spPr>
      </p:sp>
      <p:sp>
        <p:nvSpPr>
          <p:cNvPr id="23" name="text-53">
            <a:extLst xmlns:a="http://schemas.openxmlformats.org/drawingml/2006/main">
              <a:ext uri="{FF2B5EF4-FFF2-40B4-BE49-F238E27FC236}">
                <a16:creationId xmlns:a16="http://schemas.microsoft.com/office/drawing/2014/main" id="{96F6D14C-7959-44DC-8BD5-8239ECAF52D7}"/>
              </a:ext>
            </a:extLst>
          </p:cNvPr>
          <p:cNvSpPr>
            <a:spLocks xmlns:a="http://schemas.openxmlformats.org/drawingml/2006/main" noGrp="1"/>
          </p:cNvSpPr>
          <p:nvPr/>
        </p:nvSpPr>
        <p:spPr>
          <a:xfrm xmlns:a="http://schemas.openxmlformats.org/drawingml/2006/main">
            <a:off x="5838825" y="3990975"/>
            <a:ext cx="5743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Shared contract AND debt</a:t>
            </a:r>
          </a:p>
        </p:txBody>
      </p:sp>
      <p:sp>
        <p:nvSpPr>
          <p:cNvPr id="24" name="text-54">
            <a:extLst xmlns:a="http://schemas.openxmlformats.org/drawingml/2006/main">
              <a:ext uri="{FF2B5EF4-FFF2-40B4-BE49-F238E27FC236}">
                <a16:creationId xmlns:a16="http://schemas.microsoft.com/office/drawing/2014/main" id="{98EF3412-7156-4A02-8336-AE12B7FE2A0B}"/>
              </a:ext>
            </a:extLst>
          </p:cNvPr>
          <p:cNvSpPr>
            <a:spLocks xmlns:a="http://schemas.openxmlformats.org/drawingml/2006/main" noGrp="1"/>
          </p:cNvSpPr>
          <p:nvPr/>
        </p:nvSpPr>
        <p:spPr>
          <a:xfrm xmlns:a="http://schemas.openxmlformats.org/drawingml/2006/main">
            <a:off x="5838825" y="4552950"/>
            <a:ext cx="57435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ReceivedNotice(n, K, D, t1)</a:t>
            </a:r>
          </a:p>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FullSettlement(p, K, D, t2)</a:t>
            </a:r>
          </a:p>
        </p:txBody>
      </p:sp>
      <p:sp>
        <p:nvSpPr>
          <p:cNvPr id="25" name="">
            <a:extLst xmlns:a="http://schemas.openxmlformats.org/drawingml/2006/main">
              <a:ext uri="{FF2B5EF4-FFF2-40B4-BE49-F238E27FC236}">
                <a16:creationId xmlns:a16="http://schemas.microsoft.com/office/drawing/2014/main" id="{92C291C9-7CF8-4478-846F-46A0AFFA2218}"/>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6" name="text-55">
            <a:extLst xmlns:a="http://schemas.openxmlformats.org/drawingml/2006/main">
              <a:ext uri="{FF2B5EF4-FFF2-40B4-BE49-F238E27FC236}">
                <a16:creationId xmlns:a16="http://schemas.microsoft.com/office/drawing/2014/main" id="{73F2B3C0-AE16-4D9B-B0D3-E2ED135F82E0}"/>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Real fragments are the default seeds. Bounded LLM proposals and short-query enumeration supplement recall.</a:t>
            </a:r>
          </a:p>
        </p:txBody>
      </p:sp>
    </p:spTree>
    <p:extLst>
      <p:ext uri="{BB962C8B-B14F-4D97-AF65-F5344CB8AC3E}">
        <p14:creationId xmlns:p14="http://schemas.microsoft.com/office/powerpoint/2010/main" val="31942404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56">
            <a:extLst xmlns:a="http://schemas.openxmlformats.org/drawingml/2006/main">
              <a:ext uri="{FF2B5EF4-FFF2-40B4-BE49-F238E27FC236}">
                <a16:creationId xmlns:a16="http://schemas.microsoft.com/office/drawing/2014/main" id="{9B5954C6-578A-4F29-81F1-6B7A512330A6}"/>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B. Reusable relations and a compact dictionary</a:t>
            </a:r>
          </a:p>
        </p:txBody>
      </p:sp>
      <p:sp>
        <p:nvSpPr>
          <p:cNvPr id="2" name="text-57">
            <a:extLst xmlns:a="http://schemas.openxmlformats.org/drawingml/2006/main">
              <a:ext uri="{FF2B5EF4-FFF2-40B4-BE49-F238E27FC236}">
                <a16:creationId xmlns:a16="http://schemas.microsoft.com/office/drawing/2014/main" id="{64C11D35-B8FF-4828-9278-F911CA1025E0}"/>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relation can remain useful even when it saves no space</a:t>
            </a:r>
          </a:p>
        </p:txBody>
      </p:sp>
      <p:sp>
        <p:nvSpPr>
          <p:cNvPr id="3" name="text-58">
            <a:extLst xmlns:a="http://schemas.openxmlformats.org/drawingml/2006/main">
              <a:ext uri="{FF2B5EF4-FFF2-40B4-BE49-F238E27FC236}">
                <a16:creationId xmlns:a16="http://schemas.microsoft.com/office/drawing/2014/main" id="{F4822E97-E335-4470-B3A6-EAC20BA272A6}"/>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05</a:t>
            </a:r>
          </a:p>
        </p:txBody>
      </p:sp>
      <p:sp>
        <p:nvSpPr>
          <p:cNvPr id="4" name="shape-59">
            <a:extLst xmlns:a="http://schemas.openxmlformats.org/drawingml/2006/main">
              <a:ext uri="{FF2B5EF4-FFF2-40B4-BE49-F238E27FC236}">
                <a16:creationId xmlns:a16="http://schemas.microsoft.com/office/drawing/2014/main" id="{D20E905E-C8F6-44A4-A5A5-40C658B93900}"/>
              </a:ext>
            </a:extLst>
          </p:cNvPr>
          <p:cNvSpPr>
            <a:spLocks xmlns:a="http://schemas.openxmlformats.org/drawingml/2006/main" noGrp="1"/>
          </p:cNvSpPr>
          <p:nvPr/>
        </p:nvSpPr>
        <p:spPr>
          <a:xfrm xmlns:a="http://schemas.openxmlformats.org/drawingml/2006/main">
            <a:off x="609600" y="1952625"/>
            <a:ext cx="3228975" cy="942975"/>
          </a:xfrm>
          <a:prstGeom xmlns:a="http://schemas.openxmlformats.org/drawingml/2006/main" prst="roundRect">
            <a:avLst>
              <a:gd name="adj" fmla="val 101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G</a:t>
            </a:r>
          </a:p>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Executable relations</a:t>
            </a:r>
          </a:p>
        </p:txBody>
      </p:sp>
      <p:sp>
        <p:nvSpPr>
          <p:cNvPr id="5" name="">
            <a:extLst xmlns:a="http://schemas.openxmlformats.org/drawingml/2006/main">
              <a:ext uri="{FF2B5EF4-FFF2-40B4-BE49-F238E27FC236}">
                <a16:creationId xmlns:a16="http://schemas.microsoft.com/office/drawing/2014/main" id="{1AC7E852-08DD-4272-BB0E-BEB1851809E4}"/>
              </a:ext>
            </a:extLst>
          </p:cNvPr>
          <p:cNvSpPr>
            <a:spLocks xmlns:a="http://schemas.openxmlformats.org/drawingml/2006/main" noGrp="1"/>
          </p:cNvSpPr>
          <p:nvPr/>
        </p:nvSpPr>
        <p:spPr>
          <a:xfrm xmlns:a="http://schemas.openxmlformats.org/drawingml/2006/main" flipV="0">
            <a:off x="3838575" y="2409825"/>
            <a:ext cx="12096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6" name="">
            <a:extLst xmlns:a="http://schemas.openxmlformats.org/drawingml/2006/main">
              <a:ext uri="{FF2B5EF4-FFF2-40B4-BE49-F238E27FC236}">
                <a16:creationId xmlns:a16="http://schemas.microsoft.com/office/drawing/2014/main" id="{4262AE44-5690-4BE7-AF43-C8C8C7C40976}"/>
              </a:ext>
            </a:extLst>
          </p:cNvPr>
          <p:cNvSpPr>
            <a:spLocks xmlns:a="http://schemas.openxmlformats.org/drawingml/2006/main" noGrp="1"/>
          </p:cNvSpPr>
          <p:nvPr/>
        </p:nvSpPr>
        <p:spPr>
          <a:xfrm xmlns:a="http://schemas.openxmlformats.org/drawingml/2006/main">
            <a:off x="4972050" y="23717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7" name="text-60">
            <a:extLst xmlns:a="http://schemas.openxmlformats.org/drawingml/2006/main">
              <a:ext uri="{FF2B5EF4-FFF2-40B4-BE49-F238E27FC236}">
                <a16:creationId xmlns:a16="http://schemas.microsoft.com/office/drawing/2014/main" id="{6BD80139-6572-4D6C-AAEC-75A5FD178E91}"/>
              </a:ext>
            </a:extLst>
          </p:cNvPr>
          <p:cNvSpPr>
            <a:spLocks xmlns:a="http://schemas.openxmlformats.org/drawingml/2006/main" noGrp="1"/>
          </p:cNvSpPr>
          <p:nvPr/>
        </p:nvSpPr>
        <p:spPr>
          <a:xfrm xmlns:a="http://schemas.openxmlformats.org/drawingml/2006/main">
            <a:off x="4010025" y="2000250"/>
            <a:ext cx="895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0">
                <a:solidFill>
                  <a:srgbClr val="566B76"/>
                </a:solidFill>
                <a:latin typeface="Helvetica Neue"/>
                <a:ea typeface="Helvetica Neue"/>
                <a:cs typeface="Helvetica Neue"/>
              </a:defRPr>
            </a:pPr>
            <a:r>
              <a:rPr sz="1725" b="0">
                <a:solidFill>
                  <a:srgbClr val="566B76"/>
                </a:solidFill>
                <a:latin typeface="Helvetica Neue"/>
                <a:ea typeface="Helvetica Neue"/>
                <a:cs typeface="Helvetica Neue"/>
              </a:rPr>
              <a:t>select</a:t>
            </a:r>
          </a:p>
        </p:txBody>
      </p:sp>
      <p:sp>
        <p:nvSpPr>
          <p:cNvPr id="8" name="shape-61">
            <a:extLst xmlns:a="http://schemas.openxmlformats.org/drawingml/2006/main">
              <a:ext uri="{FF2B5EF4-FFF2-40B4-BE49-F238E27FC236}">
                <a16:creationId xmlns:a16="http://schemas.microsoft.com/office/drawing/2014/main" id="{98EBA608-EA1A-4FD2-9D2C-069CC8DDF04E}"/>
              </a:ext>
            </a:extLst>
          </p:cNvPr>
          <p:cNvSpPr>
            <a:spLocks xmlns:a="http://schemas.openxmlformats.org/drawingml/2006/main" noGrp="1"/>
          </p:cNvSpPr>
          <p:nvPr/>
        </p:nvSpPr>
        <p:spPr>
          <a:xfrm xmlns:a="http://schemas.openxmlformats.org/drawingml/2006/main">
            <a:off x="5048250" y="1952625"/>
            <a:ext cx="3362325" cy="942975"/>
          </a:xfrm>
          <a:prstGeom xmlns:a="http://schemas.openxmlformats.org/drawingml/2006/main" prst="roundRect">
            <a:avLst>
              <a:gd name="adj" fmla="val 101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S</a:t>
            </a:r>
          </a:p>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Compact dictionary</a:t>
            </a:r>
          </a:p>
        </p:txBody>
      </p:sp>
      <p:sp>
        <p:nvSpPr>
          <p:cNvPr id="9" name="">
            <a:extLst xmlns:a="http://schemas.openxmlformats.org/drawingml/2006/main">
              <a:ext uri="{FF2B5EF4-FFF2-40B4-BE49-F238E27FC236}">
                <a16:creationId xmlns:a16="http://schemas.microsoft.com/office/drawing/2014/main" id="{312BB824-AC80-4EE9-A6D3-703AE8AFAA2B}"/>
              </a:ext>
            </a:extLst>
          </p:cNvPr>
          <p:cNvSpPr>
            <a:spLocks xmlns:a="http://schemas.openxmlformats.org/drawingml/2006/main" noGrp="1"/>
          </p:cNvSpPr>
          <p:nvPr/>
        </p:nvSpPr>
        <p:spPr>
          <a:xfrm xmlns:a="http://schemas.openxmlformats.org/drawingml/2006/main" flipV="0">
            <a:off x="8410575" y="2409825"/>
            <a:ext cx="752475"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0" name="">
            <a:extLst xmlns:a="http://schemas.openxmlformats.org/drawingml/2006/main">
              <a:ext uri="{FF2B5EF4-FFF2-40B4-BE49-F238E27FC236}">
                <a16:creationId xmlns:a16="http://schemas.microsoft.com/office/drawing/2014/main" id="{6D532BAF-9BD7-4F0E-87AD-EED37B23623F}"/>
              </a:ext>
            </a:extLst>
          </p:cNvPr>
          <p:cNvSpPr>
            <a:spLocks xmlns:a="http://schemas.openxmlformats.org/drawingml/2006/main" noGrp="1"/>
          </p:cNvSpPr>
          <p:nvPr/>
        </p:nvSpPr>
        <p:spPr>
          <a:xfrm xmlns:a="http://schemas.openxmlformats.org/drawingml/2006/main">
            <a:off x="9086850" y="237172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1" name="shape-62">
            <a:extLst xmlns:a="http://schemas.openxmlformats.org/drawingml/2006/main">
              <a:ext uri="{FF2B5EF4-FFF2-40B4-BE49-F238E27FC236}">
                <a16:creationId xmlns:a16="http://schemas.microsoft.com/office/drawing/2014/main" id="{C2558B2C-A483-4C13-ACE0-E3F1FBFC89AC}"/>
              </a:ext>
            </a:extLst>
          </p:cNvPr>
          <p:cNvSpPr>
            <a:spLocks xmlns:a="http://schemas.openxmlformats.org/drawingml/2006/main" noGrp="1"/>
          </p:cNvSpPr>
          <p:nvPr/>
        </p:nvSpPr>
        <p:spPr>
          <a:xfrm xmlns:a="http://schemas.openxmlformats.org/drawingml/2006/main">
            <a:off x="9525000" y="2038350"/>
            <a:ext cx="485775"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12" name="shape-63">
            <a:extLst xmlns:a="http://schemas.openxmlformats.org/drawingml/2006/main">
              <a:ext uri="{FF2B5EF4-FFF2-40B4-BE49-F238E27FC236}">
                <a16:creationId xmlns:a16="http://schemas.microsoft.com/office/drawing/2014/main" id="{7E4A12EF-D49E-43EF-B9F2-5226479B8CD5}"/>
              </a:ext>
            </a:extLst>
          </p:cNvPr>
          <p:cNvSpPr>
            <a:spLocks xmlns:a="http://schemas.openxmlformats.org/drawingml/2006/main" noGrp="1"/>
          </p:cNvSpPr>
          <p:nvPr/>
        </p:nvSpPr>
        <p:spPr>
          <a:xfrm xmlns:a="http://schemas.openxmlformats.org/drawingml/2006/main">
            <a:off x="9858375" y="2038350"/>
            <a:ext cx="152400" cy="152400"/>
          </a:xfrm>
          <a:prstGeom xmlns:a="http://schemas.openxmlformats.org/drawingml/2006/main" prst="rect">
            <a:avLst/>
          </a:prstGeom>
          <a:solidFill xmlns:a="http://schemas.openxmlformats.org/drawingml/2006/main">
            <a:srgbClr val="EAF0F6"/>
          </a:solidFill>
          <a:ln xmlns:a="http://schemas.openxmlformats.org/drawingml/2006/main" w="19050">
            <a:solidFill>
              <a:srgbClr val="63758A"/>
            </a:solidFill>
          </a:ln>
        </p:spPr>
      </p:sp>
      <p:sp>
        <p:nvSpPr>
          <p:cNvPr id="13" name="">
            <a:extLst xmlns:a="http://schemas.openxmlformats.org/drawingml/2006/main">
              <a:ext uri="{FF2B5EF4-FFF2-40B4-BE49-F238E27FC236}">
                <a16:creationId xmlns:a16="http://schemas.microsoft.com/office/drawing/2014/main" id="{8DB990B5-C2EB-460A-A621-75F547960021}"/>
              </a:ext>
            </a:extLst>
          </p:cNvPr>
          <p:cNvSpPr>
            <a:spLocks xmlns:a="http://schemas.openxmlformats.org/drawingml/2006/main" noGrp="1"/>
          </p:cNvSpPr>
          <p:nvPr/>
        </p:nvSpPr>
        <p:spPr>
          <a:xfrm xmlns:a="http://schemas.openxmlformats.org/drawingml/2006/main" flipV="0">
            <a:off x="9639300" y="23241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4" name="">
            <a:extLst xmlns:a="http://schemas.openxmlformats.org/drawingml/2006/main">
              <a:ext uri="{FF2B5EF4-FFF2-40B4-BE49-F238E27FC236}">
                <a16:creationId xmlns:a16="http://schemas.microsoft.com/office/drawing/2014/main" id="{C23716A1-9906-46AA-85A3-AEDCCFC6013E}"/>
              </a:ext>
            </a:extLst>
          </p:cNvPr>
          <p:cNvSpPr>
            <a:spLocks xmlns:a="http://schemas.openxmlformats.org/drawingml/2006/main" noGrp="1"/>
          </p:cNvSpPr>
          <p:nvPr/>
        </p:nvSpPr>
        <p:spPr>
          <a:xfrm xmlns:a="http://schemas.openxmlformats.org/drawingml/2006/main" flipV="0">
            <a:off x="9639300" y="24384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5" name="">
            <a:extLst xmlns:a="http://schemas.openxmlformats.org/drawingml/2006/main">
              <a:ext uri="{FF2B5EF4-FFF2-40B4-BE49-F238E27FC236}">
                <a16:creationId xmlns:a16="http://schemas.microsoft.com/office/drawing/2014/main" id="{F8177486-CE6A-4C6C-8423-3DE3222C4FC4}"/>
              </a:ext>
            </a:extLst>
          </p:cNvPr>
          <p:cNvSpPr>
            <a:spLocks xmlns:a="http://schemas.openxmlformats.org/drawingml/2006/main" noGrp="1"/>
          </p:cNvSpPr>
          <p:nvPr/>
        </p:nvSpPr>
        <p:spPr>
          <a:xfrm xmlns:a="http://schemas.openxmlformats.org/drawingml/2006/main" flipV="0">
            <a:off x="9639300" y="2552700"/>
            <a:ext cx="257175"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6" name="text-64">
            <a:extLst xmlns:a="http://schemas.openxmlformats.org/drawingml/2006/main">
              <a:ext uri="{FF2B5EF4-FFF2-40B4-BE49-F238E27FC236}">
                <a16:creationId xmlns:a16="http://schemas.microsoft.com/office/drawing/2014/main" id="{86404D86-A812-4073-B798-F057BCB43935}"/>
              </a:ext>
            </a:extLst>
          </p:cNvPr>
          <p:cNvSpPr>
            <a:spLocks xmlns:a="http://schemas.openxmlformats.org/drawingml/2006/main" noGrp="1"/>
          </p:cNvSpPr>
          <p:nvPr/>
        </p:nvSpPr>
        <p:spPr>
          <a:xfrm xmlns:a="http://schemas.openxmlformats.org/drawingml/2006/main">
            <a:off x="10191750" y="2228850"/>
            <a:ext cx="14001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Decode</a:t>
            </a:r>
          </a:p>
        </p:txBody>
      </p:sp>
      <p:sp>
        <p:nvSpPr>
          <p:cNvPr id="17" name="text-65">
            <a:extLst xmlns:a="http://schemas.openxmlformats.org/drawingml/2006/main">
              <a:ext uri="{FF2B5EF4-FFF2-40B4-BE49-F238E27FC236}">
                <a16:creationId xmlns:a16="http://schemas.microsoft.com/office/drawing/2014/main" id="{763AD715-5EA5-472C-9703-68FB8AE557D1}"/>
              </a:ext>
            </a:extLst>
          </p:cNvPr>
          <p:cNvSpPr>
            <a:spLocks xmlns:a="http://schemas.openxmlformats.org/drawingml/2006/main" noGrp="1"/>
          </p:cNvSpPr>
          <p:nvPr/>
        </p:nvSpPr>
        <p:spPr>
          <a:xfrm xmlns:a="http://schemas.openxmlformats.org/drawingml/2006/main">
            <a:off x="609600" y="3467100"/>
            <a:ext cx="371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Define once</a:t>
            </a:r>
          </a:p>
        </p:txBody>
      </p:sp>
      <p:sp>
        <p:nvSpPr>
          <p:cNvPr id="18" name="text-66">
            <a:extLst xmlns:a="http://schemas.openxmlformats.org/drawingml/2006/main">
              <a:ext uri="{FF2B5EF4-FFF2-40B4-BE49-F238E27FC236}">
                <a16:creationId xmlns:a16="http://schemas.microsoft.com/office/drawing/2014/main" id="{90E05995-5104-47F5-9128-7DA73F89DB3C}"/>
              </a:ext>
            </a:extLst>
          </p:cNvPr>
          <p:cNvSpPr>
            <a:spLocks xmlns:a="http://schemas.openxmlformats.org/drawingml/2006/main" noGrp="1"/>
          </p:cNvSpPr>
          <p:nvPr/>
        </p:nvSpPr>
        <p:spPr>
          <a:xfrm xmlns:a="http://schemas.openxmlformats.org/drawingml/2006/main">
            <a:off x="609600" y="3990975"/>
            <a:ext cx="5010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P = receipt + full payment</a:t>
            </a:r>
          </a:p>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for the same contract and debt</a:t>
            </a:r>
          </a:p>
        </p:txBody>
      </p:sp>
      <p:sp>
        <p:nvSpPr>
          <p:cNvPr id="19" name="text-67">
            <a:extLst xmlns:a="http://schemas.openxmlformats.org/drawingml/2006/main">
              <a:ext uri="{FF2B5EF4-FFF2-40B4-BE49-F238E27FC236}">
                <a16:creationId xmlns:a16="http://schemas.microsoft.com/office/drawing/2014/main" id="{AB66DDEB-7807-44C5-B04D-DD013D2F4A84}"/>
              </a:ext>
            </a:extLst>
          </p:cNvPr>
          <p:cNvSpPr>
            <a:spLocks xmlns:a="http://schemas.openxmlformats.org/drawingml/2006/main" noGrp="1"/>
          </p:cNvSpPr>
          <p:nvPr/>
        </p:nvSpPr>
        <p:spPr>
          <a:xfrm xmlns:a="http://schemas.openxmlformats.org/drawingml/2006/main">
            <a:off x="6381750" y="3467100"/>
            <a:ext cx="52101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Pay for every use</a:t>
            </a:r>
          </a:p>
        </p:txBody>
      </p:sp>
      <p:sp>
        <p:nvSpPr>
          <p:cNvPr id="20" name="text-68">
            <a:extLst xmlns:a="http://schemas.openxmlformats.org/drawingml/2006/main">
              <a:ext uri="{FF2B5EF4-FFF2-40B4-BE49-F238E27FC236}">
                <a16:creationId xmlns:a16="http://schemas.microsoft.com/office/drawing/2014/main" id="{4F2AB7F0-4C8E-496C-9893-0ECF2792A85A}"/>
              </a:ext>
            </a:extLst>
          </p:cNvPr>
          <p:cNvSpPr>
            <a:spLocks xmlns:a="http://schemas.openxmlformats.org/drawingml/2006/main" noGrp="1"/>
          </p:cNvSpPr>
          <p:nvPr/>
        </p:nvSpPr>
        <p:spPr>
          <a:xfrm xmlns:a="http://schemas.openxmlformats.org/drawingml/2006/main">
            <a:off x="6381750" y="3990975"/>
            <a:ext cx="52101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P(K1, D1, n1, p5, dates…)</a:t>
            </a:r>
          </a:p>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 source, status and residual fields</a:t>
            </a:r>
          </a:p>
        </p:txBody>
      </p:sp>
      <p:sp>
        <p:nvSpPr>
          <p:cNvPr id="21" name="">
            <a:extLst xmlns:a="http://schemas.openxmlformats.org/drawingml/2006/main">
              <a:ext uri="{FF2B5EF4-FFF2-40B4-BE49-F238E27FC236}">
                <a16:creationId xmlns:a16="http://schemas.microsoft.com/office/drawing/2014/main" id="{17058395-3814-45FF-86B6-335D49562DFD}"/>
              </a:ext>
            </a:extLst>
          </p:cNvPr>
          <p:cNvSpPr>
            <a:spLocks xmlns:a="http://schemas.openxmlformats.org/drawingml/2006/main" noGrp="1"/>
          </p:cNvSpPr>
          <p:nvPr/>
        </p:nvSpPr>
        <p:spPr>
          <a:xfrm xmlns:a="http://schemas.openxmlformats.org/drawingml/2006/main" flipV="0">
            <a:off x="609600" y="5181600"/>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2" name="text-69">
            <a:extLst xmlns:a="http://schemas.openxmlformats.org/drawingml/2006/main">
              <a:ext uri="{FF2B5EF4-FFF2-40B4-BE49-F238E27FC236}">
                <a16:creationId xmlns:a16="http://schemas.microsoft.com/office/drawing/2014/main" id="{8FB66E27-AA1A-4485-A52C-0D0FB6B1A9D9}"/>
              </a:ext>
            </a:extLst>
          </p:cNvPr>
          <p:cNvSpPr>
            <a:spLocks xmlns:a="http://schemas.openxmlformats.org/drawingml/2006/main" noGrp="1"/>
          </p:cNvSpPr>
          <p:nvPr/>
        </p:nvSpPr>
        <p:spPr>
          <a:xfrm xmlns:a="http://schemas.openxmlformats.org/drawingml/2006/main">
            <a:off x="609600" y="54006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Minimize  definition bits + use bits + remaining record bits</a:t>
            </a:r>
          </a:p>
        </p:txBody>
      </p:sp>
      <p:sp>
        <p:nvSpPr>
          <p:cNvPr id="23" name="">
            <a:extLst xmlns:a="http://schemas.openxmlformats.org/drawingml/2006/main">
              <a:ext uri="{FF2B5EF4-FFF2-40B4-BE49-F238E27FC236}">
                <a16:creationId xmlns:a16="http://schemas.microsoft.com/office/drawing/2014/main" id="{2FFA80F4-322A-4977-B347-B96C0A25FC77}"/>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4" name="text-70">
            <a:extLst xmlns:a="http://schemas.openxmlformats.org/drawingml/2006/main">
              <a:ext uri="{FF2B5EF4-FFF2-40B4-BE49-F238E27FC236}">
                <a16:creationId xmlns:a16="http://schemas.microsoft.com/office/drawing/2014/main" id="{B0E30C4D-0D70-4251-BA0E-9C4F514416A9}"/>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Each base record reconstructs once. Shared entity IDs are allowed. Rare legal conditions remain available to C.</a:t>
            </a:r>
          </a:p>
        </p:txBody>
      </p:sp>
    </p:spTree>
    <p:extLst>
      <p:ext uri="{BB962C8B-B14F-4D97-AF65-F5344CB8AC3E}">
        <p14:creationId xmlns:p14="http://schemas.microsoft.com/office/powerpoint/2010/main" val="19330198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71">
            <a:extLst xmlns:a="http://schemas.openxmlformats.org/drawingml/2006/main">
              <a:ext uri="{FF2B5EF4-FFF2-40B4-BE49-F238E27FC236}">
                <a16:creationId xmlns:a16="http://schemas.microsoft.com/office/drawing/2014/main" id="{C92BFF14-3CA8-4D05-96FF-AF90FE56B3FD}"/>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C. Legal rules require sourced bridges</a:t>
            </a:r>
          </a:p>
        </p:txBody>
      </p:sp>
      <p:sp>
        <p:nvSpPr>
          <p:cNvPr id="2" name="text-72">
            <a:extLst xmlns:a="http://schemas.openxmlformats.org/drawingml/2006/main">
              <a:ext uri="{FF2B5EF4-FFF2-40B4-BE49-F238E27FC236}">
                <a16:creationId xmlns:a16="http://schemas.microsoft.com/office/drawing/2014/main" id="{FC301431-1A83-41E7-A170-A6B8616F7064}"/>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A descriptive event does not automatically satisfy a legal condition</a:t>
            </a:r>
          </a:p>
        </p:txBody>
      </p:sp>
      <p:sp>
        <p:nvSpPr>
          <p:cNvPr id="3" name="text-73">
            <a:extLst xmlns:a="http://schemas.openxmlformats.org/drawingml/2006/main">
              <a:ext uri="{FF2B5EF4-FFF2-40B4-BE49-F238E27FC236}">
                <a16:creationId xmlns:a16="http://schemas.microsoft.com/office/drawing/2014/main" id="{E1016879-48AB-4670-A022-0F9AF81E0642}"/>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06</a:t>
            </a:r>
          </a:p>
        </p:txBody>
      </p:sp>
      <p:sp>
        <p:nvSpPr>
          <p:cNvPr id="4" name="shape-74">
            <a:extLst xmlns:a="http://schemas.openxmlformats.org/drawingml/2006/main">
              <a:ext uri="{FF2B5EF4-FFF2-40B4-BE49-F238E27FC236}">
                <a16:creationId xmlns:a16="http://schemas.microsoft.com/office/drawing/2014/main" id="{4B88D524-2274-4F75-9695-187668F1E858}"/>
              </a:ext>
            </a:extLst>
          </p:cNvPr>
          <p:cNvSpPr>
            <a:spLocks xmlns:a="http://schemas.openxmlformats.org/drawingml/2006/main" noGrp="1"/>
          </p:cNvSpPr>
          <p:nvPr/>
        </p:nvSpPr>
        <p:spPr>
          <a:xfrm xmlns:a="http://schemas.openxmlformats.org/drawingml/2006/main">
            <a:off x="695325" y="1819275"/>
            <a:ext cx="36195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5" name="">
            <a:extLst xmlns:a="http://schemas.openxmlformats.org/drawingml/2006/main">
              <a:ext uri="{FF2B5EF4-FFF2-40B4-BE49-F238E27FC236}">
                <a16:creationId xmlns:a16="http://schemas.microsoft.com/office/drawing/2014/main" id="{87A0B24E-D26E-45B3-9696-75402AE17AC7}"/>
              </a:ext>
            </a:extLst>
          </p:cNvPr>
          <p:cNvSpPr>
            <a:spLocks xmlns:a="http://schemas.openxmlformats.org/drawingml/2006/main" noGrp="1"/>
          </p:cNvSpPr>
          <p:nvPr/>
        </p:nvSpPr>
        <p:spPr>
          <a:xfrm xmlns:a="http://schemas.openxmlformats.org/drawingml/2006/main" flipV="0">
            <a:off x="771525" y="195262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6" name="">
            <a:extLst xmlns:a="http://schemas.openxmlformats.org/drawingml/2006/main">
              <a:ext uri="{FF2B5EF4-FFF2-40B4-BE49-F238E27FC236}">
                <a16:creationId xmlns:a16="http://schemas.microsoft.com/office/drawing/2014/main" id="{F0F212E3-88FC-428B-8EBE-FFEC04019BA6}"/>
              </a:ext>
            </a:extLst>
          </p:cNvPr>
          <p:cNvSpPr>
            <a:spLocks xmlns:a="http://schemas.openxmlformats.org/drawingml/2006/main" noGrp="1"/>
          </p:cNvSpPr>
          <p:nvPr/>
        </p:nvSpPr>
        <p:spPr>
          <a:xfrm xmlns:a="http://schemas.openxmlformats.org/drawingml/2006/main" flipV="0">
            <a:off x="771525" y="205740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7" name="">
            <a:extLst xmlns:a="http://schemas.openxmlformats.org/drawingml/2006/main">
              <a:ext uri="{FF2B5EF4-FFF2-40B4-BE49-F238E27FC236}">
                <a16:creationId xmlns:a16="http://schemas.microsoft.com/office/drawing/2014/main" id="{D7A5789D-E40A-4A34-8376-2D7CA6A859FF}"/>
              </a:ext>
            </a:extLst>
          </p:cNvPr>
          <p:cNvSpPr>
            <a:spLocks xmlns:a="http://schemas.openxmlformats.org/drawingml/2006/main" noGrp="1"/>
          </p:cNvSpPr>
          <p:nvPr/>
        </p:nvSpPr>
        <p:spPr>
          <a:xfrm xmlns:a="http://schemas.openxmlformats.org/drawingml/2006/main" flipV="0">
            <a:off x="771525" y="216217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8" name="shape-75">
            <a:extLst xmlns:a="http://schemas.openxmlformats.org/drawingml/2006/main">
              <a:ext uri="{FF2B5EF4-FFF2-40B4-BE49-F238E27FC236}">
                <a16:creationId xmlns:a16="http://schemas.microsoft.com/office/drawing/2014/main" id="{B7B3DC76-DBFE-41CB-871D-6E8A0A4F88DC}"/>
              </a:ext>
            </a:extLst>
          </p:cNvPr>
          <p:cNvSpPr>
            <a:spLocks xmlns:a="http://schemas.openxmlformats.org/drawingml/2006/main" noGrp="1"/>
          </p:cNvSpPr>
          <p:nvPr/>
        </p:nvSpPr>
        <p:spPr>
          <a:xfrm xmlns:a="http://schemas.openxmlformats.org/drawingml/2006/main">
            <a:off x="1057275" y="1819275"/>
            <a:ext cx="361950" cy="571500"/>
          </a:xfrm>
          <a:prstGeom xmlns:a="http://schemas.openxmlformats.org/drawingml/2006/main" prst="rect">
            <a:avLst/>
          </a:prstGeom>
          <a:solidFill xmlns:a="http://schemas.openxmlformats.org/drawingml/2006/main">
            <a:srgbClr val="FFFFFF"/>
          </a:solidFill>
          <a:ln xmlns:a="http://schemas.openxmlformats.org/drawingml/2006/main" w="19050">
            <a:solidFill>
              <a:srgbClr val="63758A"/>
            </a:solidFill>
          </a:ln>
        </p:spPr>
      </p:sp>
      <p:sp>
        <p:nvSpPr>
          <p:cNvPr id="9" name="">
            <a:extLst xmlns:a="http://schemas.openxmlformats.org/drawingml/2006/main">
              <a:ext uri="{FF2B5EF4-FFF2-40B4-BE49-F238E27FC236}">
                <a16:creationId xmlns:a16="http://schemas.microsoft.com/office/drawing/2014/main" id="{0B027787-D7CD-4B41-9E85-8DCA40006901}"/>
              </a:ext>
            </a:extLst>
          </p:cNvPr>
          <p:cNvSpPr>
            <a:spLocks xmlns:a="http://schemas.openxmlformats.org/drawingml/2006/main" noGrp="1"/>
          </p:cNvSpPr>
          <p:nvPr/>
        </p:nvSpPr>
        <p:spPr>
          <a:xfrm xmlns:a="http://schemas.openxmlformats.org/drawingml/2006/main" flipV="0">
            <a:off x="1133475" y="195262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0" name="">
            <a:extLst xmlns:a="http://schemas.openxmlformats.org/drawingml/2006/main">
              <a:ext uri="{FF2B5EF4-FFF2-40B4-BE49-F238E27FC236}">
                <a16:creationId xmlns:a16="http://schemas.microsoft.com/office/drawing/2014/main" id="{B06F3C32-57D7-44C5-8648-32C398D84A60}"/>
              </a:ext>
            </a:extLst>
          </p:cNvPr>
          <p:cNvSpPr>
            <a:spLocks xmlns:a="http://schemas.openxmlformats.org/drawingml/2006/main" noGrp="1"/>
          </p:cNvSpPr>
          <p:nvPr/>
        </p:nvSpPr>
        <p:spPr>
          <a:xfrm xmlns:a="http://schemas.openxmlformats.org/drawingml/2006/main" flipV="0">
            <a:off x="1133475" y="2057400"/>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1" name="">
            <a:extLst xmlns:a="http://schemas.openxmlformats.org/drawingml/2006/main">
              <a:ext uri="{FF2B5EF4-FFF2-40B4-BE49-F238E27FC236}">
                <a16:creationId xmlns:a16="http://schemas.microsoft.com/office/drawing/2014/main" id="{992D01C8-EAC8-4CDB-894F-59FA82047D0B}"/>
              </a:ext>
            </a:extLst>
          </p:cNvPr>
          <p:cNvSpPr>
            <a:spLocks xmlns:a="http://schemas.openxmlformats.org/drawingml/2006/main" noGrp="1"/>
          </p:cNvSpPr>
          <p:nvPr/>
        </p:nvSpPr>
        <p:spPr>
          <a:xfrm xmlns:a="http://schemas.openxmlformats.org/drawingml/2006/main" flipV="0">
            <a:off x="1133475" y="2162175"/>
            <a:ext cx="209550" cy="0"/>
          </a:xfrm>
          <a:prstGeom xmlns:a="http://schemas.openxmlformats.org/drawingml/2006/main" prst="line">
            <a:avLst/>
          </a:prstGeom>
          <a:noFill xmlns:a="http://schemas.openxmlformats.org/drawingml/2006/main"/>
          <a:ln xmlns:a="http://schemas.openxmlformats.org/drawingml/2006/main" w="19050">
            <a:solidFill>
              <a:srgbClr val="63758A"/>
            </a:solidFill>
            <a:prstDash val="solid"/>
          </a:ln>
        </p:spPr>
      </p:sp>
      <p:sp>
        <p:nvSpPr>
          <p:cNvPr id="12" name="">
            <a:extLst xmlns:a="http://schemas.openxmlformats.org/drawingml/2006/main">
              <a:ext uri="{FF2B5EF4-FFF2-40B4-BE49-F238E27FC236}">
                <a16:creationId xmlns:a16="http://schemas.microsoft.com/office/drawing/2014/main" id="{13C1043A-7BFF-4350-AB6A-0EF58378C1BA}"/>
              </a:ext>
            </a:extLst>
          </p:cNvPr>
          <p:cNvSpPr>
            <a:spLocks xmlns:a="http://schemas.openxmlformats.org/drawingml/2006/main" noGrp="1"/>
          </p:cNvSpPr>
          <p:nvPr/>
        </p:nvSpPr>
        <p:spPr>
          <a:xfrm xmlns:a="http://schemas.openxmlformats.org/drawingml/2006/main" flipV="0">
            <a:off x="1057275" y="1790700"/>
            <a:ext cx="0" cy="628650"/>
          </a:xfrm>
          <a:prstGeom xmlns:a="http://schemas.openxmlformats.org/drawingml/2006/main" prst="line">
            <a:avLst/>
          </a:prstGeom>
          <a:noFill xmlns:a="http://schemas.openxmlformats.org/drawingml/2006/main"/>
          <a:ln xmlns:a="http://schemas.openxmlformats.org/drawingml/2006/main" w="23813">
            <a:solidFill>
              <a:srgbClr val="172C36"/>
            </a:solidFill>
            <a:prstDash val="solid"/>
          </a:ln>
        </p:spPr>
      </p:sp>
      <p:sp>
        <p:nvSpPr>
          <p:cNvPr id="13" name="text-76">
            <a:extLst xmlns:a="http://schemas.openxmlformats.org/drawingml/2006/main">
              <a:ext uri="{FF2B5EF4-FFF2-40B4-BE49-F238E27FC236}">
                <a16:creationId xmlns:a16="http://schemas.microsoft.com/office/drawing/2014/main" id="{CB810A38-7EC3-451F-8338-2F39772BE320}"/>
              </a:ext>
            </a:extLst>
          </p:cNvPr>
          <p:cNvSpPr>
            <a:spLocks xmlns:a="http://schemas.openxmlformats.org/drawingml/2006/main" noGrp="1"/>
          </p:cNvSpPr>
          <p:nvPr/>
        </p:nvSpPr>
        <p:spPr>
          <a:xfrm xmlns:a="http://schemas.openxmlformats.org/drawingml/2006/main">
            <a:off x="1647825" y="1733550"/>
            <a:ext cx="18954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Authority</a:t>
            </a:r>
          </a:p>
          <a:p xmlns:a="http://schemas.openxmlformats.org/drawingml/2006/main">
            <a:pPr algn="l">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with context</a:t>
            </a:r>
          </a:p>
        </p:txBody>
      </p:sp>
      <p:sp>
        <p:nvSpPr>
          <p:cNvPr id="14" name="shape-77">
            <a:extLst xmlns:a="http://schemas.openxmlformats.org/drawingml/2006/main">
              <a:ext uri="{FF2B5EF4-FFF2-40B4-BE49-F238E27FC236}">
                <a16:creationId xmlns:a16="http://schemas.microsoft.com/office/drawing/2014/main" id="{84812E11-4A0F-4F21-854D-131BBBF5F30E}"/>
              </a:ext>
            </a:extLst>
          </p:cNvPr>
          <p:cNvSpPr>
            <a:spLocks xmlns:a="http://schemas.openxmlformats.org/drawingml/2006/main" noGrp="1"/>
          </p:cNvSpPr>
          <p:nvPr/>
        </p:nvSpPr>
        <p:spPr>
          <a:xfrm xmlns:a="http://schemas.openxmlformats.org/drawingml/2006/main">
            <a:off x="4000500" y="1714500"/>
            <a:ext cx="3333750" cy="942975"/>
          </a:xfrm>
          <a:prstGeom xmlns:a="http://schemas.openxmlformats.org/drawingml/2006/main" prst="roundRect">
            <a:avLst>
              <a:gd name="adj" fmla="val 10101"/>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Jointly draft</a:t>
            </a:r>
          </a:p>
          <a:p xmlns:a="http://schemas.openxmlformats.org/drawingml/2006/main">
            <a:pPr algn="ctr">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rules and bridges</a:t>
            </a:r>
          </a:p>
        </p:txBody>
      </p:sp>
      <p:sp>
        <p:nvSpPr>
          <p:cNvPr id="15" name="shape-78">
            <a:extLst xmlns:a="http://schemas.openxmlformats.org/drawingml/2006/main">
              <a:ext uri="{FF2B5EF4-FFF2-40B4-BE49-F238E27FC236}">
                <a16:creationId xmlns:a16="http://schemas.microsoft.com/office/drawing/2014/main" id="{CCAC4D1D-EE04-46E5-8171-D56B62D9E64B}"/>
              </a:ext>
            </a:extLst>
          </p:cNvPr>
          <p:cNvSpPr>
            <a:spLocks xmlns:a="http://schemas.openxmlformats.org/drawingml/2006/main" noGrp="1"/>
          </p:cNvSpPr>
          <p:nvPr/>
        </p:nvSpPr>
        <p:spPr>
          <a:xfrm xmlns:a="http://schemas.openxmlformats.org/drawingml/2006/main">
            <a:off x="8324850" y="1714500"/>
            <a:ext cx="3257550" cy="942975"/>
          </a:xfrm>
          <a:prstGeom xmlns:a="http://schemas.openxmlformats.org/drawingml/2006/main" prst="roundRect">
            <a:avLst>
              <a:gd name="adj" fmla="val 10101"/>
            </a:avLst>
          </a:prstGeom>
          <a:solidFill xmlns:a="http://schemas.openxmlformats.org/drawingml/2006/main">
            <a:srgbClr val="F1D7D4"/>
          </a:solidFill>
          <a:ln xmlns:a="http://schemas.openxmlformats.org/drawingml/2006/main" w="19050">
            <a:solidFill>
              <a:srgbClr val="B44948"/>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Test against source</a:t>
            </a:r>
          </a:p>
          <a:p xmlns:a="http://schemas.openxmlformats.org/drawingml/2006/main">
            <a:pPr algn="ctr">
              <a:defRPr sz="2025" b="1">
                <a:solidFill>
                  <a:srgbClr val="172C36"/>
                </a:solidFill>
                <a:latin typeface="Helvetica Neue"/>
                <a:ea typeface="Helvetica Neue"/>
                <a:cs typeface="Helvetica Neue"/>
              </a:defRPr>
            </a:pPr>
            <a:r>
              <a:rPr sz="2025" b="1">
                <a:solidFill>
                  <a:srgbClr val="172C36"/>
                </a:solidFill>
                <a:latin typeface="Helvetica Neue"/>
                <a:ea typeface="Helvetica Neue"/>
                <a:cs typeface="Helvetica Neue"/>
              </a:rPr>
              <a:t>and review meaning</a:t>
            </a:r>
          </a:p>
        </p:txBody>
      </p:sp>
      <p:sp>
        <p:nvSpPr>
          <p:cNvPr id="16" name="">
            <a:extLst xmlns:a="http://schemas.openxmlformats.org/drawingml/2006/main">
              <a:ext uri="{FF2B5EF4-FFF2-40B4-BE49-F238E27FC236}">
                <a16:creationId xmlns:a16="http://schemas.microsoft.com/office/drawing/2014/main" id="{5C4010DF-0A2F-4ABE-B8B4-741EC923AA49}"/>
              </a:ext>
            </a:extLst>
          </p:cNvPr>
          <p:cNvSpPr>
            <a:spLocks xmlns:a="http://schemas.openxmlformats.org/drawingml/2006/main" noGrp="1"/>
          </p:cNvSpPr>
          <p:nvPr/>
        </p:nvSpPr>
        <p:spPr>
          <a:xfrm xmlns:a="http://schemas.openxmlformats.org/drawingml/2006/main" flipV="0">
            <a:off x="3448050" y="2162175"/>
            <a:ext cx="5524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7" name="">
            <a:extLst xmlns:a="http://schemas.openxmlformats.org/drawingml/2006/main">
              <a:ext uri="{FF2B5EF4-FFF2-40B4-BE49-F238E27FC236}">
                <a16:creationId xmlns:a16="http://schemas.microsoft.com/office/drawing/2014/main" id="{486EB9B1-96A2-4AC9-ABFC-69CA378FD6C6}"/>
              </a:ext>
            </a:extLst>
          </p:cNvPr>
          <p:cNvSpPr>
            <a:spLocks xmlns:a="http://schemas.openxmlformats.org/drawingml/2006/main" noGrp="1"/>
          </p:cNvSpPr>
          <p:nvPr/>
        </p:nvSpPr>
        <p:spPr>
          <a:xfrm xmlns:a="http://schemas.openxmlformats.org/drawingml/2006/main">
            <a:off x="3924300" y="21240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8" name="">
            <a:extLst xmlns:a="http://schemas.openxmlformats.org/drawingml/2006/main">
              <a:ext uri="{FF2B5EF4-FFF2-40B4-BE49-F238E27FC236}">
                <a16:creationId xmlns:a16="http://schemas.microsoft.com/office/drawing/2014/main" id="{F7317673-5EA6-4F56-8654-862CD6C3EA54}"/>
              </a:ext>
            </a:extLst>
          </p:cNvPr>
          <p:cNvSpPr>
            <a:spLocks xmlns:a="http://schemas.openxmlformats.org/drawingml/2006/main" noGrp="1"/>
          </p:cNvSpPr>
          <p:nvPr/>
        </p:nvSpPr>
        <p:spPr>
          <a:xfrm xmlns:a="http://schemas.openxmlformats.org/drawingml/2006/main" flipV="0">
            <a:off x="7334250" y="2162175"/>
            <a:ext cx="99060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19" name="">
            <a:extLst xmlns:a="http://schemas.openxmlformats.org/drawingml/2006/main">
              <a:ext uri="{FF2B5EF4-FFF2-40B4-BE49-F238E27FC236}">
                <a16:creationId xmlns:a16="http://schemas.microsoft.com/office/drawing/2014/main" id="{CBC97B9A-63F4-4375-9AE7-03EB36E853D1}"/>
              </a:ext>
            </a:extLst>
          </p:cNvPr>
          <p:cNvSpPr>
            <a:spLocks xmlns:a="http://schemas.openxmlformats.org/drawingml/2006/main" noGrp="1"/>
          </p:cNvSpPr>
          <p:nvPr/>
        </p:nvSpPr>
        <p:spPr>
          <a:xfrm xmlns:a="http://schemas.openxmlformats.org/drawingml/2006/main">
            <a:off x="8248650" y="2124075"/>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20" name="text-79">
            <a:extLst xmlns:a="http://schemas.openxmlformats.org/drawingml/2006/main">
              <a:ext uri="{FF2B5EF4-FFF2-40B4-BE49-F238E27FC236}">
                <a16:creationId xmlns:a16="http://schemas.microsoft.com/office/drawing/2014/main" id="{4AEDD65B-B799-4A1E-91FF-368EBFB2F751}"/>
              </a:ext>
            </a:extLst>
          </p:cNvPr>
          <p:cNvSpPr>
            <a:spLocks xmlns:a="http://schemas.openxmlformats.org/drawingml/2006/main" noGrp="1"/>
          </p:cNvSpPr>
          <p:nvPr/>
        </p:nvSpPr>
        <p:spPr>
          <a:xfrm xmlns:a="http://schemas.openxmlformats.org/drawingml/2006/main">
            <a:off x="609600" y="3200400"/>
            <a:ext cx="1819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Bridge</a:t>
            </a:r>
          </a:p>
        </p:txBody>
      </p:sp>
      <p:sp>
        <p:nvSpPr>
          <p:cNvPr id="21" name="text-80">
            <a:extLst xmlns:a="http://schemas.openxmlformats.org/drawingml/2006/main">
              <a:ext uri="{FF2B5EF4-FFF2-40B4-BE49-F238E27FC236}">
                <a16:creationId xmlns:a16="http://schemas.microsoft.com/office/drawing/2014/main" id="{2AD9AE9C-CD01-41C7-9A67-A9EED86E754D}"/>
              </a:ext>
            </a:extLst>
          </p:cNvPr>
          <p:cNvSpPr>
            <a:spLocks xmlns:a="http://schemas.openxmlformats.org/drawingml/2006/main" noGrp="1"/>
          </p:cNvSpPr>
          <p:nvPr/>
        </p:nvSpPr>
        <p:spPr>
          <a:xfrm xmlns:a="http://schemas.openxmlformats.org/drawingml/2006/main">
            <a:off x="2476500" y="3200400"/>
            <a:ext cx="9115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Actual receipt + designated recipient + clear debt identity</a:t>
            </a:r>
          </a:p>
        </p:txBody>
      </p:sp>
      <p:sp>
        <p:nvSpPr>
          <p:cNvPr id="22" name="">
            <a:extLst xmlns:a="http://schemas.openxmlformats.org/drawingml/2006/main">
              <a:ext uri="{FF2B5EF4-FFF2-40B4-BE49-F238E27FC236}">
                <a16:creationId xmlns:a16="http://schemas.microsoft.com/office/drawing/2014/main" id="{A0EC3936-D120-4746-96C5-9E1DEF7974F7}"/>
              </a:ext>
            </a:extLst>
          </p:cNvPr>
          <p:cNvSpPr>
            <a:spLocks xmlns:a="http://schemas.openxmlformats.org/drawingml/2006/main" noGrp="1"/>
          </p:cNvSpPr>
          <p:nvPr/>
        </p:nvSpPr>
        <p:spPr>
          <a:xfrm xmlns:a="http://schemas.openxmlformats.org/drawingml/2006/main" flipV="0">
            <a:off x="6829425" y="3695700"/>
            <a:ext cx="0" cy="352425"/>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23" name="">
            <a:extLst xmlns:a="http://schemas.openxmlformats.org/drawingml/2006/main">
              <a:ext uri="{FF2B5EF4-FFF2-40B4-BE49-F238E27FC236}">
                <a16:creationId xmlns:a16="http://schemas.microsoft.com/office/drawing/2014/main" id="{83B50FAB-3475-4B9A-B9BD-BB9E5B2710A9}"/>
              </a:ext>
            </a:extLst>
          </p:cNvPr>
          <p:cNvSpPr>
            <a:spLocks xmlns:a="http://schemas.openxmlformats.org/drawingml/2006/main" noGrp="1"/>
          </p:cNvSpPr>
          <p:nvPr/>
        </p:nvSpPr>
        <p:spPr>
          <a:xfrm xmlns:a="http://schemas.openxmlformats.org/drawingml/2006/main">
            <a:off x="6791325" y="3971925"/>
            <a:ext cx="76200" cy="76200"/>
          </a:xfrm>
          <a:custGeom xmlns:a="http://schemas.openxmlformats.org/drawingml/2006/main">
            <a:pathLst>
              <a:path w="76200" h="76200">
                <a:moveTo>
                  <a:pt x="38100" y="76200"/>
                </a:moveTo>
                <a:lnTo>
                  <a:pt x="0" y="0"/>
                </a:lnTo>
                <a:lnTo>
                  <a:pt x="76200" y="0"/>
                </a:lnTo>
                <a:close/>
              </a:path>
            </a:pathLst>
          </a:custGeom>
          <a:solidFill xmlns:a="http://schemas.openxmlformats.org/drawingml/2006/main">
            <a:srgbClr val="172C36"/>
          </a:solidFill>
          <a:ln xmlns:a="http://schemas.openxmlformats.org/drawingml/2006/main" w="9525">
            <a:solidFill>
              <a:srgbClr val="172C36"/>
            </a:solidFill>
          </a:ln>
        </p:spPr>
      </p:sp>
      <p:sp>
        <p:nvSpPr>
          <p:cNvPr id="24" name="shape-81">
            <a:extLst xmlns:a="http://schemas.openxmlformats.org/drawingml/2006/main">
              <a:ext uri="{FF2B5EF4-FFF2-40B4-BE49-F238E27FC236}">
                <a16:creationId xmlns:a16="http://schemas.microsoft.com/office/drawing/2014/main" id="{416C64DF-8005-4545-9A2D-5497041ECD2C}"/>
              </a:ext>
            </a:extLst>
          </p:cNvPr>
          <p:cNvSpPr>
            <a:spLocks xmlns:a="http://schemas.openxmlformats.org/drawingml/2006/main" noGrp="1"/>
          </p:cNvSpPr>
          <p:nvPr/>
        </p:nvSpPr>
        <p:spPr>
          <a:xfrm xmlns:a="http://schemas.openxmlformats.org/drawingml/2006/main">
            <a:off x="4943475" y="4048125"/>
            <a:ext cx="3781425" cy="647700"/>
          </a:xfrm>
          <a:prstGeom xmlns:a="http://schemas.openxmlformats.org/drawingml/2006/main" prst="roundRect">
            <a:avLst>
              <a:gd name="adj" fmla="val 14706"/>
            </a:avLst>
          </a:prstGeom>
          <a:solidFill xmlns:a="http://schemas.openxmlformats.org/drawingml/2006/main">
            <a:srgbClr val="EAF0F6"/>
          </a:solidFill>
          <a:ln xmlns:a="http://schemas.openxmlformats.org/drawingml/2006/main" w="19050">
            <a:solidFill>
              <a:srgbClr val="63758A"/>
            </a:solidFill>
          </a:ln>
        </p:spPr>
        <p:txBody>
          <a:bodyPr xmlns:a="http://schemas.openxmlformats.org/drawingml/2006/main" lIns="95250" tIns="76200" rIns="95250" bIns="76200" anchor="ctr">
            <a:noAutofit/>
          </a:bodyPr>
          <a:lstStyle xmlns:a="http://schemas.openxmlformats.org/drawingml/2006/main"/>
          <a:p xmlns:a="http://schemas.openxmlformats.org/drawingml/2006/main">
            <a:pPr algn="ctr">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VALID NOTICE</a:t>
            </a:r>
          </a:p>
        </p:txBody>
      </p:sp>
      <p:sp>
        <p:nvSpPr>
          <p:cNvPr id="25" name="text-82">
            <a:extLst xmlns:a="http://schemas.openxmlformats.org/drawingml/2006/main">
              <a:ext uri="{FF2B5EF4-FFF2-40B4-BE49-F238E27FC236}">
                <a16:creationId xmlns:a16="http://schemas.microsoft.com/office/drawing/2014/main" id="{2A548EA7-A091-4E49-8290-CA30691A47E5}"/>
              </a:ext>
            </a:extLst>
          </p:cNvPr>
          <p:cNvSpPr>
            <a:spLocks xmlns:a="http://schemas.openxmlformats.org/drawingml/2006/main" noGrp="1"/>
          </p:cNvSpPr>
          <p:nvPr/>
        </p:nvSpPr>
        <p:spPr>
          <a:xfrm xmlns:a="http://schemas.openxmlformats.org/drawingml/2006/main">
            <a:off x="609600" y="5076825"/>
            <a:ext cx="17240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Rule</a:t>
            </a:r>
          </a:p>
        </p:txBody>
      </p:sp>
      <p:sp>
        <p:nvSpPr>
          <p:cNvPr id="26" name="text-83">
            <a:extLst xmlns:a="http://schemas.openxmlformats.org/drawingml/2006/main">
              <a:ext uri="{FF2B5EF4-FFF2-40B4-BE49-F238E27FC236}">
                <a16:creationId xmlns:a16="http://schemas.microsoft.com/office/drawing/2014/main" id="{55415363-83F7-4DF7-A317-8292F23CB552}"/>
              </a:ext>
            </a:extLst>
          </p:cNvPr>
          <p:cNvSpPr>
            <a:spLocks xmlns:a="http://schemas.openxmlformats.org/drawingml/2006/main" noGrp="1"/>
          </p:cNvSpPr>
          <p:nvPr/>
        </p:nvSpPr>
        <p:spPr>
          <a:xfrm xmlns:a="http://schemas.openxmlformats.org/drawingml/2006/main">
            <a:off x="2476500" y="4972050"/>
            <a:ext cx="910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Valid notice + full payment within the defined period</a:t>
            </a:r>
          </a:p>
        </p:txBody>
      </p:sp>
      <p:sp>
        <p:nvSpPr>
          <p:cNvPr id="27" name="text-84">
            <a:extLst xmlns:a="http://schemas.openxmlformats.org/drawingml/2006/main">
              <a:ext uri="{FF2B5EF4-FFF2-40B4-BE49-F238E27FC236}">
                <a16:creationId xmlns:a16="http://schemas.microsoft.com/office/drawing/2014/main" id="{3FB19B5B-D042-4F20-86FF-B1A515EC8742}"/>
              </a:ext>
            </a:extLst>
          </p:cNvPr>
          <p:cNvSpPr>
            <a:spLocks xmlns:a="http://schemas.openxmlformats.org/drawingml/2006/main" noGrp="1"/>
          </p:cNvSpPr>
          <p:nvPr/>
        </p:nvSpPr>
        <p:spPr>
          <a:xfrm xmlns:a="http://schemas.openxmlformats.org/drawingml/2006/main">
            <a:off x="2476500" y="5419725"/>
            <a:ext cx="9105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66B76"/>
                </a:solidFill>
                <a:latin typeface="Helvetica Neue"/>
                <a:ea typeface="Helvetica Neue"/>
                <a:cs typeface="Helvetica Neue"/>
              </a:defRPr>
            </a:pPr>
            <a:r>
              <a:rPr sz="2025" b="0">
                <a:solidFill>
                  <a:srgbClr val="566B76"/>
                </a:solidFill>
                <a:latin typeface="Helvetica Neue"/>
                <a:ea typeface="Helvetica Neue"/>
                <a:cs typeface="Helvetica Neue"/>
              </a:rPr>
              <a:t>supports a specific protection, subject to exceptions</a:t>
            </a:r>
          </a:p>
        </p:txBody>
      </p:sp>
      <p:sp>
        <p:nvSpPr>
          <p:cNvPr id="28" name="">
            <a:extLst xmlns:a="http://schemas.openxmlformats.org/drawingml/2006/main">
              <a:ext uri="{FF2B5EF4-FFF2-40B4-BE49-F238E27FC236}">
                <a16:creationId xmlns:a16="http://schemas.microsoft.com/office/drawing/2014/main" id="{E42A0BB3-E24E-412C-A7EB-729A4A7A2D5B}"/>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29" name="text-85">
            <a:extLst xmlns:a="http://schemas.openxmlformats.org/drawingml/2006/main">
              <a:ext uri="{FF2B5EF4-FFF2-40B4-BE49-F238E27FC236}">
                <a16:creationId xmlns:a16="http://schemas.microsoft.com/office/drawing/2014/main" id="{C88259D0-1752-4B6D-B32E-F81C1C3C7687}"/>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Source tests check missing conditions, scope and exceptions. Legal review approves the interpretation.</a:t>
            </a:r>
          </a:p>
        </p:txBody>
      </p:sp>
    </p:spTree>
    <p:extLst>
      <p:ext uri="{BB962C8B-B14F-4D97-AF65-F5344CB8AC3E}">
        <p14:creationId xmlns:p14="http://schemas.microsoft.com/office/powerpoint/2010/main" val="10246944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86">
            <a:extLst xmlns:a="http://schemas.openxmlformats.org/drawingml/2006/main">
              <a:ext uri="{FF2B5EF4-FFF2-40B4-BE49-F238E27FC236}">
                <a16:creationId xmlns:a16="http://schemas.microsoft.com/office/drawing/2014/main" id="{A3244BBA-7B32-4A49-B8FD-73424B345236}"/>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C. One witness, two exception policies</a:t>
            </a:r>
          </a:p>
        </p:txBody>
      </p:sp>
      <p:sp>
        <p:nvSpPr>
          <p:cNvPr id="2" name="text-87">
            <a:extLst xmlns:a="http://schemas.openxmlformats.org/drawingml/2006/main">
              <a:ext uri="{FF2B5EF4-FFF2-40B4-BE49-F238E27FC236}">
                <a16:creationId xmlns:a16="http://schemas.microsoft.com/office/drawing/2014/main" id="{4A607169-7164-42AD-81A6-DD3D3C7F3C87}"/>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Hypothetical rule: protection for full payment within 10 days after valid receipt</a:t>
            </a:r>
          </a:p>
        </p:txBody>
      </p:sp>
      <p:sp>
        <p:nvSpPr>
          <p:cNvPr id="3" name="text-88">
            <a:extLst xmlns:a="http://schemas.openxmlformats.org/drawingml/2006/main">
              <a:ext uri="{FF2B5EF4-FFF2-40B4-BE49-F238E27FC236}">
                <a16:creationId xmlns:a16="http://schemas.microsoft.com/office/drawing/2014/main" id="{CF654767-10C4-4925-BD06-FB571EDE5AE1}"/>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07</a:t>
            </a:r>
          </a:p>
        </p:txBody>
      </p:sp>
      <p:sp>
        <p:nvSpPr>
          <p:cNvPr id="4" name="text-89">
            <a:extLst xmlns:a="http://schemas.openxmlformats.org/drawingml/2006/main">
              <a:ext uri="{FF2B5EF4-FFF2-40B4-BE49-F238E27FC236}">
                <a16:creationId xmlns:a16="http://schemas.microsoft.com/office/drawing/2014/main" id="{95F0E053-FF7C-4165-B51D-132AE0F846E9}"/>
              </a:ext>
            </a:extLst>
          </p:cNvPr>
          <p:cNvSpPr>
            <a:spLocks xmlns:a="http://schemas.openxmlformats.org/drawingml/2006/main" noGrp="1"/>
          </p:cNvSpPr>
          <p:nvPr/>
        </p:nvSpPr>
        <p:spPr>
          <a:xfrm xmlns:a="http://schemas.openxmlformats.org/drawingml/2006/main">
            <a:off x="609600" y="1647825"/>
            <a:ext cx="1809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72C36"/>
                </a:solidFill>
                <a:latin typeface="Helvetica Neue"/>
                <a:ea typeface="Helvetica Neue"/>
                <a:cs typeface="Helvetica Neue"/>
              </a:defRPr>
            </a:pPr>
            <a:r>
              <a:rPr sz="2250" b="1">
                <a:solidFill>
                  <a:srgbClr val="172C36"/>
                </a:solidFill>
                <a:latin typeface="Helvetica Neue"/>
                <a:ea typeface="Helvetica Neue"/>
                <a:cs typeface="Helvetica Neue"/>
              </a:rPr>
              <a:t>K1 / D1</a:t>
            </a:r>
          </a:p>
        </p:txBody>
      </p:sp>
      <p:sp>
        <p:nvSpPr>
          <p:cNvPr id="5" name="text-90">
            <a:extLst xmlns:a="http://schemas.openxmlformats.org/drawingml/2006/main">
              <a:ext uri="{FF2B5EF4-FFF2-40B4-BE49-F238E27FC236}">
                <a16:creationId xmlns:a16="http://schemas.microsoft.com/office/drawing/2014/main" id="{5A20FBAF-8ED7-432A-8558-19CF6463DC37}"/>
              </a:ext>
            </a:extLst>
          </p:cNvPr>
          <p:cNvSpPr>
            <a:spLocks xmlns:a="http://schemas.openxmlformats.org/drawingml/2006/main" noGrp="1"/>
          </p:cNvSpPr>
          <p:nvPr/>
        </p:nvSpPr>
        <p:spPr>
          <a:xfrm xmlns:a="http://schemas.openxmlformats.org/drawingml/2006/main">
            <a:off x="2714625" y="1685925"/>
            <a:ext cx="22669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566B76"/>
                </a:solidFill>
                <a:latin typeface="Helvetica Neue"/>
                <a:ea typeface="Helvetica Neue"/>
                <a:cs typeface="Helvetica Neue"/>
              </a:defRPr>
            </a:pPr>
            <a:r>
              <a:rPr sz="2100" b="0">
                <a:solidFill>
                  <a:srgbClr val="566B76"/>
                </a:solidFill>
                <a:latin typeface="Helvetica Neue"/>
                <a:ea typeface="Helvetica Neue"/>
                <a:cs typeface="Helvetica Neue"/>
              </a:rPr>
              <a:t>Sent May 1</a:t>
            </a:r>
          </a:p>
        </p:txBody>
      </p:sp>
      <p:sp>
        <p:nvSpPr>
          <p:cNvPr id="6" name="text-91">
            <a:extLst xmlns:a="http://schemas.openxmlformats.org/drawingml/2006/main">
              <a:ext uri="{FF2B5EF4-FFF2-40B4-BE49-F238E27FC236}">
                <a16:creationId xmlns:a16="http://schemas.microsoft.com/office/drawing/2014/main" id="{CB28C486-BA4D-4AF7-AB07-FD3E1C937F87}"/>
              </a:ext>
            </a:extLst>
          </p:cNvPr>
          <p:cNvSpPr>
            <a:spLocks xmlns:a="http://schemas.openxmlformats.org/drawingml/2006/main" noGrp="1"/>
          </p:cNvSpPr>
          <p:nvPr/>
        </p:nvSpPr>
        <p:spPr>
          <a:xfrm xmlns:a="http://schemas.openxmlformats.org/drawingml/2006/main">
            <a:off x="5267325" y="1685925"/>
            <a:ext cx="27908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Received May 4</a:t>
            </a:r>
          </a:p>
        </p:txBody>
      </p:sp>
      <p:sp>
        <p:nvSpPr>
          <p:cNvPr id="7" name="text-92">
            <a:extLst xmlns:a="http://schemas.openxmlformats.org/drawingml/2006/main">
              <a:ext uri="{FF2B5EF4-FFF2-40B4-BE49-F238E27FC236}">
                <a16:creationId xmlns:a16="http://schemas.microsoft.com/office/drawing/2014/main" id="{5504C4A5-782D-4ACA-A11C-5E9A19FBA7D6}"/>
              </a:ext>
            </a:extLst>
          </p:cNvPr>
          <p:cNvSpPr>
            <a:spLocks xmlns:a="http://schemas.openxmlformats.org/drawingml/2006/main" noGrp="1"/>
          </p:cNvSpPr>
          <p:nvPr/>
        </p:nvSpPr>
        <p:spPr>
          <a:xfrm xmlns:a="http://schemas.openxmlformats.org/drawingml/2006/main">
            <a:off x="8924925" y="1685925"/>
            <a:ext cx="2667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2C36"/>
                </a:solidFill>
                <a:latin typeface="Helvetica Neue"/>
                <a:ea typeface="Helvetica Neue"/>
                <a:cs typeface="Helvetica Neue"/>
              </a:defRPr>
            </a:pPr>
            <a:r>
              <a:rPr sz="2100" b="1">
                <a:solidFill>
                  <a:srgbClr val="172C36"/>
                </a:solidFill>
                <a:latin typeface="Helvetica Neue"/>
                <a:ea typeface="Helvetica Neue"/>
                <a:cs typeface="Helvetica Neue"/>
              </a:rPr>
              <a:t>Paid May 13</a:t>
            </a:r>
          </a:p>
        </p:txBody>
      </p:sp>
      <p:sp>
        <p:nvSpPr>
          <p:cNvPr id="8" name="">
            <a:extLst xmlns:a="http://schemas.openxmlformats.org/drawingml/2006/main">
              <a:ext uri="{FF2B5EF4-FFF2-40B4-BE49-F238E27FC236}">
                <a16:creationId xmlns:a16="http://schemas.microsoft.com/office/drawing/2014/main" id="{59688224-CC62-466E-BDFF-FED5BDE78107}"/>
              </a:ext>
            </a:extLst>
          </p:cNvPr>
          <p:cNvSpPr>
            <a:spLocks xmlns:a="http://schemas.openxmlformats.org/drawingml/2006/main" noGrp="1"/>
          </p:cNvSpPr>
          <p:nvPr/>
        </p:nvSpPr>
        <p:spPr>
          <a:xfrm xmlns:a="http://schemas.openxmlformats.org/drawingml/2006/main" flipV="0">
            <a:off x="7648575" y="2286000"/>
            <a:ext cx="2305050" cy="0"/>
          </a:xfrm>
          <a:prstGeom xmlns:a="http://schemas.openxmlformats.org/drawingml/2006/main" prst="line">
            <a:avLst/>
          </a:prstGeom>
          <a:noFill xmlns:a="http://schemas.openxmlformats.org/drawingml/2006/main"/>
          <a:ln xmlns:a="http://schemas.openxmlformats.org/drawingml/2006/main" w="19050">
            <a:solidFill>
              <a:srgbClr val="172C36"/>
            </a:solidFill>
            <a:prstDash val="solid"/>
          </a:ln>
        </p:spPr>
      </p:sp>
      <p:sp>
        <p:nvSpPr>
          <p:cNvPr id="9" name="">
            <a:extLst xmlns:a="http://schemas.openxmlformats.org/drawingml/2006/main">
              <a:ext uri="{FF2B5EF4-FFF2-40B4-BE49-F238E27FC236}">
                <a16:creationId xmlns:a16="http://schemas.microsoft.com/office/drawing/2014/main" id="{F2BA8BB5-A0F2-4E64-B5FE-F19132A77B5B}"/>
              </a:ext>
            </a:extLst>
          </p:cNvPr>
          <p:cNvSpPr>
            <a:spLocks xmlns:a="http://schemas.openxmlformats.org/drawingml/2006/main" noGrp="1"/>
          </p:cNvSpPr>
          <p:nvPr/>
        </p:nvSpPr>
        <p:spPr>
          <a:xfrm xmlns:a="http://schemas.openxmlformats.org/drawingml/2006/main">
            <a:off x="9877425" y="2247900"/>
            <a:ext cx="76200" cy="76200"/>
          </a:xfrm>
          <a:custGeom xmlns:a="http://schemas.openxmlformats.org/drawingml/2006/main">
            <a:pathLst>
              <a:path w="76200" h="76200">
                <a:moveTo>
                  <a:pt x="76200" y="38100"/>
                </a:moveTo>
                <a:lnTo>
                  <a:pt x="0" y="0"/>
                </a:lnTo>
                <a:lnTo>
                  <a:pt x="0" y="76200"/>
                </a:lnTo>
                <a:close/>
              </a:path>
            </a:pathLst>
          </a:custGeom>
          <a:solidFill xmlns:a="http://schemas.openxmlformats.org/drawingml/2006/main">
            <a:srgbClr val="172C36"/>
          </a:solidFill>
          <a:ln xmlns:a="http://schemas.openxmlformats.org/drawingml/2006/main" w="9525">
            <a:solidFill>
              <a:srgbClr val="172C36"/>
            </a:solidFill>
          </a:ln>
        </p:spPr>
      </p:sp>
      <p:sp>
        <p:nvSpPr>
          <p:cNvPr id="10" name="text-93">
            <a:extLst xmlns:a="http://schemas.openxmlformats.org/drawingml/2006/main">
              <a:ext uri="{FF2B5EF4-FFF2-40B4-BE49-F238E27FC236}">
                <a16:creationId xmlns:a16="http://schemas.microsoft.com/office/drawing/2014/main" id="{5B2EB646-8ED2-436E-9951-1228BF9DF254}"/>
              </a:ext>
            </a:extLst>
          </p:cNvPr>
          <p:cNvSpPr>
            <a:spLocks xmlns:a="http://schemas.openxmlformats.org/drawingml/2006/main" noGrp="1"/>
          </p:cNvSpPr>
          <p:nvPr/>
        </p:nvSpPr>
        <p:spPr>
          <a:xfrm xmlns:a="http://schemas.openxmlformats.org/drawingml/2006/main">
            <a:off x="7943850" y="2438400"/>
            <a:ext cx="19335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75" b="1">
                <a:solidFill>
                  <a:srgbClr val="5A8A55"/>
                </a:solidFill>
                <a:latin typeface="Helvetica Neue"/>
                <a:ea typeface="Helvetica Neue"/>
                <a:cs typeface="Helvetica Neue"/>
              </a:defRPr>
            </a:pPr>
            <a:r>
              <a:rPr sz="2175" b="1">
                <a:solidFill>
                  <a:srgbClr val="5A8A55"/>
                </a:solidFill>
                <a:latin typeface="Helvetica Neue"/>
                <a:ea typeface="Helvetica Neue"/>
                <a:cs typeface="Helvetica Neue"/>
              </a:rPr>
              <a:t>9 days</a:t>
            </a:r>
          </a:p>
        </p:txBody>
      </p:sp>
      <p:graphicFrame>
        <p:nvGraphicFramePr>
          <p:cNvPr id="25" name=""/>
          <p:cNvGraphicFramePr/>
          <p:nvPr/>
        </p:nvGraphicFramePr>
        <p:xfrm>
          <a:off xmlns:a="http://schemas.openxmlformats.org/drawingml/2006/main" x="609600" y="3133725"/>
          <a:ext xmlns:a="http://schemas.openxmlformats.org/drawingml/2006/main" cx="10972800" cy="2238375"/>
        </p:xfrm>
        <a:graphic xmlns:a="http://schemas.openxmlformats.org/drawingml/2006/main">
          <a:graphicData uri="http://schemas.openxmlformats.org/drawingml/2006/table">
            <a:tbl>
              <a:tblPr firstRow="0" bandRow="0"/>
              <a:tblGrid>
                <a:gridCol w="3295650"/>
                <a:gridCol w="4000500"/>
                <a:gridCol w="3676650"/>
              </a:tblGrid>
              <a:tr h="746125">
                <a:tc>
                  <a:txBody>
                    <a:bodyPr lIns="152400" tIns="114300" rIns="152400" bIns="114300">
                      <a:noAutofit/>
                    </a:bodyPr>
                    <a:lstStyle/>
                    <a:p>
                      <a:r>
                        <a:rPr sz="1800" b="1">
                          <a:solidFill>
                            <a:srgbClr val="172C36"/>
                          </a:solidFill>
                          <a:latin typeface="Helvetica Neue"/>
                          <a:ea typeface="Helvetica Neue"/>
                          <a:cs typeface="Helvetica Neue"/>
                        </a:rPr>
                        <a:t>Reviewed policy</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Revocation unknown</a:t>
                      </a:r>
                    </a:p>
                  </a:txBody>
                  <a:tcPr marL="91440" marR="91440" marT="45720" marB="45720" anchor="ctr">
                    <a:solidFill>
                      <a:srgbClr val="EAF0F6"/>
                    </a:solidFill>
                  </a:tcPr>
                </a:tc>
                <a:tc>
                  <a:txBody>
                    <a:bodyPr lIns="152400" tIns="114300" rIns="152400" bIns="114300">
                      <a:noAutofit/>
                    </a:bodyPr>
                    <a:lstStyle/>
                    <a:p>
                      <a:r>
                        <a:rPr sz="1800" b="1">
                          <a:solidFill>
                            <a:srgbClr val="172C36"/>
                          </a:solidFill>
                          <a:latin typeface="Helvetica Neue"/>
                          <a:ea typeface="Helvetica Neue"/>
                          <a:cs typeface="Helvetica Neue"/>
                        </a:rPr>
                        <a:t>Result for this route</a:t>
                      </a:r>
                    </a:p>
                  </a:txBody>
                  <a:tcPr marL="91440" marR="91440" marT="45720" marB="45720" anchor="ctr">
                    <a:solidFill>
                      <a:srgbClr val="EAF0F6"/>
                    </a:solidFill>
                  </a:tcPr>
                </a:tc>
              </a:tr>
              <a:tr h="746125">
                <a:tc>
                  <a:txBody>
                    <a:bodyPr lIns="152400" tIns="114300" rIns="152400" bIns="114300">
                      <a:noAutofit/>
                    </a:bodyPr>
                    <a:lstStyle/>
                    <a:p>
                      <a:r>
                        <a:rPr sz="1875" b="0">
                          <a:solidFill>
                            <a:srgbClr val="172C36"/>
                          </a:solidFill>
                          <a:latin typeface="Helvetica Neue"/>
                          <a:ea typeface="Helvetica Neue"/>
                          <a:cs typeface="Helvetica Neue"/>
                        </a:rPr>
                        <a:t>Exception needs</a:t>
                      </a:r>
                    </a:p>
                    <a:p>
                      <a:r>
                        <a:rPr sz="1875" b="0">
                          <a:solidFill>
                            <a:srgbClr val="172C36"/>
                          </a:solidFill>
                          <a:latin typeface="Helvetica Neue"/>
                          <a:ea typeface="Helvetica Neue"/>
                          <a:cs typeface="Helvetica Neue"/>
                        </a:rPr>
                        <a:t>supporting evidence</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qualified exception</a:t>
                      </a:r>
                    </a:p>
                    <a:p>
                      <a:r>
                        <a:rPr sz="1875" b="0">
                          <a:solidFill>
                            <a:srgbClr val="172C36"/>
                          </a:solidFill>
                          <a:latin typeface="Helvetica Neue"/>
                          <a:ea typeface="Helvetica Neue"/>
                          <a:cs typeface="Helvetica Neue"/>
                        </a:rPr>
                        <a:t>argument available</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Accepted under default*</a:t>
                      </a:r>
                    </a:p>
                  </a:txBody>
                  <a:tcPr marL="91440" marR="91440" marT="45720" marB="45720" anchor="ctr">
                    <a:solidFill>
                      <a:srgbClr val="FFFFFF"/>
                    </a:solidFill>
                  </a:tcPr>
                </a:tc>
              </a:tr>
              <a:tr h="746125">
                <a:tc>
                  <a:txBody>
                    <a:bodyPr lIns="152400" tIns="114300" rIns="152400" bIns="114300">
                      <a:noAutofit/>
                    </a:bodyPr>
                    <a:lstStyle/>
                    <a:p>
                      <a:r>
                        <a:rPr sz="1875" b="0">
                          <a:solidFill>
                            <a:srgbClr val="172C36"/>
                          </a:solidFill>
                          <a:latin typeface="Helvetica Neue"/>
                          <a:ea typeface="Helvetica Neue"/>
                          <a:cs typeface="Helvetica Neue"/>
                        </a:rPr>
                        <a:t>Explicit absence</a:t>
                      </a:r>
                    </a:p>
                    <a:p>
                      <a:r>
                        <a:rPr sz="1875" b="0">
                          <a:solidFill>
                            <a:srgbClr val="172C36"/>
                          </a:solidFill>
                          <a:latin typeface="Helvetica Neue"/>
                          <a:ea typeface="Helvetica Neue"/>
                          <a:cs typeface="Helvetica Neue"/>
                        </a:rPr>
                        <a:t>is required</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No evidence that payment</a:t>
                      </a:r>
                    </a:p>
                    <a:p>
                      <a:r>
                        <a:rPr sz="1875" b="0">
                          <a:solidFill>
                            <a:srgbClr val="172C36"/>
                          </a:solidFill>
                          <a:latin typeface="Helvetica Neue"/>
                          <a:ea typeface="Helvetica Neue"/>
                          <a:cs typeface="Helvetica Neue"/>
                        </a:rPr>
                        <a:t>was not revoked</a:t>
                      </a:r>
                    </a:p>
                  </a:txBody>
                  <a:tcPr marL="91440" marR="91440" marT="45720" marB="45720" anchor="ctr">
                    <a:solidFill>
                      <a:srgbClr val="FFFFFF"/>
                    </a:solidFill>
                  </a:tcPr>
                </a:tc>
                <a:tc>
                  <a:txBody>
                    <a:bodyPr lIns="152400" tIns="114300" rIns="152400" bIns="114300">
                      <a:noAutofit/>
                    </a:bodyPr>
                    <a:lstStyle/>
                    <a:p>
                      <a:r>
                        <a:rPr sz="1875" b="0">
                          <a:solidFill>
                            <a:srgbClr val="172C36"/>
                          </a:solidFill>
                          <a:latin typeface="Helvetica Neue"/>
                          <a:ea typeface="Helvetica Neue"/>
                          <a:cs typeface="Helvetica Neue"/>
                        </a:rPr>
                        <a:t>Missing premise</a:t>
                      </a:r>
                    </a:p>
                  </a:txBody>
                  <a:tcPr marL="91440" marR="91440" marT="45720" marB="45720" anchor="ctr">
                    <a:solidFill>
                      <a:srgbClr val="FFFFFF"/>
                    </a:solidFill>
                  </a:tcPr>
                </a:tc>
              </a:tr>
            </a:tbl>
          </a:graphicData>
        </a:graphic>
      </p:graphicFrame>
      <p:sp>
        <p:nvSpPr>
          <p:cNvPr id="12" name="text-94">
            <a:extLst xmlns:a="http://schemas.openxmlformats.org/drawingml/2006/main">
              <a:ext uri="{FF2B5EF4-FFF2-40B4-BE49-F238E27FC236}">
                <a16:creationId xmlns:a16="http://schemas.microsoft.com/office/drawing/2014/main" id="{E8AA0136-0051-48D2-939A-C83B582B0F20}"/>
              </a:ext>
            </a:extLst>
          </p:cNvPr>
          <p:cNvSpPr>
            <a:spLocks xmlns:a="http://schemas.openxmlformats.org/drawingml/2006/main" noGrp="1"/>
          </p:cNvSpPr>
          <p:nvPr/>
        </p:nvSpPr>
        <p:spPr>
          <a:xfrm xmlns:a="http://schemas.openxmlformats.org/drawingml/2006/main">
            <a:off x="609600" y="5534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B76"/>
                </a:solidFill>
                <a:latin typeface="Helvetica Neue"/>
                <a:ea typeface="Helvetica Neue"/>
                <a:cs typeface="Helvetica Neue"/>
              </a:defRPr>
            </a:pPr>
            <a:r>
              <a:rPr sz="1950" b="0">
                <a:solidFill>
                  <a:srgbClr val="566B76"/>
                </a:solidFill>
                <a:latin typeface="Helvetica Neue"/>
                <a:ea typeface="Helvetica Neue"/>
                <a:cs typeface="Helvetica Neue"/>
              </a:rPr>
              <a:t>* Report the default and the unknown exception together.</a:t>
            </a:r>
          </a:p>
        </p:txBody>
      </p:sp>
      <p:sp>
        <p:nvSpPr>
          <p:cNvPr id="13" name="">
            <a:extLst xmlns:a="http://schemas.openxmlformats.org/drawingml/2006/main">
              <a:ext uri="{FF2B5EF4-FFF2-40B4-BE49-F238E27FC236}">
                <a16:creationId xmlns:a16="http://schemas.microsoft.com/office/drawing/2014/main" id="{12B20E65-FEC2-46EE-AE86-B3521C5BB0AB}"/>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14" name="text-95">
            <a:extLst xmlns:a="http://schemas.openxmlformats.org/drawingml/2006/main">
              <a:ext uri="{FF2B5EF4-FFF2-40B4-BE49-F238E27FC236}">
                <a16:creationId xmlns:a16="http://schemas.microsoft.com/office/drawing/2014/main" id="{F2A54E3B-FABF-4B50-93A3-DDFC42D35F3F}"/>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All other required premises hold in this example. The result concerns one termination ground, not the whole case.</a:t>
            </a:r>
          </a:p>
        </p:txBody>
      </p:sp>
    </p:spTree>
    <p:extLst>
      <p:ext uri="{BB962C8B-B14F-4D97-AF65-F5344CB8AC3E}">
        <p14:creationId xmlns:p14="http://schemas.microsoft.com/office/powerpoint/2010/main" val="97499747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96">
            <a:extLst xmlns:a="http://schemas.openxmlformats.org/drawingml/2006/main">
              <a:ext uri="{FF2B5EF4-FFF2-40B4-BE49-F238E27FC236}">
                <a16:creationId xmlns:a16="http://schemas.microsoft.com/office/drawing/2014/main" id="{4AE227D2-8767-4004-B852-DC1F09228F70}"/>
              </a:ext>
            </a:extLst>
          </p:cNvPr>
          <p:cNvSpPr>
            <a:spLocks xmlns:a="http://schemas.openxmlformats.org/drawingml/2006/main" noGrp="1"/>
          </p:cNvSpPr>
          <p:nvPr/>
        </p:nvSpPr>
        <p:spPr>
          <a:xfrm xmlns:a="http://schemas.openxmlformats.org/drawingml/2006/main">
            <a:off x="609600" y="3619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172C36"/>
                </a:solidFill>
                <a:latin typeface="Helvetica Neue"/>
                <a:ea typeface="Helvetica Neue"/>
                <a:cs typeface="Helvetica Neue"/>
              </a:defRPr>
            </a:pPr>
            <a:r>
              <a:rPr sz="3150" b="1">
                <a:solidFill>
                  <a:srgbClr val="172C36"/>
                </a:solidFill>
                <a:latin typeface="Helvetica Neue"/>
                <a:ea typeface="Helvetica Neue"/>
                <a:cs typeface="Helvetica Neue"/>
              </a:rPr>
              <a:t>First prototype and research hypothesis</a:t>
            </a:r>
          </a:p>
        </p:txBody>
      </p:sp>
      <p:sp>
        <p:nvSpPr>
          <p:cNvPr id="2" name="text-97">
            <a:extLst xmlns:a="http://schemas.openxmlformats.org/drawingml/2006/main">
              <a:ext uri="{FF2B5EF4-FFF2-40B4-BE49-F238E27FC236}">
                <a16:creationId xmlns:a16="http://schemas.microsoft.com/office/drawing/2014/main" id="{1945CD80-4311-4575-8A77-8FBD03550917}"/>
              </a:ext>
            </a:extLst>
          </p:cNvPr>
          <p:cNvSpPr>
            <a:spLocks xmlns:a="http://schemas.openxmlformats.org/drawingml/2006/main" noGrp="1"/>
          </p:cNvSpPr>
          <p:nvPr/>
        </p:nvSpPr>
        <p:spPr>
          <a:xfrm xmlns:a="http://schemas.openxmlformats.org/drawingml/2006/main">
            <a:off x="609600" y="10477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B76"/>
                </a:solidFill>
                <a:latin typeface="Helvetica Neue"/>
                <a:ea typeface="Helvetica Neue"/>
                <a:cs typeface="Helvetica Neue"/>
              </a:defRPr>
            </a:pPr>
            <a:r>
              <a:rPr sz="1875" b="0">
                <a:solidFill>
                  <a:srgbClr val="566B76"/>
                </a:solidFill>
                <a:latin typeface="Helvetica Neue"/>
                <a:ea typeface="Helvetica Neue"/>
                <a:cs typeface="Helvetica Neue"/>
              </a:rPr>
              <a:t>Can use-specific checks preserve valid evidence while reducing semantic errors?</a:t>
            </a:r>
          </a:p>
        </p:txBody>
      </p:sp>
      <p:sp>
        <p:nvSpPr>
          <p:cNvPr id="3" name="text-98">
            <a:extLst xmlns:a="http://schemas.openxmlformats.org/drawingml/2006/main">
              <a:ext uri="{FF2B5EF4-FFF2-40B4-BE49-F238E27FC236}">
                <a16:creationId xmlns:a16="http://schemas.microsoft.com/office/drawing/2014/main" id="{4D9B345F-AD29-4CA3-B112-7DAAC9648D89}"/>
              </a:ext>
            </a:extLst>
          </p:cNvPr>
          <p:cNvSpPr>
            <a:spLocks xmlns:a="http://schemas.openxmlformats.org/drawingml/2006/main" noGrp="1"/>
          </p:cNvSpPr>
          <p:nvPr/>
        </p:nvSpPr>
        <p:spPr>
          <a:xfrm xmlns:a="http://schemas.openxmlformats.org/drawingml/2006/main">
            <a:off x="11144250" y="6410325"/>
            <a:ext cx="438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566B76"/>
                </a:solidFill>
                <a:latin typeface="Helvetica Neue"/>
                <a:ea typeface="Helvetica Neue"/>
                <a:cs typeface="Helvetica Neue"/>
              </a:defRPr>
            </a:pPr>
            <a:r>
              <a:rPr sz="1350" b="0">
                <a:solidFill>
                  <a:srgbClr val="566B76"/>
                </a:solidFill>
                <a:latin typeface="Helvetica Neue"/>
                <a:ea typeface="Helvetica Neue"/>
                <a:cs typeface="Helvetica Neue"/>
              </a:rPr>
              <a:t>08</a:t>
            </a:r>
          </a:p>
        </p:txBody>
      </p:sp>
      <p:sp>
        <p:nvSpPr>
          <p:cNvPr id="4" name="text-99">
            <a:extLst xmlns:a="http://schemas.openxmlformats.org/drawingml/2006/main">
              <a:ext uri="{FF2B5EF4-FFF2-40B4-BE49-F238E27FC236}">
                <a16:creationId xmlns:a16="http://schemas.microsoft.com/office/drawing/2014/main" id="{FC93F848-5536-4F3A-AA14-59A758D126A0}"/>
              </a:ext>
            </a:extLst>
          </p:cNvPr>
          <p:cNvSpPr>
            <a:spLocks xmlns:a="http://schemas.openxmlformats.org/drawingml/2006/main" noGrp="1"/>
          </p:cNvSpPr>
          <p:nvPr/>
        </p:nvSpPr>
        <p:spPr>
          <a:xfrm xmlns:a="http://schemas.openxmlformats.org/drawingml/2006/main">
            <a:off x="609600" y="1771650"/>
            <a:ext cx="5476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First implementation</a:t>
            </a:r>
          </a:p>
        </p:txBody>
      </p:sp>
      <p:sp>
        <p:nvSpPr>
          <p:cNvPr id="5" name="text-100">
            <a:extLst xmlns:a="http://schemas.openxmlformats.org/drawingml/2006/main">
              <a:ext uri="{FF2B5EF4-FFF2-40B4-BE49-F238E27FC236}">
                <a16:creationId xmlns:a16="http://schemas.microsoft.com/office/drawing/2014/main" id="{B16338B0-889A-45FA-9FF5-872239094CB6}"/>
              </a:ext>
            </a:extLst>
          </p:cNvPr>
          <p:cNvSpPr>
            <a:spLocks xmlns:a="http://schemas.openxmlformats.org/drawingml/2006/main" noGrp="1"/>
          </p:cNvSpPr>
          <p:nvPr/>
        </p:nvSpPr>
        <p:spPr>
          <a:xfrm xmlns:a="http://schemas.openxmlformats.org/drawingml/2006/main">
            <a:off x="609600" y="2505075"/>
            <a:ext cx="62960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One issue and procedural stage</a:t>
            </a:r>
          </a:p>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Shared facts, definitions and identities</a:t>
            </a:r>
          </a:p>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Executable relations and a small rule package</a:t>
            </a:r>
          </a:p>
        </p:txBody>
      </p:sp>
      <p:sp>
        <p:nvSpPr>
          <p:cNvPr id="6" name="text-101">
            <a:extLst xmlns:a="http://schemas.openxmlformats.org/drawingml/2006/main">
              <a:ext uri="{FF2B5EF4-FFF2-40B4-BE49-F238E27FC236}">
                <a16:creationId xmlns:a16="http://schemas.microsoft.com/office/drawing/2014/main" id="{DF607313-C66C-4996-9B69-AC8FEF49B962}"/>
              </a:ext>
            </a:extLst>
          </p:cNvPr>
          <p:cNvSpPr>
            <a:spLocks xmlns:a="http://schemas.openxmlformats.org/drawingml/2006/main" noGrp="1"/>
          </p:cNvSpPr>
          <p:nvPr/>
        </p:nvSpPr>
        <p:spPr>
          <a:xfrm xmlns:a="http://schemas.openxmlformats.org/drawingml/2006/main">
            <a:off x="7648575" y="1771650"/>
            <a:ext cx="39338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2C36"/>
                </a:solidFill>
                <a:latin typeface="Helvetica Neue"/>
                <a:ea typeface="Helvetica Neue"/>
                <a:cs typeface="Helvetica Neue"/>
              </a:defRPr>
            </a:pPr>
            <a:r>
              <a:rPr sz="2325" b="1">
                <a:solidFill>
                  <a:srgbClr val="172C36"/>
                </a:solidFill>
                <a:latin typeface="Helvetica Neue"/>
                <a:ea typeface="Helvetica Neue"/>
                <a:cs typeface="Helvetica Neue"/>
              </a:rPr>
              <a:t>Critical comparison</a:t>
            </a:r>
          </a:p>
        </p:txBody>
      </p:sp>
      <p:sp>
        <p:nvSpPr>
          <p:cNvPr id="7" name="text-102">
            <a:extLst xmlns:a="http://schemas.openxmlformats.org/drawingml/2006/main">
              <a:ext uri="{FF2B5EF4-FFF2-40B4-BE49-F238E27FC236}">
                <a16:creationId xmlns:a16="http://schemas.microsoft.com/office/drawing/2014/main" id="{4779BEFF-C89C-4A31-A201-E9ED012FA338}"/>
              </a:ext>
            </a:extLst>
          </p:cNvPr>
          <p:cNvSpPr>
            <a:spLocks xmlns:a="http://schemas.openxmlformats.org/drawingml/2006/main" noGrp="1"/>
          </p:cNvSpPr>
          <p:nvPr/>
        </p:nvSpPr>
        <p:spPr>
          <a:xfrm xmlns:a="http://schemas.openxmlformats.org/drawingml/2006/main">
            <a:off x="7648575" y="2505075"/>
            <a:ext cx="3933825"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Ignore the qualifier</a:t>
            </a:r>
          </a:p>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Block the whole assertion</a:t>
            </a:r>
          </a:p>
          <a:p xmlns:a="http://schemas.openxmlformats.org/drawingml/2006/main">
            <a:pPr algn="l">
              <a:defRPr sz="2025" b="0">
                <a:solidFill>
                  <a:srgbClr val="172C36"/>
                </a:solidFill>
                <a:latin typeface="Helvetica Neue"/>
                <a:ea typeface="Helvetica Neue"/>
                <a:cs typeface="Helvetica Neue"/>
              </a:defRPr>
            </a:pPr>
            <a:r>
              <a:rPr sz="2025" b="0">
                <a:solidFill>
                  <a:srgbClr val="172C36"/>
                </a:solidFill>
                <a:latin typeface="Helvetica Neue"/>
                <a:ea typeface="Helvetica Neue"/>
                <a:cs typeface="Helvetica Neue"/>
              </a:rPr>
              <a:t>Block only affected uses</a:t>
            </a:r>
          </a:p>
        </p:txBody>
      </p:sp>
      <p:sp>
        <p:nvSpPr>
          <p:cNvPr id="8" name="">
            <a:extLst xmlns:a="http://schemas.openxmlformats.org/drawingml/2006/main">
              <a:ext uri="{FF2B5EF4-FFF2-40B4-BE49-F238E27FC236}">
                <a16:creationId xmlns:a16="http://schemas.microsoft.com/office/drawing/2014/main" id="{C5999868-5FB5-436D-AED2-097B0609D594}"/>
              </a:ext>
            </a:extLst>
          </p:cNvPr>
          <p:cNvSpPr>
            <a:spLocks xmlns:a="http://schemas.openxmlformats.org/drawingml/2006/main" noGrp="1"/>
          </p:cNvSpPr>
          <p:nvPr/>
        </p:nvSpPr>
        <p:spPr>
          <a:xfrm xmlns:a="http://schemas.openxmlformats.org/drawingml/2006/main" flipV="0">
            <a:off x="609600" y="44100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9" name="text-103">
            <a:extLst xmlns:a="http://schemas.openxmlformats.org/drawingml/2006/main">
              <a:ext uri="{FF2B5EF4-FFF2-40B4-BE49-F238E27FC236}">
                <a16:creationId xmlns:a16="http://schemas.microsoft.com/office/drawing/2014/main" id="{AD056E15-CB54-4028-B544-69D8E597B1D0}"/>
              </a:ext>
            </a:extLst>
          </p:cNvPr>
          <p:cNvSpPr>
            <a:spLocks xmlns:a="http://schemas.openxmlformats.org/drawingml/2006/main" noGrp="1"/>
          </p:cNvSpPr>
          <p:nvPr/>
        </p:nvSpPr>
        <p:spPr>
          <a:xfrm xmlns:a="http://schemas.openxmlformats.org/drawingml/2006/main">
            <a:off x="609600" y="47625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2C36"/>
                </a:solidFill>
                <a:latin typeface="Helvetica Neue"/>
                <a:ea typeface="Helvetica Neue"/>
                <a:cs typeface="Helvetica Neue"/>
              </a:defRPr>
            </a:pPr>
            <a:r>
              <a:rPr sz="2175" b="1">
                <a:solidFill>
                  <a:srgbClr val="172C36"/>
                </a:solidFill>
                <a:latin typeface="Helvetica Neue"/>
                <a:ea typeface="Helvetica Neue"/>
                <a:cs typeface="Helvetica Neue"/>
              </a:rPr>
              <a:t>Evaluate together</a:t>
            </a:r>
          </a:p>
        </p:txBody>
      </p:sp>
      <p:sp>
        <p:nvSpPr>
          <p:cNvPr id="10" name="text-104">
            <a:extLst xmlns:a="http://schemas.openxmlformats.org/drawingml/2006/main">
              <a:ext uri="{FF2B5EF4-FFF2-40B4-BE49-F238E27FC236}">
                <a16:creationId xmlns:a16="http://schemas.microsoft.com/office/drawing/2014/main" id="{24A29B5E-38BF-46C6-B605-F36DBD56071D}"/>
              </a:ext>
            </a:extLst>
          </p:cNvPr>
          <p:cNvSpPr>
            <a:spLocks xmlns:a="http://schemas.openxmlformats.org/drawingml/2006/main" noGrp="1"/>
          </p:cNvSpPr>
          <p:nvPr/>
        </p:nvSpPr>
        <p:spPr>
          <a:xfrm xmlns:a="http://schemas.openxmlformats.org/drawingml/2006/main">
            <a:off x="4143375" y="4657725"/>
            <a:ext cx="74390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Incorrect uses, valid witnesses retained,</a:t>
            </a:r>
          </a:p>
          <a:p xmlns:a="http://schemas.openxmlformats.org/drawingml/2006/main">
            <a:pPr algn="l">
              <a:defRPr sz="2100" b="0">
                <a:solidFill>
                  <a:srgbClr val="172C36"/>
                </a:solidFill>
                <a:latin typeface="Helvetica Neue"/>
                <a:ea typeface="Helvetica Neue"/>
                <a:cs typeface="Helvetica Neue"/>
              </a:defRPr>
            </a:pPr>
            <a:r>
              <a:rPr sz="2100" b="0">
                <a:solidFill>
                  <a:srgbClr val="172C36"/>
                </a:solidFill>
                <a:latin typeface="Helvetica Neue"/>
                <a:ea typeface="Helvetica Neue"/>
                <a:cs typeface="Helvetica Neue"/>
              </a:rPr>
              <a:t>unresolved cases and review time</a:t>
            </a:r>
          </a:p>
        </p:txBody>
      </p:sp>
      <p:sp>
        <p:nvSpPr>
          <p:cNvPr id="11" name="">
            <a:extLst xmlns:a="http://schemas.openxmlformats.org/drawingml/2006/main">
              <a:ext uri="{FF2B5EF4-FFF2-40B4-BE49-F238E27FC236}">
                <a16:creationId xmlns:a16="http://schemas.microsoft.com/office/drawing/2014/main" id="{45CC8A73-A99C-4CF4-B689-CD7EDCCEA8AD}"/>
              </a:ext>
            </a:extLst>
          </p:cNvPr>
          <p:cNvSpPr>
            <a:spLocks xmlns:a="http://schemas.openxmlformats.org/drawingml/2006/main" noGrp="1"/>
          </p:cNvSpPr>
          <p:nvPr/>
        </p:nvSpPr>
        <p:spPr>
          <a:xfrm xmlns:a="http://schemas.openxmlformats.org/drawingml/2006/main" flipV="0">
            <a:off x="609600" y="6048375"/>
            <a:ext cx="10972800" cy="0"/>
          </a:xfrm>
          <a:prstGeom xmlns:a="http://schemas.openxmlformats.org/drawingml/2006/main" prst="line">
            <a:avLst/>
          </a:prstGeom>
          <a:noFill xmlns:a="http://schemas.openxmlformats.org/drawingml/2006/main"/>
          <a:ln xmlns:a="http://schemas.openxmlformats.org/drawingml/2006/main" w="19050">
            <a:solidFill>
              <a:srgbClr val="D7E0E5"/>
            </a:solidFill>
            <a:prstDash val="solid"/>
          </a:ln>
        </p:spPr>
      </p:sp>
      <p:sp>
        <p:nvSpPr>
          <p:cNvPr id="12" name="text-105">
            <a:extLst xmlns:a="http://schemas.openxmlformats.org/drawingml/2006/main">
              <a:ext uri="{FF2B5EF4-FFF2-40B4-BE49-F238E27FC236}">
                <a16:creationId xmlns:a16="http://schemas.microsoft.com/office/drawing/2014/main" id="{F8466FE7-A77F-4F5C-86D2-655B7A946B47}"/>
              </a:ext>
            </a:extLst>
          </p:cNvPr>
          <p:cNvSpPr>
            <a:spLocks xmlns:a="http://schemas.openxmlformats.org/drawingml/2006/main" noGrp="1"/>
          </p:cNvSpPr>
          <p:nvPr/>
        </p:nvSpPr>
        <p:spPr>
          <a:xfrm xmlns:a="http://schemas.openxmlformats.org/drawingml/2006/main">
            <a:off x="609600" y="6181725"/>
            <a:ext cx="10144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566B76"/>
                </a:solidFill>
                <a:latin typeface="Helvetica Neue"/>
                <a:ea typeface="Helvetica Neue"/>
                <a:cs typeface="Helvetica Neue"/>
              </a:defRPr>
            </a:pPr>
            <a:r>
              <a:rPr sz="1500" b="0">
                <a:solidFill>
                  <a:srgbClr val="566B76"/>
                </a:solidFill>
                <a:latin typeface="Helvetica Neue"/>
                <a:ea typeface="Helvetica Neue"/>
                <a:cs typeface="Helvetica Neue"/>
              </a:rPr>
              <a:t>Freeze before confirmation. Outcome association requires audited labels. No empirical superiority or novelty claim yet.</a:t>
            </a:r>
          </a:p>
        </p:txBody>
      </p:sp>
    </p:spTree>
    <p:extLst>
      <p:ext uri="{BB962C8B-B14F-4D97-AF65-F5344CB8AC3E}">
        <p14:creationId xmlns:p14="http://schemas.microsoft.com/office/powerpoint/2010/main" val="160286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2026-09-29T12:34:51.4340000Z</dcterms:created>
  <dcterms:modified xsi:type="dcterms:W3CDTF">2026-09-29T12:34:51.4340000Z</dcterms:modified>
</coreProperties>
</file>