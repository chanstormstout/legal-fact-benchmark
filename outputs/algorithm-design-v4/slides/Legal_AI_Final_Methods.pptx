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d477138c57f4c13" /><Relationship Type="http://schemas.openxmlformats.org/officeDocument/2006/relationships/extended-properties" Target="/docProps/app.xml" Id="R903774a9163442c5" /><Relationship Type="http://schemas.openxmlformats.org/officeDocument/2006/relationships/officeDocument" Target="/ppt/presentation.xml" Id="R3bff1a542536431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028773b9bad43ff"/>
  </p:sldMasterIdLst>
  <p:notesMasterIdLst>
    <p:notesMasterId xmlns:r="http://schemas.openxmlformats.org/officeDocument/2006/relationships" r:id="R57a39588cfb94eb9"/>
  </p:notesMasterIdLst>
  <p:sldIdLst>
    <p:sldId xmlns:r="http://schemas.openxmlformats.org/officeDocument/2006/relationships" id="256" r:id="R75d61d33160847b3"/>
    <p:sldId xmlns:r="http://schemas.openxmlformats.org/officeDocument/2006/relationships" id="257" r:id="R3deeb161ef1842b1"/>
    <p:sldId xmlns:r="http://schemas.openxmlformats.org/officeDocument/2006/relationships" id="258" r:id="R3a396bd2efc34549"/>
    <p:sldId xmlns:r="http://schemas.openxmlformats.org/officeDocument/2006/relationships" id="259" r:id="R0adf2daabf624127"/>
    <p:sldId xmlns:r="http://schemas.openxmlformats.org/officeDocument/2006/relationships" id="260" r:id="R44007bfb2d294ef4"/>
    <p:sldId xmlns:r="http://schemas.openxmlformats.org/officeDocument/2006/relationships" id="261" r:id="R77cbba5587a44d91"/>
    <p:sldId xmlns:r="http://schemas.openxmlformats.org/officeDocument/2006/relationships" id="262" r:id="Rd6eb2490bed044fb"/>
    <p:sldId xmlns:r="http://schemas.openxmlformats.org/officeDocument/2006/relationships" id="263" r:id="R7db2a44112744b20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a89ac456b754190" /><Relationship Type="http://schemas.openxmlformats.org/officeDocument/2006/relationships/slideMaster" Target="/ppt/slideMasters/slideMaster1.xml" Id="R7028773b9bad43ff" /><Relationship Type="http://schemas.openxmlformats.org/officeDocument/2006/relationships/notesMaster" Target="/ppt/notesMasters/notesMaster1.xml" Id="R57a39588cfb94eb9" /><Relationship Type="http://schemas.openxmlformats.org/officeDocument/2006/relationships/presProps" Target="/ppt/presProps.xml" Id="Rbb6a9e4c336844aa" /><Relationship Type="http://schemas.openxmlformats.org/officeDocument/2006/relationships/tableStyles" Target="/ppt/tableStyles.xml" Id="Re80df5edc5a54a91" /><Relationship Type="http://schemas.openxmlformats.org/officeDocument/2006/relationships/slide" Target="/ppt/slides/slide1.xml" Id="R75d61d33160847b3" /><Relationship Type="http://schemas.openxmlformats.org/officeDocument/2006/relationships/slide" Target="/ppt/slides/slide2.xml" Id="R3deeb161ef1842b1" /><Relationship Type="http://schemas.openxmlformats.org/officeDocument/2006/relationships/slide" Target="/ppt/slides/slide3.xml" Id="R3a396bd2efc34549" /><Relationship Type="http://schemas.openxmlformats.org/officeDocument/2006/relationships/slide" Target="/ppt/slides/slide4.xml" Id="R0adf2daabf624127" /><Relationship Type="http://schemas.openxmlformats.org/officeDocument/2006/relationships/slide" Target="/ppt/slides/slide5.xml" Id="R44007bfb2d294ef4" /><Relationship Type="http://schemas.openxmlformats.org/officeDocument/2006/relationships/slide" Target="/ppt/slides/slide6.xml" Id="R77cbba5587a44d91" /><Relationship Type="http://schemas.openxmlformats.org/officeDocument/2006/relationships/slide" Target="/ppt/slides/slide7.xml" Id="Rd6eb2490bed044fb" /><Relationship Type="http://schemas.openxmlformats.org/officeDocument/2006/relationships/slide" Target="/ppt/slides/slide8.xml" Id="R7db2a44112744b2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97acc04638f42f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3bce83957504b7f" /><Relationship Type="http://schemas.openxmlformats.org/officeDocument/2006/relationships/notesMaster" Target="/ppt/notesMasters/notesMaster1.xml" Id="R74774eed6e1f4e3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00fa248733d4c65" /><Relationship Type="http://schemas.openxmlformats.org/officeDocument/2006/relationships/notesMaster" Target="/ppt/notesMasters/notesMaster1.xml" Id="R2a979de6009d486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955e223eef64bb2" /><Relationship Type="http://schemas.openxmlformats.org/officeDocument/2006/relationships/notesMaster" Target="/ppt/notesMasters/notesMaster1.xml" Id="Rd8e373a31d0a47e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caa9fb28c234f09" /><Relationship Type="http://schemas.openxmlformats.org/officeDocument/2006/relationships/notesMaster" Target="/ppt/notesMasters/notesMaster1.xml" Id="Refbf8c02355542c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c1bc7bd83b3412e" /><Relationship Type="http://schemas.openxmlformats.org/officeDocument/2006/relationships/notesMaster" Target="/ppt/notesMasters/notesMaster1.xml" Id="Rec51b9c55e944fc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48ac86e93fb4c7d" /><Relationship Type="http://schemas.openxmlformats.org/officeDocument/2006/relationships/notesMaster" Target="/ppt/notesMasters/notesMaster1.xml" Id="Rd4138420fc9241e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8e5e0cb618e4f1a" /><Relationship Type="http://schemas.openxmlformats.org/officeDocument/2006/relationships/notesMaster" Target="/ppt/notesMasters/notesMaster1.xml" Id="Rb3dd90fe0b534b5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317e01b24314e2b" /><Relationship Type="http://schemas.openxmlformats.org/officeDocument/2006/relationships/notesMaster" Target="/ppt/notesMasters/notesMaster1.xml" Id="R231782d0b770435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次方案保留项目原本从证据到事实、模式、因素、要件和结论的流程，重点解决三个计算问题。A给事实明确含义，规定它能用于什么计算；B生成可复用的关系，并执行检查和修正；C从法源取得规则和桥接，重建论证。请指着下方直连线：C直接读取A，B不是法律事实的唯一入口。原PDF已经有embedding检索、LLM关系判断、保守聚类和来源保存。我们改进的是定义修订、对象关系搜索和跨模块的使用条件。当前语料是判决文书，首版做回顾性发现，不能宣称判前预测。整份deck中的案例和法律规则都是构造例子，当前没有真实案件效果结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 Original PDF pp1–8; team pipeline and assignments; 最终算法方案.md §§1–3.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的输入是带原文的断言。先开放抽取，再起草有参数、排除项、正例和边界反例的定义卡。新断言用别名、BM25和向量检索找候选卡，逐槽检查来源，唯一明确的最具体定义通过才接受机器映射。重要限定不能被相似度抵消。本页三项可以共享付款这个类型，但债务、部分或足额、法院认定或当事人主张仍各自保存。严格等价要求在声明的抽象政策下完整规范签名一致；family只组织相关或上下位类型，不产生替换许可。通知寄出和收到可作为NOTICE_EVENT family下的不同类型。定义错误时依据原文修别名、补参数或拆分定义，回放已审阅正反例，无回归才发布新版本。四种状态分开：来源陈述状态、字段可用性、机器接受状态、人工审阅状态。COURT_FOUND仍可能只是未经人工核验的机器抽取。近期ClassMATe启发定义与实例共同修订，GraphRefine启发区分纠错、含义不变的改写与排除，不能直接照搬其监督训练成绩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 ClassMATe https://aclanthology.org/2025.tacl-1.55.pdf; GraphRefine https://aclanthology.org/2026.acl-long.1353.pdf; Final design §§3–4.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例子中初次抽取识别了付款和足额，但没有解析“只用于D2”。只把这句话留在metadata里不够，因为后续程序可能继续拿full=true证明D1清偿。我们给残余登记所属断言和影响位置，例如债务归属、足额对象。每个查询声明必需字段，编译器计算依赖闭包，存在相交的未解决残余就阻断这次用途。左边p1可能通过经批准的投影支持“文书记载付款”，但不能支持“D1已付清”。若连残余作用域都不清楚，默认阻断所属断言或可能受影响的原断言组，不能让LLM一句不相关解除。原文审查后补出D2，该用途成为明确不匹配。另一条独立完整的D1付款仍可用，不封锁整案。依赖分析也可能错，因此随机审计必须从原文段落抽样，包括漏抽、排除和高置信记录。当前预算初值1/4随机、3/4冲突边界，比例不是理论最优。这个用途级阻断和来源修复是最值得先验证的贡献假设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 Final design §4; source-grounded use-dependency design is a proposed mechanism, not an established performance result. All text is hypothetical.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默认从实际存在的2到4原子连通片段出发，不从所有可能谓词任意组合。连通要求真实主体、合同或事件关系，case_id、相同金额或同一类型不能充当连接。两份兼容片段反统一为有类型变量，保留共同关系；LLM补充有来源的描述概念，并明确缺观察字段还是缺算子。候选必须有固定意图。本例意图是同一债务收到通知后足额清偿，错误查询却把D1通知和D2付款连起来。执行器保存各节点绑定，定位为债务变量未统一，再做有依据的局部修正。还要要求收到而非寄出、足额针对该债务、允许的陈述状态，日期差只能读对应事件日期。不同意图各自维护beam，不让更宽的概念靠高覆盖获胜。首版展开最多6原子、6对象变量、4标量变量、2层，每意图3轮、每父8补丁、beam12；10%执行预算补查短二原子查询，均是运行初值。先过来源、范围、语义测试，再比较简洁和执行成本。字段未知、绑定失败、无记录见证和执行超时分开。没有记录不等于现实为假。近期RHDA和ADVENT启发执行反馈与语言取得，但我们没有它们的相同监督条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 RHDA https://proceedings.iclr.cc/paper_files/paper/2025/file/eeffa70bcbbd43f6bd067edebc6595e8-Paper-Conference.pdf; ADVENT https://arxiv.org/html/2607.01585v1; language bias https://arxiv.org/html/2505.21486v2; Final design §5.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保存可执行关系及其审阅等级，S是从G里选出便于概览的紧凑描述。C可直接用A或G，不因关系没进入S就删掉罕见例外。最小描述长度的直觉是定义付一次成本，多次调用保留各自真实绑定，剩余事实仍单独保存。真实编码要计入完整定义、所有恢复所需变量、source ID、状态和残余，不能只写个P名字假装压缩。固定同一个A版本数据D，公共头部也统一计费。首版压缩覆盖中每条事实记录恢复一次，不同调用可以共享合同或主体ID；G中的见证仍可以重叠。这个取舍比上一轮允许任意重叠token更简单，代价是可能损失部分压缩收益。内层从literal开始选净节省最多的合法调用，外层尝试添加或删除一个模式并重算总位数，至少改善1bit才接受，预算耗尽停止；不要求第一次调用独自偿还全部定义。不用MILP，不承诺全局最优。每次更新都检查解码后逐条恢复D。KG-MDL支持共享节点而不重叠边的类似思路；Snor说明重叠需要专门覆盖机制，不是简单删掉不相交条件。本页没有实测码长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 KG-MDL https://arxiv.org/html/2309.12908; Snor https://eda.rg.cispa.io/pubs/2025/snor-vanleeuwen%2Cvreeken.pdf; Final design §6.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输入不是可靠现成规则，而是法源包：正文、定义、例外、引用、法域、有效时间、程序范围和法院怎样使用来源。沿已识别引用展开，缺失条文要标出，不能假称法律来源已穷尽。使用共享词表联合起草RuleCard和BridgeCard，每个组成回指来源。桥接回答描述事实还要满足什么才能算法律条件，例如实际收到还要检查指定收件人和合同债务标识，才可能在这条虚构规则下算有效通知。依法视为收到另有法律规则，不能改写为实际收到。候选经类型绑定检查，以及原文独立产生的必要条件、例外和范围测试；有失败就局部修复。不能自己编规则再自己生成答案自证正确。最多3解释、每解释3轮，未解分歧保留。规范含义、桥接、例外政策和优先关系由法律审阅批准后进入正式规则包。仅支持或削弱的因素存为ReasonFor/Against，不自动成为足以胜诉的条件。DDL形式化研究影响联合取得和来源测试；LRI/SILVER的归纳机制只用于候选，不能把多数支持当法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 DDL https://arxiv.org/html/2506.08899v3; LRI/SILVER https://arxiv.org/html/2505.14104v2; AJF https://aclanthology.org/2026.eacl-long.128.pdf; Final design §7.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沿用甲案K1/D1。注意这里使用的是独立完整的p5付款，不是前面有D2限定的p1。n1在5月4日实际收到，p5在13日付清，按例中规定的日历差是9日。寄出日1日会算成12日，不能替代收到日。假设收件人和债务标识等桥接条件也已齐备，但款项是否依法撤销未记载。若这条经审阅规则规定有合格撤销依据才攻击普通规则，则可形成默认支持，展示时同时写明撤销未知；不能声称已证明没有撤销。如果另一条规则要求明确证明未撤销，同样资料缺前提。这是不同规则政策导致的不同结果。C先构造完整有限论证和攻击，再求grounded标记：无有效反驳者的进入IN，被IN反驳的OUT，其余可能未决。不能先要求例外IN再画攻击，不能在不完整图上认证结果。首版用受限ASPIC+，仅处理明确的规则优先和唯一最后可推翻规则比较，复杂规范保留未支持说明。K2/D3的收到日期未知则不能走这条期限路线；部分付款和当事人主张也不代替完整法院认定。输出仅针对特定解除理由，不是整个案件胜诉预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 ASPIC+ tutorial https://journals.sagepub.com/doi/10.1080/19462166.2013.869766; Final design §§7–8. Rule, dates and cases are hypothetical.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我们已经有A/B/C一套可实现方案，第一版只在一个明确争点和阶段贯通。研究核心放在用途级阻断与来源局部修复：同一事实可以对一种用途合格，对另一种用途待定。最接近的GraphRefine修事实，ClassMATe修定义，RHDA和ADVENT修程序；依赖传播本身也是已有思想。因此仅把它们组合不够，必须证明在法律含义、对象、状态和期限上有真实增量。最小对照用同样模型、原文与专家预算，比较忽略限定、整断言阻断和依赖级阻断修复，联合看错误使用、正确见证保留、未决率与审阅时间，避免全拒绝假装高精度。若局部范围不可靠就回退断言级；LLM编辑无净收益则保留真实片段和确定执行。延期微调、全成员EQ/MILP、大规模穷举、重叠记录编码、多世界和自动因素权重。原PDF的结果关联仍保留，有经核验的当事人/请求/阶段标签之后，训练内按纠纷家族比较单事实与增加关系组合的模型，在最终确认集不修正。今天可以向老师提出的是有机制依据、可检验的研究设计，不能宣称已经优于所有备选或已证明新颖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 Final design §§9–10; recent-paper coverage and choices in 文献依据与最终取舍.md. No real-case experiment has been run for this design.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391e151ab9d46e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bba676455104265" /><Relationship Type="http://schemas.openxmlformats.org/officeDocument/2006/relationships/slideLayout" Target="/ppt/slideLayouts/slideLayout1.xml" Id="Re35e1c0c9f61495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35e1c0c9f61495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49fa4a0d96b4ee8" /><Relationship Type="http://schemas.openxmlformats.org/officeDocument/2006/relationships/notesSlide" Target="/ppt/notesSlides/notesSlide1.xml" Id="R471e0210663348e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ffd02ab28ef4ca8" /><Relationship Type="http://schemas.openxmlformats.org/officeDocument/2006/relationships/notesSlide" Target="/ppt/notesSlides/notesSlide2.xml" Id="Rbeb4fc085e7e433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51d61eb1a2e45f1" /><Relationship Type="http://schemas.openxmlformats.org/officeDocument/2006/relationships/notesSlide" Target="/ppt/notesSlides/notesSlide3.xml" Id="Rf115ba532977414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5a75b2c9e884e79" /><Relationship Type="http://schemas.openxmlformats.org/officeDocument/2006/relationships/notesSlide" Target="/ppt/notesSlides/notesSlide4.xml" Id="R19db2e45695b4ea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ac026aced7e4400" /><Relationship Type="http://schemas.openxmlformats.org/officeDocument/2006/relationships/notesSlide" Target="/ppt/notesSlides/notesSlide5.xml" Id="R0d769a37a940452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2711d80e06d4dc2" /><Relationship Type="http://schemas.openxmlformats.org/officeDocument/2006/relationships/notesSlide" Target="/ppt/notesSlides/notesSlide6.xml" Id="R22469c62cb384a3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501b7bd13184784" /><Relationship Type="http://schemas.openxmlformats.org/officeDocument/2006/relationships/notesSlide" Target="/ppt/notesSlides/notesSlide7.xml" Id="R31afc0daf4ff4ba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0d83c584fb43c3" /><Relationship Type="http://schemas.openxmlformats.org/officeDocument/2006/relationships/notesSlide" Target="/ppt/notesSlides/notesSlide8.xml" Id="Rbd7bfea9f3f64e8f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4" name="text-1">
            <a:extLst xmlns:a="http://schemas.openxmlformats.org/drawingml/2006/main">
              <a:ext uri="{FF2B5EF4-FFF2-40B4-BE49-F238E27FC236}">
                <a16:creationId xmlns:a16="http://schemas.microsoft.com/office/drawing/2014/main" id="{779281E2-3C48-441B-AD0F-6DAD6DBCD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972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rPr>
              <a:t>Legal fact algorithms</a:t>
            </a:r>
          </a:p>
        </p:txBody>
      </p:sp>
      <p:sp>
        <p:nvSpPr>
          <p:cNvPr id="2" name="text-2">
            <a:extLst xmlns:a="http://schemas.openxmlformats.org/drawingml/2006/main">
              <a:ext uri="{FF2B5EF4-FFF2-40B4-BE49-F238E27FC236}">
                <a16:creationId xmlns:a16="http://schemas.microsoft.com/office/drawing/2014/main" id="{0904F2CA-D2EE-4AD2-BB79-CD7EC4B3C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47750"/>
            <a:ext cx="1097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566B7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566B76"/>
                </a:solidFill>
                <a:latin typeface="Helvetica Neue"/>
                <a:ea typeface="Helvetica Neue"/>
                <a:cs typeface="Helvetica Neue"/>
              </a:rPr>
              <a:t>A research design for comparing cases and reconstructing legal arguments</a:t>
            </a:r>
          </a:p>
        </p:txBody>
      </p:sp>
      <p:sp>
        <p:nvSpPr>
          <p:cNvPr id="3" name="text-3">
            <a:extLst xmlns:a="http://schemas.openxmlformats.org/drawingml/2006/main">
              <a:ext uri="{FF2B5EF4-FFF2-40B4-BE49-F238E27FC236}">
                <a16:creationId xmlns:a16="http://schemas.microsoft.com/office/drawing/2014/main" id="{43136390-8FC1-4443-A87B-457062535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38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66B7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66B76"/>
                </a:solidFill>
                <a:latin typeface="Helvetica Neue"/>
                <a:ea typeface="Helvetica Neue"/>
                <a:cs typeface="Helvetica Neue"/>
              </a:rPr>
              <a:t>01</a:t>
            </a:r>
          </a:p>
        </p:txBody>
      </p:sp>
      <p:sp>
        <p:nvSpPr>
          <p:cNvPr id="4" name="shape-4">
            <a:extLst xmlns:a="http://schemas.openxmlformats.org/drawingml/2006/main">
              <a:ext uri="{FF2B5EF4-FFF2-40B4-BE49-F238E27FC236}">
                <a16:creationId xmlns:a16="http://schemas.microsoft.com/office/drawing/2014/main" id="{887484BF-3C8E-4B94-ABE9-331F6D779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81250"/>
            <a:ext cx="6477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63758A"/>
            </a:solidFill>
          </a:ln>
        </p:spPr>
      </p:sp>
      <p:sp>
        <p:nvSpPr>
          <p:cNvPr id="5" name="shape-5">
            <a:extLst xmlns:a="http://schemas.openxmlformats.org/drawingml/2006/main">
              <a:ext uri="{FF2B5EF4-FFF2-40B4-BE49-F238E27FC236}">
                <a16:creationId xmlns:a16="http://schemas.microsoft.com/office/drawing/2014/main" id="{97CF9949-D2F0-4CCA-863B-8D4BC93EB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381250"/>
            <a:ext cx="152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0F6"/>
          </a:solidFill>
          <a:ln xmlns:a="http://schemas.openxmlformats.org/drawingml/2006/main" w="19050">
            <a:solidFill>
              <a:srgbClr val="63758A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920956F-4F61-4D04-9C22-97935A7DC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857250" y="2667000"/>
            <a:ext cx="419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63758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1911D38-6D68-4610-AC34-1E231A2EC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857250" y="2781300"/>
            <a:ext cx="419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63758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E92EA08-71D4-48D8-900B-E9A45C041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857250" y="2895600"/>
            <a:ext cx="419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63758A"/>
            </a:solidFill>
            <a:prstDash val="solid"/>
          </a:ln>
        </p:spPr>
      </p:sp>
      <p:sp>
        <p:nvSpPr>
          <p:cNvPr id="9" name="text-6">
            <a:extLst xmlns:a="http://schemas.openxmlformats.org/drawingml/2006/main">
              <a:ext uri="{FF2B5EF4-FFF2-40B4-BE49-F238E27FC236}">
                <a16:creationId xmlns:a16="http://schemas.microsoft.com/office/drawing/2014/main" id="{704CE046-C12A-466D-98F9-1B79D8015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390900"/>
            <a:ext cx="15621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rPr>
              <a:t>Judgment</a:t>
            </a:r>
          </a:p>
          <a:p xmlns:a="http://schemas.openxmlformats.org/drawingml/2006/main">
            <a:pPr algn="ctr">
              <a:defRPr sz="2025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rPr>
              <a:t>passages</a:t>
            </a:r>
          </a:p>
        </p:txBody>
      </p:sp>
      <p:sp>
        <p:nvSpPr>
          <p:cNvPr id="10" name="shape-7">
            <a:extLst xmlns:a="http://schemas.openxmlformats.org/drawingml/2006/main">
              <a:ext uri="{FF2B5EF4-FFF2-40B4-BE49-F238E27FC236}">
                <a16:creationId xmlns:a16="http://schemas.microsoft.com/office/drawing/2014/main" id="{A788E3F2-DBC6-47A7-BCF9-2B9FAC028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305050"/>
            <a:ext cx="2533650" cy="1009650"/>
          </a:xfrm>
          <a:prstGeom xmlns:a="http://schemas.openxmlformats.org/drawingml/2006/main" prst="roundRect">
            <a:avLst>
              <a:gd name="adj" fmla="val 9434"/>
            </a:avLst>
          </a:prstGeom>
          <a:solidFill xmlns:a="http://schemas.openxmlformats.org/drawingml/2006/main">
            <a:srgbClr val="EAF0F6"/>
          </a:solidFill>
          <a:ln xmlns:a="http://schemas.openxmlformats.org/drawingml/2006/main" w="19050">
            <a:solidFill>
              <a:srgbClr val="63758A"/>
            </a:solidFill>
          </a:ln>
        </p:spPr>
        <p:txBody>
          <a:bodyPr xmlns:a="http://schemas.openxmlformats.org/drawingml/2006/main" lIns="95250" tIns="76200" rIns="9525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rPr>
              <a:t>A</a:t>
            </a:r>
          </a:p>
          <a:p xmlns:a="http://schemas.openxmlformats.org/drawingml/2006/main">
            <a:pPr algn="ctr">
              <a:defRPr sz="2025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rPr>
              <a:t>Canonical facts</a:t>
            </a:r>
          </a:p>
        </p:txBody>
      </p:sp>
      <p:sp>
        <p:nvSpPr>
          <p:cNvPr id="11" name="shape-8">
            <a:extLst xmlns:a="http://schemas.openxmlformats.org/drawingml/2006/main">
              <a:ext uri="{FF2B5EF4-FFF2-40B4-BE49-F238E27FC236}">
                <a16:creationId xmlns:a16="http://schemas.microsoft.com/office/drawing/2014/main" id="{4E813E49-5B5A-4EAC-B2E1-68B38646A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2305050"/>
            <a:ext cx="2533650" cy="1009650"/>
          </a:xfrm>
          <a:prstGeom xmlns:a="http://schemas.openxmlformats.org/drawingml/2006/main" prst="roundRect">
            <a:avLst>
              <a:gd name="adj" fmla="val 9434"/>
            </a:avLst>
          </a:prstGeom>
          <a:solidFill xmlns:a="http://schemas.openxmlformats.org/drawingml/2006/main">
            <a:srgbClr val="EAF0F6"/>
          </a:solidFill>
          <a:ln xmlns:a="http://schemas.openxmlformats.org/drawingml/2006/main" w="19050">
            <a:solidFill>
              <a:srgbClr val="63758A"/>
            </a:solidFill>
          </a:ln>
        </p:spPr>
        <p:txBody>
          <a:bodyPr xmlns:a="http://schemas.openxmlformats.org/drawingml/2006/main" lIns="95250" tIns="76200" rIns="9525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rPr>
              <a:t>B</a:t>
            </a:r>
          </a:p>
          <a:p xmlns:a="http://schemas.openxmlformats.org/drawingml/2006/main">
            <a:pPr algn="ctr">
              <a:defRPr sz="2025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rPr>
              <a:t>Fact patterns</a:t>
            </a:r>
          </a:p>
        </p:txBody>
      </p:sp>
      <p:sp>
        <p:nvSpPr>
          <p:cNvPr id="12" name="shape-9">
            <a:extLst xmlns:a="http://schemas.openxmlformats.org/drawingml/2006/main">
              <a:ext uri="{FF2B5EF4-FFF2-40B4-BE49-F238E27FC236}">
                <a16:creationId xmlns:a16="http://schemas.microsoft.com/office/drawing/2014/main" id="{70AE69B6-27AF-400A-A574-9E544AE7A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305050"/>
            <a:ext cx="2743200" cy="1009650"/>
          </a:xfrm>
          <a:prstGeom xmlns:a="http://schemas.openxmlformats.org/drawingml/2006/main" prst="roundRect">
            <a:avLst>
              <a:gd name="adj" fmla="val 9434"/>
            </a:avLst>
          </a:prstGeom>
          <a:solidFill xmlns:a="http://schemas.openxmlformats.org/drawingml/2006/main">
            <a:srgbClr val="EAF0F6"/>
          </a:solidFill>
          <a:ln xmlns:a="http://schemas.openxmlformats.org/drawingml/2006/main" w="19050">
            <a:solidFill>
              <a:srgbClr val="63758A"/>
            </a:solidFill>
          </a:ln>
        </p:spPr>
        <p:txBody>
          <a:bodyPr xmlns:a="http://schemas.openxmlformats.org/drawingml/2006/main" lIns="95250" tIns="76200" rIns="9525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rPr>
              <a:t>C</a:t>
            </a:r>
          </a:p>
          <a:p xmlns:a="http://schemas.openxmlformats.org/drawingml/2006/main">
            <a:pPr algn="ctr">
              <a:defRPr sz="2025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rPr>
              <a:t>Legal arguments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83F4FEC-0451-422B-BBA2-2A625D7EB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1409700" y="2809875"/>
            <a:ext cx="914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72C36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7E9C389-10CD-4249-B7A3-5704E393D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2771775"/>
            <a:ext cx="76200" cy="76200"/>
          </a:xfrm>
          <a:custGeom xmlns:a="http://schemas.openxmlformats.org/drawingml/2006/main">
            <a:pathLst>
              <a:path w="76200" h="76200">
                <a:moveTo>
                  <a:pt x="76200" y="38100"/>
                </a:moveTo>
                <a:lnTo>
                  <a:pt x="0" y="0"/>
                </a:lnTo>
                <a:lnTo>
                  <a:pt x="0" y="76200"/>
                </a:lnTo>
                <a:close/>
              </a:path>
            </a:pathLst>
          </a:custGeom>
          <a:solidFill xmlns:a="http://schemas.openxmlformats.org/drawingml/2006/main">
            <a:srgbClr val="172C36"/>
          </a:solidFill>
          <a:ln xmlns:a="http://schemas.openxmlformats.org/drawingml/2006/main" w="9525">
            <a:solidFill>
              <a:srgbClr val="172C3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4640C35-3F5E-4B69-9BBE-BAD64F596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4857750" y="2809875"/>
            <a:ext cx="7143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72C3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98BDEBF-F11D-42BA-97B7-4678121F6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2771775"/>
            <a:ext cx="76200" cy="76200"/>
          </a:xfrm>
          <a:custGeom xmlns:a="http://schemas.openxmlformats.org/drawingml/2006/main">
            <a:pathLst>
              <a:path w="76200" h="76200">
                <a:moveTo>
                  <a:pt x="76200" y="38100"/>
                </a:moveTo>
                <a:lnTo>
                  <a:pt x="0" y="0"/>
                </a:lnTo>
                <a:lnTo>
                  <a:pt x="0" y="76200"/>
                </a:lnTo>
                <a:close/>
              </a:path>
            </a:pathLst>
          </a:custGeom>
          <a:solidFill xmlns:a="http://schemas.openxmlformats.org/drawingml/2006/main">
            <a:srgbClr val="172C36"/>
          </a:solidFill>
          <a:ln xmlns:a="http://schemas.openxmlformats.org/drawingml/2006/main" w="9525">
            <a:solidFill>
              <a:srgbClr val="172C36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67B43AE-F933-422F-9966-22FAD557D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8105775" y="2809875"/>
            <a:ext cx="7334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63758A"/>
            </a:solidFill>
            <a:prstDash val="dash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5080364-2AEE-490F-ADF0-0A09B2B5A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771775"/>
            <a:ext cx="76200" cy="76200"/>
          </a:xfrm>
          <a:custGeom xmlns:a="http://schemas.openxmlformats.org/drawingml/2006/main">
            <a:pathLst>
              <a:path w="76200" h="76200">
                <a:moveTo>
                  <a:pt x="76200" y="38100"/>
                </a:moveTo>
                <a:lnTo>
                  <a:pt x="0" y="0"/>
                </a:lnTo>
                <a:lnTo>
                  <a:pt x="0" y="76200"/>
                </a:lnTo>
                <a:close/>
              </a:path>
            </a:pathLst>
          </a:custGeom>
          <a:solidFill xmlns:a="http://schemas.openxmlformats.org/drawingml/2006/main">
            <a:srgbClr val="63758A"/>
          </a:solidFill>
          <a:ln xmlns:a="http://schemas.openxmlformats.org/drawingml/2006/main" w="9525">
            <a:solidFill>
              <a:srgbClr val="63758A"/>
            </a:solidFill>
          </a:ln>
        </p:spPr>
      </p:sp>
      <p:sp>
        <p:nvSpPr>
          <p:cNvPr id="19" name="text-10">
            <a:extLst xmlns:a="http://schemas.openxmlformats.org/drawingml/2006/main">
              <a:ext uri="{FF2B5EF4-FFF2-40B4-BE49-F238E27FC236}">
                <a16:creationId xmlns:a16="http://schemas.microsoft.com/office/drawing/2014/main" id="{5C859636-50BD-4520-8B40-571571A15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7675" y="2390775"/>
            <a:ext cx="8191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66B7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66B76"/>
                </a:solidFill>
                <a:latin typeface="Helvetica Neue"/>
                <a:ea typeface="Helvetica Neue"/>
                <a:cs typeface="Helvetica Neue"/>
              </a:rPr>
              <a:t>optional</a:t>
            </a:r>
          </a:p>
        </p:txBody>
      </p:sp>
      <p:sp>
        <p:nvSpPr>
          <p:cNvPr id="20" name="text-11">
            <a:extLst xmlns:a="http://schemas.openxmlformats.org/drawingml/2006/main">
              <a:ext uri="{FF2B5EF4-FFF2-40B4-BE49-F238E27FC236}">
                <a16:creationId xmlns:a16="http://schemas.microsoft.com/office/drawing/2014/main" id="{CAD7905D-3621-493C-B01C-BD918C7D5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81225" y="3590925"/>
            <a:ext cx="28194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0">
                <a:solidFill>
                  <a:srgbClr val="172C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172C36"/>
                </a:solidFill>
                <a:latin typeface="Helvetica Neue"/>
                <a:ea typeface="Helvetica Neue"/>
                <a:cs typeface="Helvetica Neue"/>
              </a:rPr>
              <a:t>Define the meaning</a:t>
            </a:r>
          </a:p>
          <a:p xmlns:a="http://schemas.openxmlformats.org/drawingml/2006/main">
            <a:pPr algn="ctr">
              <a:defRPr sz="2025" b="0">
                <a:solidFill>
                  <a:srgbClr val="172C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172C36"/>
                </a:solidFill>
                <a:latin typeface="Helvetica Neue"/>
                <a:ea typeface="Helvetica Neue"/>
                <a:cs typeface="Helvetica Neue"/>
              </a:rPr>
              <a:t>and permitted uses</a:t>
            </a:r>
          </a:p>
        </p:txBody>
      </p:sp>
      <p:sp>
        <p:nvSpPr>
          <p:cNvPr id="21" name="text-12">
            <a:extLst xmlns:a="http://schemas.openxmlformats.org/drawingml/2006/main">
              <a:ext uri="{FF2B5EF4-FFF2-40B4-BE49-F238E27FC236}">
                <a16:creationId xmlns:a16="http://schemas.microsoft.com/office/drawing/2014/main" id="{412F1C85-2F85-4EF9-BF7B-1E1ED695C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57825" y="3590925"/>
            <a:ext cx="276225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0">
                <a:solidFill>
                  <a:srgbClr val="172C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172C36"/>
                </a:solidFill>
                <a:latin typeface="Helvetica Neue"/>
                <a:ea typeface="Helvetica Neue"/>
                <a:cs typeface="Helvetica Neue"/>
              </a:rPr>
              <a:t>Generate, execute</a:t>
            </a:r>
          </a:p>
          <a:p xmlns:a="http://schemas.openxmlformats.org/drawingml/2006/main">
            <a:pPr algn="ctr">
              <a:defRPr sz="2025" b="0">
                <a:solidFill>
                  <a:srgbClr val="172C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172C36"/>
                </a:solidFill>
                <a:latin typeface="Helvetica Neue"/>
                <a:ea typeface="Helvetica Neue"/>
                <a:cs typeface="Helvetica Neue"/>
              </a:rPr>
              <a:t>and repair relations</a:t>
            </a:r>
          </a:p>
        </p:txBody>
      </p:sp>
      <p:sp>
        <p:nvSpPr>
          <p:cNvPr id="22" name="text-13">
            <a:extLst xmlns:a="http://schemas.openxmlformats.org/drawingml/2006/main">
              <a:ext uri="{FF2B5EF4-FFF2-40B4-BE49-F238E27FC236}">
                <a16:creationId xmlns:a16="http://schemas.microsoft.com/office/drawing/2014/main" id="{8CE3CE91-1698-4770-8CEF-381B3935F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590925"/>
            <a:ext cx="287655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0">
                <a:solidFill>
                  <a:srgbClr val="172C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172C36"/>
                </a:solidFill>
                <a:latin typeface="Helvetica Neue"/>
                <a:ea typeface="Helvetica Neue"/>
                <a:cs typeface="Helvetica Neue"/>
              </a:rPr>
              <a:t>Check legal conditions</a:t>
            </a:r>
          </a:p>
          <a:p xmlns:a="http://schemas.openxmlformats.org/drawingml/2006/main">
            <a:pPr algn="ctr">
              <a:defRPr sz="2025" b="0">
                <a:solidFill>
                  <a:srgbClr val="172C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172C36"/>
                </a:solidFill>
                <a:latin typeface="Helvetica Neue"/>
                <a:ea typeface="Helvetica Neue"/>
                <a:cs typeface="Helvetica Neue"/>
              </a:rPr>
              <a:t>and objections</a:t>
            </a:r>
          </a:p>
        </p:txBody>
      </p:sp>
      <p:sp>
        <p:nvSpPr>
          <p:cNvPr id="23" name="shape-14">
            <a:extLst xmlns:a="http://schemas.openxmlformats.org/drawingml/2006/main">
              <a:ext uri="{FF2B5EF4-FFF2-40B4-BE49-F238E27FC236}">
                <a16:creationId xmlns:a16="http://schemas.microsoft.com/office/drawing/2014/main" id="{E7F45282-43AF-44E4-A191-372D60893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1562100"/>
            <a:ext cx="304800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63758A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A90903B-0EAA-4BE9-B544-7BD9EBAF8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9239250" y="1695450"/>
            <a:ext cx="152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63758A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CB9DF5D-5998-42B3-828B-5700EF3E6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9239250" y="1800225"/>
            <a:ext cx="152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63758A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D995BD2-14E5-4371-85D5-8DE5ABA70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9239250" y="1905000"/>
            <a:ext cx="152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63758A"/>
            </a:solidFill>
            <a:prstDash val="solid"/>
          </a:ln>
        </p:spPr>
      </p:sp>
      <p:sp>
        <p:nvSpPr>
          <p:cNvPr id="27" name="shape-15">
            <a:extLst xmlns:a="http://schemas.openxmlformats.org/drawingml/2006/main">
              <a:ext uri="{FF2B5EF4-FFF2-40B4-BE49-F238E27FC236}">
                <a16:creationId xmlns:a16="http://schemas.microsoft.com/office/drawing/2014/main" id="{3F717125-F515-47C5-884B-15610A453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1562100"/>
            <a:ext cx="304800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63758A"/>
            </a:solidFill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1252756-72CB-476E-B3D9-CA27499DA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9544050" y="1695450"/>
            <a:ext cx="152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63758A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A74FF70-3C55-4C8B-A047-259B13D88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9544050" y="1800225"/>
            <a:ext cx="152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63758A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CCC0E40-853F-48F8-AEC0-CDBC6FB0B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9544050" y="1905000"/>
            <a:ext cx="152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63758A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1AE8F12-A0B3-453E-A48C-B8EED4F54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9467850" y="1533525"/>
            <a:ext cx="0" cy="5238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172C36"/>
            </a:solidFill>
            <a:prstDash val="solid"/>
          </a:ln>
        </p:spPr>
      </p:sp>
      <p:sp>
        <p:nvSpPr>
          <p:cNvPr id="32" name="text-16">
            <a:extLst xmlns:a="http://schemas.openxmlformats.org/drawingml/2006/main">
              <a:ext uri="{FF2B5EF4-FFF2-40B4-BE49-F238E27FC236}">
                <a16:creationId xmlns:a16="http://schemas.microsoft.com/office/drawing/2014/main" id="{F941ADA6-F716-4544-835A-20A941A89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4575" y="1581150"/>
            <a:ext cx="1619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rPr>
              <a:t>Authorities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0476298-F7A0-44BE-85A8-1D61DEAE7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9467850" y="2028825"/>
            <a:ext cx="0" cy="2762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72C36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71B7A98-15B6-4CD0-A430-504E680C3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228850"/>
            <a:ext cx="76200" cy="76200"/>
          </a:xfrm>
          <a:custGeom xmlns:a="http://schemas.openxmlformats.org/drawingml/2006/main">
            <a:pathLst>
              <a:path w="76200" h="76200">
                <a:moveTo>
                  <a:pt x="38100" y="76200"/>
                </a:moveTo>
                <a:lnTo>
                  <a:pt x="0" y="0"/>
                </a:lnTo>
                <a:lnTo>
                  <a:pt x="76200" y="0"/>
                </a:lnTo>
                <a:close/>
              </a:path>
            </a:pathLst>
          </a:custGeom>
          <a:solidFill xmlns:a="http://schemas.openxmlformats.org/drawingml/2006/main">
            <a:srgbClr val="172C36"/>
          </a:solidFill>
          <a:ln xmlns:a="http://schemas.openxmlformats.org/drawingml/2006/main" w="9525">
            <a:solidFill>
              <a:srgbClr val="172C36"/>
            </a:solidFill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A95401C-4C5D-4993-BBB8-E66C7D00C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4857750" y="3133725"/>
            <a:ext cx="361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72C36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EC90F50-115E-4F34-84F9-874BD1613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5219700" y="3133725"/>
            <a:ext cx="0" cy="17430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72C36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C3A39CA-6580-4BB7-90DD-6F7016E8D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5219700" y="4876800"/>
            <a:ext cx="32480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72C36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18263E7-0646-40E6-8BCB-03DEF1F66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8467725" y="3133725"/>
            <a:ext cx="0" cy="17430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72C36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DAB9295-1EA4-40F8-89D9-C533A84EC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8467725" y="3133725"/>
            <a:ext cx="3714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72C36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204CF5C-018E-48CE-BCC4-4C924E0FC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095625"/>
            <a:ext cx="76200" cy="76200"/>
          </a:xfrm>
          <a:custGeom xmlns:a="http://schemas.openxmlformats.org/drawingml/2006/main">
            <a:pathLst>
              <a:path w="76200" h="76200">
                <a:moveTo>
                  <a:pt x="76200" y="38100"/>
                </a:moveTo>
                <a:lnTo>
                  <a:pt x="0" y="0"/>
                </a:lnTo>
                <a:lnTo>
                  <a:pt x="0" y="76200"/>
                </a:lnTo>
                <a:close/>
              </a:path>
            </a:pathLst>
          </a:custGeom>
          <a:solidFill xmlns:a="http://schemas.openxmlformats.org/drawingml/2006/main">
            <a:srgbClr val="172C36"/>
          </a:solidFill>
          <a:ln xmlns:a="http://schemas.openxmlformats.org/drawingml/2006/main" w="9525">
            <a:solidFill>
              <a:srgbClr val="172C36"/>
            </a:solidFill>
          </a:ln>
        </p:spPr>
      </p:sp>
      <p:sp>
        <p:nvSpPr>
          <p:cNvPr id="41" name="text-17">
            <a:extLst xmlns:a="http://schemas.openxmlformats.org/drawingml/2006/main">
              <a:ext uri="{FF2B5EF4-FFF2-40B4-BE49-F238E27FC236}">
                <a16:creationId xmlns:a16="http://schemas.microsoft.com/office/drawing/2014/main" id="{8697F77C-5E97-4838-8093-47B94528B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5019675"/>
            <a:ext cx="49339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0">
                <a:solidFill>
                  <a:srgbClr val="566B76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566B76"/>
                </a:solidFill>
                <a:latin typeface="Helvetica Neue"/>
                <a:ea typeface="Helvetica Neue"/>
                <a:cs typeface="Helvetica Neue"/>
              </a:rPr>
              <a:t>C also reads facts directly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6CCF67C5-B269-45CC-AB54-BCBC15B1C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609600" y="60483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7E0E5"/>
            </a:solidFill>
            <a:prstDash val="solid"/>
          </a:ln>
        </p:spPr>
      </p:sp>
      <p:sp>
        <p:nvSpPr>
          <p:cNvPr id="43" name="text-18">
            <a:extLst xmlns:a="http://schemas.openxmlformats.org/drawingml/2006/main">
              <a:ext uri="{FF2B5EF4-FFF2-40B4-BE49-F238E27FC236}">
                <a16:creationId xmlns:a16="http://schemas.microsoft.com/office/drawing/2014/main" id="{44C365C7-F603-493D-8FA4-68076BB76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81725"/>
            <a:ext cx="101441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66B7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66B76"/>
                </a:solidFill>
                <a:latin typeface="Helvetica Neue"/>
                <a:ea typeface="Helvetica Neue"/>
                <a:cs typeface="Helvetica Neue"/>
              </a:rPr>
              <a:t>Research proposal. Real-case gains remain untested. Solid arrows: inputs. Dashed arrow: optional use.</a:t>
            </a:r>
          </a:p>
        </p:txBody>
      </p:sp>
    </p:spTree>
    <p:extLst>
      <p:ext uri="{BB962C8B-B14F-4D97-AF65-F5344CB8AC3E}">
        <p14:creationId xmlns:p14="http://schemas.microsoft.com/office/powerpoint/2010/main" val="1471491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text-19">
            <a:extLst xmlns:a="http://schemas.openxmlformats.org/drawingml/2006/main">
              <a:ext uri="{FF2B5EF4-FFF2-40B4-BE49-F238E27FC236}">
                <a16:creationId xmlns:a16="http://schemas.microsoft.com/office/drawing/2014/main" id="{A6B43771-7AF8-4E16-95C4-3540515AC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972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rPr>
              <a:t>A. A shared definition with preserved differences</a:t>
            </a:r>
          </a:p>
        </p:txBody>
      </p:sp>
      <p:sp>
        <p:nvSpPr>
          <p:cNvPr id="2" name="text-20">
            <a:extLst xmlns:a="http://schemas.openxmlformats.org/drawingml/2006/main">
              <a:ext uri="{FF2B5EF4-FFF2-40B4-BE49-F238E27FC236}">
                <a16:creationId xmlns:a16="http://schemas.microsoft.com/office/drawing/2014/main" id="{602E9A67-153A-4CC3-9C76-07F7E2F32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47750"/>
            <a:ext cx="1097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566B7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566B76"/>
                </a:solidFill>
                <a:latin typeface="Helvetica Neue"/>
                <a:ea typeface="Helvetica Neue"/>
                <a:cs typeface="Helvetica Neue"/>
              </a:rPr>
              <a:t>A common fact type keeps each instance’s identity, parameters and source status</a:t>
            </a:r>
          </a:p>
        </p:txBody>
      </p:sp>
      <p:sp>
        <p:nvSpPr>
          <p:cNvPr id="3" name="text-21">
            <a:extLst xmlns:a="http://schemas.openxmlformats.org/drawingml/2006/main">
              <a:ext uri="{FF2B5EF4-FFF2-40B4-BE49-F238E27FC236}">
                <a16:creationId xmlns:a16="http://schemas.microsoft.com/office/drawing/2014/main" id="{1799D151-E585-4EA7-AE34-714966A3F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38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66B7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66B76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4" name="text-22">
            <a:extLst xmlns:a="http://schemas.openxmlformats.org/drawingml/2006/main">
              <a:ext uri="{FF2B5EF4-FFF2-40B4-BE49-F238E27FC236}">
                <a16:creationId xmlns:a16="http://schemas.microsoft.com/office/drawing/2014/main" id="{3C0EA415-D4AC-45C7-8473-17CE77464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5925"/>
            <a:ext cx="2428875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rPr>
              <a:t>Source assertion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154E257-1D44-4842-8D64-8906F184E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3067050" y="1933575"/>
            <a:ext cx="3333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72C36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B376D18-A340-4179-B5A0-D42F40165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4225" y="1895475"/>
            <a:ext cx="76200" cy="76200"/>
          </a:xfrm>
          <a:custGeom xmlns:a="http://schemas.openxmlformats.org/drawingml/2006/main">
            <a:pathLst>
              <a:path w="76200" h="76200">
                <a:moveTo>
                  <a:pt x="76200" y="38100"/>
                </a:moveTo>
                <a:lnTo>
                  <a:pt x="0" y="0"/>
                </a:lnTo>
                <a:lnTo>
                  <a:pt x="0" y="76200"/>
                </a:lnTo>
                <a:close/>
              </a:path>
            </a:pathLst>
          </a:custGeom>
          <a:solidFill xmlns:a="http://schemas.openxmlformats.org/drawingml/2006/main">
            <a:srgbClr val="172C36"/>
          </a:solidFill>
          <a:ln xmlns:a="http://schemas.openxmlformats.org/drawingml/2006/main" w="9525">
            <a:solidFill>
              <a:srgbClr val="172C36"/>
            </a:solidFill>
          </a:ln>
        </p:spPr>
      </p:sp>
      <p:sp>
        <p:nvSpPr>
          <p:cNvPr id="7" name="text-23">
            <a:extLst xmlns:a="http://schemas.openxmlformats.org/drawingml/2006/main">
              <a:ext uri="{FF2B5EF4-FFF2-40B4-BE49-F238E27FC236}">
                <a16:creationId xmlns:a16="http://schemas.microsoft.com/office/drawing/2014/main" id="{0F1261AC-5436-4F6C-BC4C-B87B34601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7575" y="1685925"/>
            <a:ext cx="2428875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rPr>
              <a:t>Retrieve definitions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9E13A5B-D55E-465A-9253-A59260DB4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5915025" y="1933575"/>
            <a:ext cx="3333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72C36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EA1705F-A0C1-4964-A450-D8CAA49D8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895475"/>
            <a:ext cx="76200" cy="76200"/>
          </a:xfrm>
          <a:custGeom xmlns:a="http://schemas.openxmlformats.org/drawingml/2006/main">
            <a:pathLst>
              <a:path w="76200" h="76200">
                <a:moveTo>
                  <a:pt x="76200" y="38100"/>
                </a:moveTo>
                <a:lnTo>
                  <a:pt x="0" y="0"/>
                </a:lnTo>
                <a:lnTo>
                  <a:pt x="0" y="76200"/>
                </a:lnTo>
                <a:close/>
              </a:path>
            </a:pathLst>
          </a:custGeom>
          <a:solidFill xmlns:a="http://schemas.openxmlformats.org/drawingml/2006/main">
            <a:srgbClr val="172C36"/>
          </a:solidFill>
          <a:ln xmlns:a="http://schemas.openxmlformats.org/drawingml/2006/main" w="9525">
            <a:solidFill>
              <a:srgbClr val="172C36"/>
            </a:solidFill>
          </a:ln>
        </p:spPr>
      </p:sp>
      <p:sp>
        <p:nvSpPr>
          <p:cNvPr id="10" name="text-24">
            <a:extLst xmlns:a="http://schemas.openxmlformats.org/drawingml/2006/main">
              <a:ext uri="{FF2B5EF4-FFF2-40B4-BE49-F238E27FC236}">
                <a16:creationId xmlns:a16="http://schemas.microsoft.com/office/drawing/2014/main" id="{D6FBDF73-3E19-439D-8C7D-FB5256C89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1685925"/>
            <a:ext cx="2428875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rPr>
              <a:t>Check each slot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CFE36FC-C0D4-4AD8-B79A-DD355AE09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8763000" y="1933575"/>
            <a:ext cx="3333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72C36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F9491A7-0BB8-4E80-80A6-B1E5A277F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0175" y="1895475"/>
            <a:ext cx="76200" cy="76200"/>
          </a:xfrm>
          <a:custGeom xmlns:a="http://schemas.openxmlformats.org/drawingml/2006/main">
            <a:pathLst>
              <a:path w="76200" h="76200">
                <a:moveTo>
                  <a:pt x="76200" y="38100"/>
                </a:moveTo>
                <a:lnTo>
                  <a:pt x="0" y="0"/>
                </a:lnTo>
                <a:lnTo>
                  <a:pt x="0" y="76200"/>
                </a:lnTo>
                <a:close/>
              </a:path>
            </a:pathLst>
          </a:custGeom>
          <a:solidFill xmlns:a="http://schemas.openxmlformats.org/drawingml/2006/main">
            <a:srgbClr val="172C36"/>
          </a:solidFill>
          <a:ln xmlns:a="http://schemas.openxmlformats.org/drawingml/2006/main" w="9525">
            <a:solidFill>
              <a:srgbClr val="172C36"/>
            </a:solidFill>
          </a:ln>
        </p:spPr>
      </p:sp>
      <p:sp>
        <p:nvSpPr>
          <p:cNvPr id="13" name="text-25">
            <a:extLst xmlns:a="http://schemas.openxmlformats.org/drawingml/2006/main">
              <a:ext uri="{FF2B5EF4-FFF2-40B4-BE49-F238E27FC236}">
                <a16:creationId xmlns:a16="http://schemas.microsoft.com/office/drawing/2014/main" id="{517BC72A-93E7-4BBE-BDE3-5C9A92B52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53525" y="1685925"/>
            <a:ext cx="2428875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rPr>
              <a:t>Map or keep pending</a:t>
            </a:r>
          </a:p>
        </p:txBody>
      </p:sp>
      <p:sp>
        <p:nvSpPr>
          <p:cNvPr id="14" name="shape-26">
            <a:extLst xmlns:a="http://schemas.openxmlformats.org/drawingml/2006/main">
              <a:ext uri="{FF2B5EF4-FFF2-40B4-BE49-F238E27FC236}">
                <a16:creationId xmlns:a16="http://schemas.microsoft.com/office/drawing/2014/main" id="{B59B88D2-704C-45FC-B089-9EC1B4CA9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90800"/>
            <a:ext cx="3829050" cy="209550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EAF0F6"/>
          </a:solidFill>
          <a:ln xmlns:a="http://schemas.openxmlformats.org/drawingml/2006/main" w="19050">
            <a:solidFill>
              <a:srgbClr val="63758A"/>
            </a:solidFill>
          </a:ln>
        </p:spPr>
        <p:txBody>
          <a:bodyPr xmlns:a="http://schemas.openxmlformats.org/drawingml/2006/main" lIns="95250" tIns="76200" rIns="9525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rPr>
              <a:t>PAYMENT definition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defRPr sz="2025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rPr>
              <a:t>payer, recipient, contract</a:t>
            </a:r>
          </a:p>
          <a:p xmlns:a="http://schemas.openxmlformats.org/drawingml/2006/main">
            <a:pPr algn="ctr">
              <a:defRPr sz="2025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rPr>
              <a:t>debt, amount, date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FCDB5CC-DFB0-401F-B893-AB6138352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4438650" y="3638550"/>
            <a:ext cx="628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72C3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CC40E86-163F-4338-BA43-7522D87D9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3600450"/>
            <a:ext cx="76200" cy="76200"/>
          </a:xfrm>
          <a:custGeom xmlns:a="http://schemas.openxmlformats.org/drawingml/2006/main">
            <a:pathLst>
              <a:path w="76200" h="76200">
                <a:moveTo>
                  <a:pt x="76200" y="38100"/>
                </a:moveTo>
                <a:lnTo>
                  <a:pt x="0" y="0"/>
                </a:lnTo>
                <a:lnTo>
                  <a:pt x="0" y="76200"/>
                </a:lnTo>
                <a:close/>
              </a:path>
            </a:pathLst>
          </a:custGeom>
          <a:solidFill xmlns:a="http://schemas.openxmlformats.org/drawingml/2006/main">
            <a:srgbClr val="172C36"/>
          </a:solidFill>
          <a:ln xmlns:a="http://schemas.openxmlformats.org/drawingml/2006/main" w="9525">
            <a:solidFill>
              <a:srgbClr val="172C36"/>
            </a:solidFill>
          </a:ln>
        </p:spPr>
      </p:sp>
      <p:graphicFrame>
        <p:nvGraphicFramePr>
          <p:cNvPr id="38" name=""/>
          <p:cNvGraphicFramePr/>
          <p:nvPr/>
        </p:nvGraphicFramePr>
        <p:xfrm>
          <a:off xmlns:a="http://schemas.openxmlformats.org/drawingml/2006/main" x="5067300" y="2505075"/>
          <a:ext xmlns:a="http://schemas.openxmlformats.org/drawingml/2006/main" cx="6515100" cy="2371725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2895600"/>
                <a:gridCol w="1076325"/>
                <a:gridCol w="2543175"/>
              </a:tblGrid>
              <a:tr h="592931">
                <a:tc>
                  <a:txBody>
                    <a:bodyPr lIns="152400" tIns="114300" rIns="152400" bIns="114300"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172C3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Instance</a:t>
                      </a:r>
                    </a:p>
                  </a:txBody>
                  <a:tcPr marL="91440" marR="91440" marT="45720" marB="45720" anchor="ctr">
                    <a:solidFill>
                      <a:srgbClr val="EAF0F6"/>
                    </a:solidFill>
                  </a:tcPr>
                </a:tc>
                <a:tc>
                  <a:txBody>
                    <a:bodyPr lIns="152400" tIns="114300" rIns="152400" bIns="114300"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172C3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Debt</a:t>
                      </a:r>
                    </a:p>
                  </a:txBody>
                  <a:tcPr marL="91440" marR="91440" marT="45720" marB="45720" anchor="ctr">
                    <a:solidFill>
                      <a:srgbClr val="EAF0F6"/>
                    </a:solidFill>
                  </a:tcPr>
                </a:tc>
                <a:tc>
                  <a:txBody>
                    <a:bodyPr lIns="152400" tIns="114300" rIns="152400" bIns="114300"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172C3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Source status</a:t>
                      </a:r>
                    </a:p>
                  </a:txBody>
                  <a:tcPr marL="91440" marR="91440" marT="45720" marB="45720" anchor="ctr">
                    <a:solidFill>
                      <a:srgbClr val="EAF0F6"/>
                    </a:solidFill>
                  </a:tcPr>
                </a:tc>
              </a:tr>
              <a:tr h="592931">
                <a:tc>
                  <a:txBody>
                    <a:bodyPr lIns="152400" tIns="114300" rIns="152400" bIns="11430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72C3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p1: full payment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52400" tIns="114300" rIns="152400" bIns="11430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72C3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D2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52400" tIns="114300" rIns="152400" bIns="11430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72C3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COURT_FOUND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592931">
                <a:tc>
                  <a:txBody>
                    <a:bodyPr lIns="152400" tIns="114300" rIns="152400" bIns="11430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72C3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p2: partial payment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52400" tIns="114300" rIns="152400" bIns="11430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72C3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D1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52400" tIns="114300" rIns="152400" bIns="11430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72C3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COURT_FOUND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592931">
                <a:tc>
                  <a:txBody>
                    <a:bodyPr lIns="152400" tIns="114300" rIns="152400" bIns="11430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72C3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p3: full payment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52400" tIns="114300" rIns="152400" bIns="11430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72C3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D1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52400" tIns="114300" rIns="152400" bIns="11430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72C3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ALLEGED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text-27">
            <a:extLst xmlns:a="http://schemas.openxmlformats.org/drawingml/2006/main">
              <a:ext uri="{FF2B5EF4-FFF2-40B4-BE49-F238E27FC236}">
                <a16:creationId xmlns:a16="http://schemas.microsoft.com/office/drawing/2014/main" id="{FBB3B62A-C89D-41CE-8541-BD4941246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86375"/>
            <a:ext cx="2476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rPr>
              <a:t>Same type</a:t>
            </a:r>
          </a:p>
        </p:txBody>
      </p:sp>
      <p:sp>
        <p:nvSpPr>
          <p:cNvPr id="19" name="text-28">
            <a:extLst xmlns:a="http://schemas.openxmlformats.org/drawingml/2006/main">
              <a:ext uri="{FF2B5EF4-FFF2-40B4-BE49-F238E27FC236}">
                <a16:creationId xmlns:a16="http://schemas.microsoft.com/office/drawing/2014/main" id="{52157792-D223-465E-8075-4F5308FE2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5238750"/>
            <a:ext cx="81724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72C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172C36"/>
                </a:solidFill>
                <a:latin typeface="Helvetica Neue"/>
                <a:ea typeface="Helvetica Neue"/>
                <a:cs typeface="Helvetica Neue"/>
              </a:rPr>
              <a:t>Different parameters and assertions remain distinct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C67BD74-C342-47A6-B8E6-6D57CB825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609600" y="60483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7E0E5"/>
            </a:solidFill>
            <a:prstDash val="solid"/>
          </a:ln>
        </p:spPr>
      </p:sp>
      <p:sp>
        <p:nvSpPr>
          <p:cNvPr id="21" name="text-29">
            <a:extLst xmlns:a="http://schemas.openxmlformats.org/drawingml/2006/main">
              <a:ext uri="{FF2B5EF4-FFF2-40B4-BE49-F238E27FC236}">
                <a16:creationId xmlns:a16="http://schemas.microsoft.com/office/drawing/2014/main" id="{88B81507-8B7B-4B2F-ACD5-19369781D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81725"/>
            <a:ext cx="101441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66B7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66B76"/>
                </a:solidFill>
                <a:latin typeface="Helvetica Neue"/>
                <a:ea typeface="Helvetica Neue"/>
                <a:cs typeface="Helvetica Neue"/>
              </a:rPr>
              <a:t>ClassMATe / GraphRefine inform definition revision and extraction repair. A shared type does not grant substitution.</a:t>
            </a:r>
          </a:p>
        </p:txBody>
      </p:sp>
    </p:spTree>
    <p:extLst>
      <p:ext uri="{BB962C8B-B14F-4D97-AF65-F5344CB8AC3E}">
        <p14:creationId xmlns:p14="http://schemas.microsoft.com/office/powerpoint/2010/main" val="105909025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text-30">
            <a:extLst xmlns:a="http://schemas.openxmlformats.org/drawingml/2006/main">
              <a:ext uri="{FF2B5EF4-FFF2-40B4-BE49-F238E27FC236}">
                <a16:creationId xmlns:a16="http://schemas.microsoft.com/office/drawing/2014/main" id="{43B0B574-E405-4A25-9D8E-68C880F1B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972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rPr>
              <a:t>A. A qualifier blocks only the uses it affects</a:t>
            </a:r>
          </a:p>
        </p:txBody>
      </p:sp>
      <p:sp>
        <p:nvSpPr>
          <p:cNvPr id="2" name="text-31">
            <a:extLst xmlns:a="http://schemas.openxmlformats.org/drawingml/2006/main">
              <a:ext uri="{FF2B5EF4-FFF2-40B4-BE49-F238E27FC236}">
                <a16:creationId xmlns:a16="http://schemas.microsoft.com/office/drawing/2014/main" id="{A96F893E-B310-4E2E-BD7B-000EFD07D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47750"/>
            <a:ext cx="1097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566B7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566B76"/>
                </a:solidFill>
                <a:latin typeface="Helvetica Neue"/>
                <a:ea typeface="Helvetica Neue"/>
                <a:cs typeface="Helvetica Neue"/>
              </a:rPr>
              <a:t>Each query declares which fields and semantic conditions it requires</a:t>
            </a:r>
          </a:p>
        </p:txBody>
      </p:sp>
      <p:sp>
        <p:nvSpPr>
          <p:cNvPr id="3" name="text-32">
            <a:extLst xmlns:a="http://schemas.openxmlformats.org/drawingml/2006/main">
              <a:ext uri="{FF2B5EF4-FFF2-40B4-BE49-F238E27FC236}">
                <a16:creationId xmlns:a16="http://schemas.microsoft.com/office/drawing/2014/main" id="{3A1BF141-322A-46E5-9FE9-987B5BAB4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38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66B7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66B76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4" name="shape-33">
            <a:extLst xmlns:a="http://schemas.openxmlformats.org/drawingml/2006/main">
              <a:ext uri="{FF2B5EF4-FFF2-40B4-BE49-F238E27FC236}">
                <a16:creationId xmlns:a16="http://schemas.microsoft.com/office/drawing/2014/main" id="{A82C0571-D119-427D-A596-DD16E13F8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4857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63758A"/>
            </a:solidFill>
          </a:ln>
        </p:spPr>
      </p:sp>
      <p:sp>
        <p:nvSpPr>
          <p:cNvPr id="5" name="shape-34">
            <a:extLst xmlns:a="http://schemas.openxmlformats.org/drawingml/2006/main">
              <a:ext uri="{FF2B5EF4-FFF2-40B4-BE49-F238E27FC236}">
                <a16:creationId xmlns:a16="http://schemas.microsoft.com/office/drawing/2014/main" id="{113E82B1-C594-4028-9C83-15B1FF672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1695450"/>
            <a:ext cx="152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0F6"/>
          </a:solidFill>
          <a:ln xmlns:a="http://schemas.openxmlformats.org/drawingml/2006/main" w="19050">
            <a:solidFill>
              <a:srgbClr val="63758A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C82E016-4B03-4255-842A-4153720B8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723900" y="1981200"/>
            <a:ext cx="2571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63758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5E59AAB-E186-45CE-B0C4-DB1134EDA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723900" y="2095500"/>
            <a:ext cx="2571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63758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9359C0F-2F2D-4323-AA5E-52FE7C4F5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723900" y="2209800"/>
            <a:ext cx="2571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63758A"/>
            </a:solidFill>
            <a:prstDash val="solid"/>
          </a:ln>
        </p:spPr>
      </p:sp>
      <p:sp>
        <p:nvSpPr>
          <p:cNvPr id="9" name="text-35">
            <a:extLst xmlns:a="http://schemas.openxmlformats.org/drawingml/2006/main">
              <a:ext uri="{FF2B5EF4-FFF2-40B4-BE49-F238E27FC236}">
                <a16:creationId xmlns:a16="http://schemas.microsoft.com/office/drawing/2014/main" id="{376DF639-0532-4A2B-A4FB-FC47C53C5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" y="1638300"/>
            <a:ext cx="102203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2325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rPr>
              <a:t>“Full payment was made, but only for debt D2.”</a:t>
            </a:r>
          </a:p>
        </p:txBody>
      </p:sp>
      <p:sp>
        <p:nvSpPr>
          <p:cNvPr id="10" name="text-36">
            <a:extLst xmlns:a="http://schemas.openxmlformats.org/drawingml/2006/main">
              <a:ext uri="{FF2B5EF4-FFF2-40B4-BE49-F238E27FC236}">
                <a16:creationId xmlns:a16="http://schemas.microsoft.com/office/drawing/2014/main" id="{849AAE53-3CF8-4522-9B37-23F3FDA26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" y="2266950"/>
            <a:ext cx="97155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B4494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0">
                <a:solidFill>
                  <a:srgbClr val="B44948"/>
                </a:solidFill>
                <a:latin typeface="Helvetica Neue"/>
                <a:ea typeface="Helvetica Neue"/>
                <a:cs typeface="Helvetica Neue"/>
              </a:rPr>
              <a:t>The debt qualifier is still unparsed.</a:t>
            </a:r>
          </a:p>
        </p:txBody>
      </p:sp>
      <p:sp>
        <p:nvSpPr>
          <p:cNvPr id="11" name="shape-37">
            <a:extLst xmlns:a="http://schemas.openxmlformats.org/drawingml/2006/main">
              <a:ext uri="{FF2B5EF4-FFF2-40B4-BE49-F238E27FC236}">
                <a16:creationId xmlns:a16="http://schemas.microsoft.com/office/drawing/2014/main" id="{ED71203B-32F5-4AB7-B4FD-EF71EBF4C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48025"/>
            <a:ext cx="3324225" cy="1304925"/>
          </a:xfrm>
          <a:prstGeom xmlns:a="http://schemas.openxmlformats.org/drawingml/2006/main" prst="roundRect">
            <a:avLst>
              <a:gd name="adj" fmla="val 7299"/>
            </a:avLst>
          </a:prstGeom>
          <a:solidFill xmlns:a="http://schemas.openxmlformats.org/drawingml/2006/main">
            <a:srgbClr val="F1D7D4"/>
          </a:solidFill>
          <a:ln xmlns:a="http://schemas.openxmlformats.org/drawingml/2006/main" w="19050">
            <a:solidFill>
              <a:srgbClr val="B44948"/>
            </a:solidFill>
          </a:ln>
        </p:spPr>
        <p:txBody>
          <a:bodyPr xmlns:a="http://schemas.openxmlformats.org/drawingml/2006/main" lIns="95250" tIns="76200" rIns="9525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rPr>
              <a:t>p1: PAYMENT</a:t>
            </a:r>
          </a:p>
          <a:p xmlns:a="http://schemas.openxmlformats.org/drawingml/2006/main">
            <a:pPr algn="ctr">
              <a:defRPr sz="2100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rPr>
              <a:t>Unresolved debt scope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31FA149-0D68-470E-9E77-E51451470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3933825" y="3581400"/>
            <a:ext cx="819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72C3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CFE6BDB-B943-4F41-9FE4-A8D9DCC0B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4752975" y="3257550"/>
            <a:ext cx="0" cy="323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72C36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54BBE36-0385-462E-B4F9-7310C9361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4752975" y="3257550"/>
            <a:ext cx="666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72C3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35EBE48-3B0A-4A6D-90D4-9E422F089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3525" y="3219450"/>
            <a:ext cx="76200" cy="76200"/>
          </a:xfrm>
          <a:custGeom xmlns:a="http://schemas.openxmlformats.org/drawingml/2006/main">
            <a:pathLst>
              <a:path w="76200" h="76200">
                <a:moveTo>
                  <a:pt x="76200" y="38100"/>
                </a:moveTo>
                <a:lnTo>
                  <a:pt x="0" y="0"/>
                </a:lnTo>
                <a:lnTo>
                  <a:pt x="0" y="76200"/>
                </a:lnTo>
                <a:close/>
              </a:path>
            </a:pathLst>
          </a:custGeom>
          <a:solidFill xmlns:a="http://schemas.openxmlformats.org/drawingml/2006/main">
            <a:srgbClr val="172C36"/>
          </a:solidFill>
          <a:ln xmlns:a="http://schemas.openxmlformats.org/drawingml/2006/main" w="9525">
            <a:solidFill>
              <a:srgbClr val="172C36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64D7F76-1662-4CA4-928E-2CC834273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3933825" y="4210050"/>
            <a:ext cx="819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4494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8861638-E955-4EC5-946F-A954330D3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4752975" y="4210050"/>
            <a:ext cx="0" cy="381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4494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8B38851-B6B9-4171-B056-C274F0D13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4752975" y="4591050"/>
            <a:ext cx="666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4494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82F3245-E35D-402A-98BA-A7FDC791D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3525" y="4552950"/>
            <a:ext cx="76200" cy="76200"/>
          </a:xfrm>
          <a:custGeom xmlns:a="http://schemas.openxmlformats.org/drawingml/2006/main">
            <a:pathLst>
              <a:path w="76200" h="76200">
                <a:moveTo>
                  <a:pt x="76200" y="38100"/>
                </a:moveTo>
                <a:lnTo>
                  <a:pt x="0" y="0"/>
                </a:lnTo>
                <a:lnTo>
                  <a:pt x="0" y="76200"/>
                </a:lnTo>
                <a:close/>
              </a:path>
            </a:pathLst>
          </a:custGeom>
          <a:solidFill xmlns:a="http://schemas.openxmlformats.org/drawingml/2006/main">
            <a:srgbClr val="B44948"/>
          </a:solidFill>
          <a:ln xmlns:a="http://schemas.openxmlformats.org/drawingml/2006/main" w="9525">
            <a:solidFill>
              <a:srgbClr val="B44948"/>
            </a:solidFill>
          </a:ln>
        </p:spPr>
      </p:sp>
      <p:sp>
        <p:nvSpPr>
          <p:cNvPr id="20" name="shape-38">
            <a:extLst xmlns:a="http://schemas.openxmlformats.org/drawingml/2006/main">
              <a:ext uri="{FF2B5EF4-FFF2-40B4-BE49-F238E27FC236}">
                <a16:creationId xmlns:a16="http://schemas.microsoft.com/office/drawing/2014/main" id="{5FB57DE5-5221-4DCD-9E3F-B3E1CEA2E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2867025"/>
            <a:ext cx="6162675" cy="790575"/>
          </a:xfrm>
          <a:prstGeom xmlns:a="http://schemas.openxmlformats.org/drawingml/2006/main" prst="roundRect">
            <a:avLst>
              <a:gd name="adj" fmla="val 12048"/>
            </a:avLst>
          </a:prstGeom>
          <a:solidFill xmlns:a="http://schemas.openxmlformats.org/drawingml/2006/main">
            <a:srgbClr val="E5F1E3"/>
          </a:solidFill>
          <a:ln xmlns:a="http://schemas.openxmlformats.org/drawingml/2006/main" w="19050">
            <a:solidFill>
              <a:srgbClr val="5A8A55"/>
            </a:solidFill>
          </a:ln>
        </p:spPr>
        <p:txBody>
          <a:bodyPr xmlns:a="http://schemas.openxmlformats.org/drawingml/2006/main" lIns="95250" tIns="76200" rIns="9525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rPr>
              <a:t>“A payment is recorded”</a:t>
            </a:r>
          </a:p>
        </p:txBody>
      </p:sp>
      <p:sp>
        <p:nvSpPr>
          <p:cNvPr id="21" name="text-39">
            <a:extLst xmlns:a="http://schemas.openxmlformats.org/drawingml/2006/main">
              <a:ext uri="{FF2B5EF4-FFF2-40B4-BE49-F238E27FC236}">
                <a16:creationId xmlns:a16="http://schemas.microsoft.com/office/drawing/2014/main" id="{1D96D358-D213-4248-A95D-9474FE688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34025" y="3743325"/>
            <a:ext cx="604837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A8A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5A8A55"/>
                </a:solidFill>
                <a:latin typeface="Helvetica Neue"/>
                <a:ea typeface="Helvetica Neue"/>
                <a:cs typeface="Helvetica Neue"/>
              </a:rPr>
              <a:t>Allowed only through a reviewed projection</a:t>
            </a:r>
          </a:p>
        </p:txBody>
      </p:sp>
      <p:sp>
        <p:nvSpPr>
          <p:cNvPr id="22" name="shape-40">
            <a:extLst xmlns:a="http://schemas.openxmlformats.org/drawingml/2006/main">
              <a:ext uri="{FF2B5EF4-FFF2-40B4-BE49-F238E27FC236}">
                <a16:creationId xmlns:a16="http://schemas.microsoft.com/office/drawing/2014/main" id="{288AFABE-A499-4FEF-8592-BDD788B1E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4314825"/>
            <a:ext cx="6162675" cy="790575"/>
          </a:xfrm>
          <a:prstGeom xmlns:a="http://schemas.openxmlformats.org/drawingml/2006/main" prst="roundRect">
            <a:avLst>
              <a:gd name="adj" fmla="val 12048"/>
            </a:avLst>
          </a:prstGeom>
          <a:solidFill xmlns:a="http://schemas.openxmlformats.org/drawingml/2006/main">
            <a:srgbClr val="F1D7D4"/>
          </a:solidFill>
          <a:ln xmlns:a="http://schemas.openxmlformats.org/drawingml/2006/main" w="19050">
            <a:solidFill>
              <a:srgbClr val="B44948"/>
            </a:solidFill>
          </a:ln>
        </p:spPr>
        <p:txBody>
          <a:bodyPr xmlns:a="http://schemas.openxmlformats.org/drawingml/2006/main" lIns="95250" tIns="76200" rIns="9525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rPr>
              <a:t>“Debt D1 is fully settled”</a:t>
            </a:r>
          </a:p>
        </p:txBody>
      </p:sp>
      <p:sp>
        <p:nvSpPr>
          <p:cNvPr id="23" name="text-41">
            <a:extLst xmlns:a="http://schemas.openxmlformats.org/drawingml/2006/main">
              <a:ext uri="{FF2B5EF4-FFF2-40B4-BE49-F238E27FC236}">
                <a16:creationId xmlns:a16="http://schemas.microsoft.com/office/drawing/2014/main" id="{B4D755D3-F21C-4CDD-A707-EED7D64D2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34025" y="5181600"/>
            <a:ext cx="604837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B4494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B44948"/>
                </a:solidFill>
                <a:latin typeface="Helvetica Neue"/>
                <a:ea typeface="Helvetica Neue"/>
                <a:cs typeface="Helvetica Neue"/>
              </a:rPr>
              <a:t>Blocked: requires the payment’s debt assignment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0388F11-74CD-49D8-99C7-D40D73C2B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609600" y="60483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7E0E5"/>
            </a:solidFill>
            <a:prstDash val="solid"/>
          </a:ln>
        </p:spPr>
      </p:sp>
      <p:sp>
        <p:nvSpPr>
          <p:cNvPr id="25" name="text-42">
            <a:extLst xmlns:a="http://schemas.openxmlformats.org/drawingml/2006/main">
              <a:ext uri="{FF2B5EF4-FFF2-40B4-BE49-F238E27FC236}">
                <a16:creationId xmlns:a16="http://schemas.microsoft.com/office/drawing/2014/main" id="{CE557762-CDD5-400C-868F-AC0DBFDB4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81725"/>
            <a:ext cx="101441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66B7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66B76"/>
                </a:solidFill>
                <a:latin typeface="Helvetica Neue"/>
                <a:ea typeface="Helvetica Neue"/>
                <a:cs typeface="Helvetica Neue"/>
              </a:rPr>
              <a:t>After source review: p1 binds to D2. Another complete D1 payment remains usable. Green: allowed. Coral: blocked.</a:t>
            </a:r>
          </a:p>
        </p:txBody>
      </p:sp>
    </p:spTree>
    <p:extLst>
      <p:ext uri="{BB962C8B-B14F-4D97-AF65-F5344CB8AC3E}">
        <p14:creationId xmlns:p14="http://schemas.microsoft.com/office/powerpoint/2010/main" val="100410803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text-43">
            <a:extLst xmlns:a="http://schemas.openxmlformats.org/drawingml/2006/main">
              <a:ext uri="{FF2B5EF4-FFF2-40B4-BE49-F238E27FC236}">
                <a16:creationId xmlns:a16="http://schemas.microsoft.com/office/drawing/2014/main" id="{4E10AC2E-206A-4ACD-A74D-182276691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972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rPr>
              <a:t>B. Relation discovery with execution feedback</a:t>
            </a:r>
          </a:p>
        </p:txBody>
      </p:sp>
      <p:sp>
        <p:nvSpPr>
          <p:cNvPr id="2" name="text-44">
            <a:extLst xmlns:a="http://schemas.openxmlformats.org/drawingml/2006/main">
              <a:ext uri="{FF2B5EF4-FFF2-40B4-BE49-F238E27FC236}">
                <a16:creationId xmlns:a16="http://schemas.microsoft.com/office/drawing/2014/main" id="{B9613B78-9FB4-41AD-88E1-DDE39D8C7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47750"/>
            <a:ext cx="1097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566B7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566B76"/>
                </a:solidFill>
                <a:latin typeface="Helvetica Neue"/>
                <a:ea typeface="Helvetica Neue"/>
                <a:cs typeface="Helvetica Neue"/>
              </a:rPr>
              <a:t>Keep the intended meaning fixed while repairing the query</a:t>
            </a:r>
          </a:p>
        </p:txBody>
      </p:sp>
      <p:sp>
        <p:nvSpPr>
          <p:cNvPr id="3" name="text-45">
            <a:extLst xmlns:a="http://schemas.openxmlformats.org/drawingml/2006/main">
              <a:ext uri="{FF2B5EF4-FFF2-40B4-BE49-F238E27FC236}">
                <a16:creationId xmlns:a16="http://schemas.microsoft.com/office/drawing/2014/main" id="{6025B751-BDA4-49E3-9ED2-12C51BB44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38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66B7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66B76"/>
                </a:solidFill>
                <a:latin typeface="Helvetica Neue"/>
                <a:ea typeface="Helvetica Neue"/>
                <a:cs typeface="Helvetica Neue"/>
              </a:rPr>
              <a:t>04</a:t>
            </a:r>
          </a:p>
        </p:txBody>
      </p:sp>
      <p:sp>
        <p:nvSpPr>
          <p:cNvPr id="4" name="shape-46">
            <a:extLst xmlns:a="http://schemas.openxmlformats.org/drawingml/2006/main">
              <a:ext uri="{FF2B5EF4-FFF2-40B4-BE49-F238E27FC236}">
                <a16:creationId xmlns:a16="http://schemas.microsoft.com/office/drawing/2014/main" id="{1875ED92-9B58-468D-9491-966CC29AD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90725"/>
            <a:ext cx="2400300" cy="962025"/>
          </a:xfrm>
          <a:prstGeom xmlns:a="http://schemas.openxmlformats.org/drawingml/2006/main" prst="roundRect">
            <a:avLst>
              <a:gd name="adj" fmla="val 9901"/>
            </a:avLst>
          </a:prstGeom>
          <a:solidFill xmlns:a="http://schemas.openxmlformats.org/drawingml/2006/main">
            <a:srgbClr val="EAF0F6"/>
          </a:solidFill>
          <a:ln xmlns:a="http://schemas.openxmlformats.org/drawingml/2006/main" w="19050">
            <a:solidFill>
              <a:srgbClr val="63758A"/>
            </a:solidFill>
          </a:ln>
        </p:spPr>
        <p:txBody>
          <a:bodyPr xmlns:a="http://schemas.openxmlformats.org/drawingml/2006/main" lIns="95250" tIns="76200" rIns="9525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rPr>
              <a:t>Real connected</a:t>
            </a:r>
          </a:p>
          <a:p xmlns:a="http://schemas.openxmlformats.org/drawingml/2006/main">
            <a:pPr algn="ctr">
              <a:defRPr sz="1950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rPr>
              <a:t>fact fragments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9771FDD-8492-4D6D-86FE-CD8006BD9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3009900" y="24765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72C36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E043AB5-7596-49FE-9807-BC9F9ACB3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438400"/>
            <a:ext cx="76200" cy="76200"/>
          </a:xfrm>
          <a:custGeom xmlns:a="http://schemas.openxmlformats.org/drawingml/2006/main">
            <a:pathLst>
              <a:path w="76200" h="76200">
                <a:moveTo>
                  <a:pt x="76200" y="38100"/>
                </a:moveTo>
                <a:lnTo>
                  <a:pt x="0" y="0"/>
                </a:lnTo>
                <a:lnTo>
                  <a:pt x="0" y="76200"/>
                </a:lnTo>
                <a:close/>
              </a:path>
            </a:pathLst>
          </a:custGeom>
          <a:solidFill xmlns:a="http://schemas.openxmlformats.org/drawingml/2006/main">
            <a:srgbClr val="172C36"/>
          </a:solidFill>
          <a:ln xmlns:a="http://schemas.openxmlformats.org/drawingml/2006/main" w="9525">
            <a:solidFill>
              <a:srgbClr val="172C36"/>
            </a:solidFill>
          </a:ln>
        </p:spPr>
      </p:sp>
      <p:sp>
        <p:nvSpPr>
          <p:cNvPr id="7" name="shape-47">
            <a:extLst xmlns:a="http://schemas.openxmlformats.org/drawingml/2006/main">
              <a:ext uri="{FF2B5EF4-FFF2-40B4-BE49-F238E27FC236}">
                <a16:creationId xmlns:a16="http://schemas.microsoft.com/office/drawing/2014/main" id="{1BEF2067-4DD1-4FBA-BC84-5C68F4EA8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1990725"/>
            <a:ext cx="2400300" cy="962025"/>
          </a:xfrm>
          <a:prstGeom xmlns:a="http://schemas.openxmlformats.org/drawingml/2006/main" prst="roundRect">
            <a:avLst>
              <a:gd name="adj" fmla="val 9901"/>
            </a:avLst>
          </a:prstGeom>
          <a:solidFill xmlns:a="http://schemas.openxmlformats.org/drawingml/2006/main">
            <a:srgbClr val="EAF0F6"/>
          </a:solidFill>
          <a:ln xmlns:a="http://schemas.openxmlformats.org/drawingml/2006/main" w="19050">
            <a:solidFill>
              <a:srgbClr val="63758A"/>
            </a:solidFill>
          </a:ln>
        </p:spPr>
        <p:txBody>
          <a:bodyPr xmlns:a="http://schemas.openxmlformats.org/drawingml/2006/main" lIns="95250" tIns="76200" rIns="9525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rPr>
              <a:t>Generalize</a:t>
            </a:r>
          </a:p>
          <a:p xmlns:a="http://schemas.openxmlformats.org/drawingml/2006/main">
            <a:pPr algn="ctr">
              <a:defRPr sz="1950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rPr>
              <a:t>a typed query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F4E0103-BB87-4D06-BBAE-D389F2A0C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5867400" y="24765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72C36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4E957CC-EA44-48B4-A0C0-BEBD5AFB1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438400"/>
            <a:ext cx="76200" cy="76200"/>
          </a:xfrm>
          <a:custGeom xmlns:a="http://schemas.openxmlformats.org/drawingml/2006/main">
            <a:pathLst>
              <a:path w="76200" h="76200">
                <a:moveTo>
                  <a:pt x="76200" y="38100"/>
                </a:moveTo>
                <a:lnTo>
                  <a:pt x="0" y="0"/>
                </a:lnTo>
                <a:lnTo>
                  <a:pt x="0" y="76200"/>
                </a:lnTo>
                <a:close/>
              </a:path>
            </a:pathLst>
          </a:custGeom>
          <a:solidFill xmlns:a="http://schemas.openxmlformats.org/drawingml/2006/main">
            <a:srgbClr val="172C36"/>
          </a:solidFill>
          <a:ln xmlns:a="http://schemas.openxmlformats.org/drawingml/2006/main" w="9525">
            <a:solidFill>
              <a:srgbClr val="172C36"/>
            </a:solidFill>
          </a:ln>
        </p:spPr>
      </p:sp>
      <p:sp>
        <p:nvSpPr>
          <p:cNvPr id="10" name="shape-48">
            <a:extLst xmlns:a="http://schemas.openxmlformats.org/drawingml/2006/main">
              <a:ext uri="{FF2B5EF4-FFF2-40B4-BE49-F238E27FC236}">
                <a16:creationId xmlns:a16="http://schemas.microsoft.com/office/drawing/2014/main" id="{009C533A-9D14-4240-80C7-FF4B88A63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990725"/>
            <a:ext cx="2400300" cy="962025"/>
          </a:xfrm>
          <a:prstGeom xmlns:a="http://schemas.openxmlformats.org/drawingml/2006/main" prst="roundRect">
            <a:avLst>
              <a:gd name="adj" fmla="val 9901"/>
            </a:avLst>
          </a:prstGeom>
          <a:solidFill xmlns:a="http://schemas.openxmlformats.org/drawingml/2006/main">
            <a:srgbClr val="EAF0F6"/>
          </a:solidFill>
          <a:ln xmlns:a="http://schemas.openxmlformats.org/drawingml/2006/main" w="19050">
            <a:solidFill>
              <a:srgbClr val="63758A"/>
            </a:solidFill>
          </a:ln>
        </p:spPr>
        <p:txBody>
          <a:bodyPr xmlns:a="http://schemas.openxmlformats.org/drawingml/2006/main" lIns="95250" tIns="76200" rIns="9525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rPr>
              <a:t>Execute on</a:t>
            </a:r>
          </a:p>
          <a:p xmlns:a="http://schemas.openxmlformats.org/drawingml/2006/main">
            <a:pPr algn="ctr">
              <a:defRPr sz="1950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rPr>
              <a:t>case records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6082517-6C1C-4267-A4E0-A7F9A2CE5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8724900" y="24765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72C36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39813D8-6C73-462E-8C07-D9F3A9A4E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438400"/>
            <a:ext cx="76200" cy="76200"/>
          </a:xfrm>
          <a:custGeom xmlns:a="http://schemas.openxmlformats.org/drawingml/2006/main">
            <a:pathLst>
              <a:path w="76200" h="76200">
                <a:moveTo>
                  <a:pt x="76200" y="38100"/>
                </a:moveTo>
                <a:lnTo>
                  <a:pt x="0" y="0"/>
                </a:lnTo>
                <a:lnTo>
                  <a:pt x="0" y="76200"/>
                </a:lnTo>
                <a:close/>
              </a:path>
            </a:pathLst>
          </a:custGeom>
          <a:solidFill xmlns:a="http://schemas.openxmlformats.org/drawingml/2006/main">
            <a:srgbClr val="172C36"/>
          </a:solidFill>
          <a:ln xmlns:a="http://schemas.openxmlformats.org/drawingml/2006/main" w="9525">
            <a:solidFill>
              <a:srgbClr val="172C36"/>
            </a:solidFill>
          </a:ln>
        </p:spPr>
      </p:sp>
      <p:sp>
        <p:nvSpPr>
          <p:cNvPr id="13" name="shape-49">
            <a:extLst xmlns:a="http://schemas.openxmlformats.org/drawingml/2006/main">
              <a:ext uri="{FF2B5EF4-FFF2-40B4-BE49-F238E27FC236}">
                <a16:creationId xmlns:a16="http://schemas.microsoft.com/office/drawing/2014/main" id="{145FF233-0F9C-4201-81B2-E22D6B853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1990725"/>
            <a:ext cx="2400300" cy="962025"/>
          </a:xfrm>
          <a:prstGeom xmlns:a="http://schemas.openxmlformats.org/drawingml/2006/main" prst="roundRect">
            <a:avLst>
              <a:gd name="adj" fmla="val 9901"/>
            </a:avLst>
          </a:prstGeom>
          <a:solidFill xmlns:a="http://schemas.openxmlformats.org/drawingml/2006/main">
            <a:srgbClr val="F1D7D4"/>
          </a:solidFill>
          <a:ln xmlns:a="http://schemas.openxmlformats.org/drawingml/2006/main" w="19050">
            <a:solidFill>
              <a:srgbClr val="B44948"/>
            </a:solidFill>
          </a:ln>
        </p:spPr>
        <p:txBody>
          <a:bodyPr xmlns:a="http://schemas.openxmlformats.org/drawingml/2006/main" lIns="95250" tIns="76200" rIns="9525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rPr>
              <a:t>Inspect bindings</a:t>
            </a:r>
          </a:p>
          <a:p xmlns:a="http://schemas.openxmlformats.org/drawingml/2006/main">
            <a:pPr algn="ctr">
              <a:defRPr sz="1950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rPr>
              <a:t>and source errors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D14B264-6E01-42C7-86EF-7F291B3A9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10382250" y="2952750"/>
            <a:ext cx="0" cy="476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44948"/>
            </a:solidFill>
            <a:prstDash val="dash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6696DEE-80CC-4861-918B-12B12ECE0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4667250" y="3429000"/>
            <a:ext cx="5715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44948"/>
            </a:solidFill>
            <a:prstDash val="dash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454D7AA-7EEB-4AB1-BB80-843387343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4667250" y="2952750"/>
            <a:ext cx="0" cy="476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44948"/>
            </a:solidFill>
            <a:prstDash val="dash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A525322-3E9E-455F-A6A2-4D1F4A006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952750"/>
            <a:ext cx="76200" cy="76200"/>
          </a:xfrm>
          <a:custGeom xmlns:a="http://schemas.openxmlformats.org/drawingml/2006/main">
            <a:pathLst>
              <a:path w="76200" h="76200">
                <a:moveTo>
                  <a:pt x="38100" y="0"/>
                </a:moveTo>
                <a:lnTo>
                  <a:pt x="0" y="76200"/>
                </a:lnTo>
                <a:lnTo>
                  <a:pt x="76200" y="76200"/>
                </a:lnTo>
                <a:close/>
              </a:path>
            </a:pathLst>
          </a:custGeom>
          <a:solidFill xmlns:a="http://schemas.openxmlformats.org/drawingml/2006/main">
            <a:srgbClr val="B44948"/>
          </a:solidFill>
          <a:ln xmlns:a="http://schemas.openxmlformats.org/drawingml/2006/main" w="9525">
            <a:solidFill>
              <a:srgbClr val="B44948"/>
            </a:solidFill>
          </a:ln>
        </p:spPr>
      </p:sp>
      <p:sp>
        <p:nvSpPr>
          <p:cNvPr id="18" name="text-50">
            <a:extLst xmlns:a="http://schemas.openxmlformats.org/drawingml/2006/main">
              <a:ext uri="{FF2B5EF4-FFF2-40B4-BE49-F238E27FC236}">
                <a16:creationId xmlns:a16="http://schemas.microsoft.com/office/drawing/2014/main" id="{C614E9D2-EBA3-4CC2-AEB9-854028250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3048000"/>
            <a:ext cx="3686175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B4494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B44948"/>
                </a:solidFill>
                <a:latin typeface="Helvetica Neue"/>
                <a:ea typeface="Helvetica Neue"/>
                <a:cs typeface="Helvetica Neue"/>
              </a:rPr>
              <a:t>Source-supported local edit</a:t>
            </a:r>
          </a:p>
        </p:txBody>
      </p:sp>
      <p:sp>
        <p:nvSpPr>
          <p:cNvPr id="19" name="text-51">
            <a:extLst xmlns:a="http://schemas.openxmlformats.org/drawingml/2006/main">
              <a:ext uri="{FF2B5EF4-FFF2-40B4-BE49-F238E27FC236}">
                <a16:creationId xmlns:a16="http://schemas.microsoft.com/office/drawing/2014/main" id="{73108D57-31B4-4C71-8625-2C0361BBA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90975"/>
            <a:ext cx="3714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B4494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B44948"/>
                </a:solidFill>
                <a:latin typeface="Helvetica Neue"/>
                <a:ea typeface="Helvetica Neue"/>
                <a:cs typeface="Helvetica Neue"/>
              </a:rPr>
              <a:t>Wrong binding</a:t>
            </a:r>
          </a:p>
        </p:txBody>
      </p:sp>
      <p:sp>
        <p:nvSpPr>
          <p:cNvPr id="20" name="text-52">
            <a:extLst xmlns:a="http://schemas.openxmlformats.org/drawingml/2006/main">
              <a:ext uri="{FF2B5EF4-FFF2-40B4-BE49-F238E27FC236}">
                <a16:creationId xmlns:a16="http://schemas.microsoft.com/office/drawing/2014/main" id="{BFA21C56-1E51-4C95-9A8E-1CCA0A990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40576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72C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172C36"/>
                </a:solidFill>
                <a:latin typeface="Helvetica Neue"/>
                <a:ea typeface="Helvetica Neue"/>
                <a:cs typeface="Helvetica Neue"/>
              </a:rPr>
              <a:t>notice: K1 / D1</a:t>
            </a:r>
          </a:p>
          <a:p xmlns:a="http://schemas.openxmlformats.org/drawingml/2006/main">
            <a:pPr algn="l">
              <a:defRPr sz="2100" b="0">
                <a:solidFill>
                  <a:srgbClr val="172C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172C36"/>
                </a:solidFill>
                <a:latin typeface="Helvetica Neue"/>
                <a:ea typeface="Helvetica Neue"/>
                <a:cs typeface="Helvetica Neue"/>
              </a:rPr>
              <a:t>payment: K1 / D2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39F970A-4EF0-4179-AA6A-BB8DC545C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4676775" y="4857750"/>
            <a:ext cx="7524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4494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53A796E-DF15-472B-B349-640D935E8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4819650"/>
            <a:ext cx="76200" cy="76200"/>
          </a:xfrm>
          <a:custGeom xmlns:a="http://schemas.openxmlformats.org/drawingml/2006/main">
            <a:pathLst>
              <a:path w="76200" h="76200">
                <a:moveTo>
                  <a:pt x="76200" y="38100"/>
                </a:moveTo>
                <a:lnTo>
                  <a:pt x="0" y="0"/>
                </a:lnTo>
                <a:lnTo>
                  <a:pt x="0" y="76200"/>
                </a:lnTo>
                <a:close/>
              </a:path>
            </a:pathLst>
          </a:custGeom>
          <a:solidFill xmlns:a="http://schemas.openxmlformats.org/drawingml/2006/main">
            <a:srgbClr val="B44948"/>
          </a:solidFill>
          <a:ln xmlns:a="http://schemas.openxmlformats.org/drawingml/2006/main" w="9525">
            <a:solidFill>
              <a:srgbClr val="B44948"/>
            </a:solidFill>
          </a:ln>
        </p:spPr>
      </p:sp>
      <p:sp>
        <p:nvSpPr>
          <p:cNvPr id="23" name="text-53">
            <a:extLst xmlns:a="http://schemas.openxmlformats.org/drawingml/2006/main">
              <a:ext uri="{FF2B5EF4-FFF2-40B4-BE49-F238E27FC236}">
                <a16:creationId xmlns:a16="http://schemas.microsoft.com/office/drawing/2014/main" id="{96F6D14C-7959-44DC-8BD5-8239ECAF5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8825" y="3990975"/>
            <a:ext cx="57435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rPr>
              <a:t>Shared contract AND debt</a:t>
            </a:r>
          </a:p>
        </p:txBody>
      </p:sp>
      <p:sp>
        <p:nvSpPr>
          <p:cNvPr id="24" name="text-54">
            <a:extLst xmlns:a="http://schemas.openxmlformats.org/drawingml/2006/main">
              <a:ext uri="{FF2B5EF4-FFF2-40B4-BE49-F238E27FC236}">
                <a16:creationId xmlns:a16="http://schemas.microsoft.com/office/drawing/2014/main" id="{98EF3412-7156-4A02-8336-AE12B7FE2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8825" y="4552950"/>
            <a:ext cx="5743575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rPr>
              <a:t>ReceivedNotice(n, K, D, t1)</a:t>
            </a:r>
          </a:p>
          <a:p xmlns:a="http://schemas.openxmlformats.org/drawingml/2006/main">
            <a:pPr algn="l">
              <a:defRPr sz="2100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rPr>
              <a:t>FullSettlement(p, K, D, t2)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2C291C9-7CF8-4478-846F-46A0AFFA2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609600" y="60483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7E0E5"/>
            </a:solidFill>
            <a:prstDash val="solid"/>
          </a:ln>
        </p:spPr>
      </p:sp>
      <p:sp>
        <p:nvSpPr>
          <p:cNvPr id="26" name="text-55">
            <a:extLst xmlns:a="http://schemas.openxmlformats.org/drawingml/2006/main">
              <a:ext uri="{FF2B5EF4-FFF2-40B4-BE49-F238E27FC236}">
                <a16:creationId xmlns:a16="http://schemas.microsoft.com/office/drawing/2014/main" id="{73F2B3C0-AE16-4D9B-B0D3-E2ED135F8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81725"/>
            <a:ext cx="101441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66B7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66B76"/>
                </a:solidFill>
                <a:latin typeface="Helvetica Neue"/>
                <a:ea typeface="Helvetica Neue"/>
                <a:cs typeface="Helvetica Neue"/>
              </a:rPr>
              <a:t>Real fragments are the default seeds. Bounded LLM proposals and short-query enumeration supplement recall.</a:t>
            </a:r>
          </a:p>
        </p:txBody>
      </p:sp>
    </p:spTree>
    <p:extLst>
      <p:ext uri="{BB962C8B-B14F-4D97-AF65-F5344CB8AC3E}">
        <p14:creationId xmlns:p14="http://schemas.microsoft.com/office/powerpoint/2010/main" val="31942404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text-56">
            <a:extLst xmlns:a="http://schemas.openxmlformats.org/drawingml/2006/main">
              <a:ext uri="{FF2B5EF4-FFF2-40B4-BE49-F238E27FC236}">
                <a16:creationId xmlns:a16="http://schemas.microsoft.com/office/drawing/2014/main" id="{9B5954C6-578A-4F29-81F1-6B7A51233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972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rPr>
              <a:t>B. Reusable relations and a compact dictionary</a:t>
            </a:r>
          </a:p>
        </p:txBody>
      </p:sp>
      <p:sp>
        <p:nvSpPr>
          <p:cNvPr id="2" name="text-57">
            <a:extLst xmlns:a="http://schemas.openxmlformats.org/drawingml/2006/main">
              <a:ext uri="{FF2B5EF4-FFF2-40B4-BE49-F238E27FC236}">
                <a16:creationId xmlns:a16="http://schemas.microsoft.com/office/drawing/2014/main" id="{64C11D35-B8FF-4828-9278-F911CA102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47750"/>
            <a:ext cx="1097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566B7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566B76"/>
                </a:solidFill>
                <a:latin typeface="Helvetica Neue"/>
                <a:ea typeface="Helvetica Neue"/>
                <a:cs typeface="Helvetica Neue"/>
              </a:rPr>
              <a:t>A relation can remain useful even when it saves no space</a:t>
            </a:r>
          </a:p>
        </p:txBody>
      </p:sp>
      <p:sp>
        <p:nvSpPr>
          <p:cNvPr id="3" name="text-58">
            <a:extLst xmlns:a="http://schemas.openxmlformats.org/drawingml/2006/main">
              <a:ext uri="{FF2B5EF4-FFF2-40B4-BE49-F238E27FC236}">
                <a16:creationId xmlns:a16="http://schemas.microsoft.com/office/drawing/2014/main" id="{F4822E97-E335-4470-B3A6-EAC20BA27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38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66B7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66B76"/>
                </a:solidFill>
                <a:latin typeface="Helvetica Neue"/>
                <a:ea typeface="Helvetica Neue"/>
                <a:cs typeface="Helvetica Neue"/>
              </a:rPr>
              <a:t>05</a:t>
            </a:r>
          </a:p>
        </p:txBody>
      </p:sp>
      <p:sp>
        <p:nvSpPr>
          <p:cNvPr id="4" name="shape-59">
            <a:extLst xmlns:a="http://schemas.openxmlformats.org/drawingml/2006/main">
              <a:ext uri="{FF2B5EF4-FFF2-40B4-BE49-F238E27FC236}">
                <a16:creationId xmlns:a16="http://schemas.microsoft.com/office/drawing/2014/main" id="{D20E905E-C8F6-44A4-A5A5-40C658B93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3228975" cy="942975"/>
          </a:xfrm>
          <a:prstGeom xmlns:a="http://schemas.openxmlformats.org/drawingml/2006/main" prst="roundRect">
            <a:avLst>
              <a:gd name="adj" fmla="val 10101"/>
            </a:avLst>
          </a:prstGeom>
          <a:solidFill xmlns:a="http://schemas.openxmlformats.org/drawingml/2006/main">
            <a:srgbClr val="EAF0F6"/>
          </a:solidFill>
          <a:ln xmlns:a="http://schemas.openxmlformats.org/drawingml/2006/main" w="19050">
            <a:solidFill>
              <a:srgbClr val="63758A"/>
            </a:solidFill>
          </a:ln>
        </p:spPr>
        <p:txBody>
          <a:bodyPr xmlns:a="http://schemas.openxmlformats.org/drawingml/2006/main" lIns="95250" tIns="76200" rIns="9525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rPr>
              <a:t>G</a:t>
            </a:r>
          </a:p>
          <a:p xmlns:a="http://schemas.openxmlformats.org/drawingml/2006/main">
            <a:pPr algn="ctr">
              <a:defRPr sz="2175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rPr>
              <a:t>Executable relations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AC7E852-08DD-4272-BB0E-BEB185180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3838575" y="2409825"/>
            <a:ext cx="12096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72C36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262AE44-5690-4BE7-AF43-C8C8C7C40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2371725"/>
            <a:ext cx="76200" cy="76200"/>
          </a:xfrm>
          <a:custGeom xmlns:a="http://schemas.openxmlformats.org/drawingml/2006/main">
            <a:pathLst>
              <a:path w="76200" h="76200">
                <a:moveTo>
                  <a:pt x="76200" y="38100"/>
                </a:moveTo>
                <a:lnTo>
                  <a:pt x="0" y="0"/>
                </a:lnTo>
                <a:lnTo>
                  <a:pt x="0" y="76200"/>
                </a:lnTo>
                <a:close/>
              </a:path>
            </a:pathLst>
          </a:custGeom>
          <a:solidFill xmlns:a="http://schemas.openxmlformats.org/drawingml/2006/main">
            <a:srgbClr val="172C36"/>
          </a:solidFill>
          <a:ln xmlns:a="http://schemas.openxmlformats.org/drawingml/2006/main" w="9525">
            <a:solidFill>
              <a:srgbClr val="172C36"/>
            </a:solidFill>
          </a:ln>
        </p:spPr>
      </p:sp>
      <p:sp>
        <p:nvSpPr>
          <p:cNvPr id="7" name="text-60">
            <a:extLst xmlns:a="http://schemas.openxmlformats.org/drawingml/2006/main">
              <a:ext uri="{FF2B5EF4-FFF2-40B4-BE49-F238E27FC236}">
                <a16:creationId xmlns:a16="http://schemas.microsoft.com/office/drawing/2014/main" id="{6BD80139-6572-4D6C-AAEC-75A5FD178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0025" y="2000250"/>
            <a:ext cx="895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566B7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566B76"/>
                </a:solidFill>
                <a:latin typeface="Helvetica Neue"/>
                <a:ea typeface="Helvetica Neue"/>
                <a:cs typeface="Helvetica Neue"/>
              </a:rPr>
              <a:t>select</a:t>
            </a:r>
          </a:p>
        </p:txBody>
      </p:sp>
      <p:sp>
        <p:nvSpPr>
          <p:cNvPr id="8" name="shape-61">
            <a:extLst xmlns:a="http://schemas.openxmlformats.org/drawingml/2006/main">
              <a:ext uri="{FF2B5EF4-FFF2-40B4-BE49-F238E27FC236}">
                <a16:creationId xmlns:a16="http://schemas.microsoft.com/office/drawing/2014/main" id="{98EBA608-EA1A-4FD2-9D2C-069CC8DDF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952625"/>
            <a:ext cx="3362325" cy="942975"/>
          </a:xfrm>
          <a:prstGeom xmlns:a="http://schemas.openxmlformats.org/drawingml/2006/main" prst="roundRect">
            <a:avLst>
              <a:gd name="adj" fmla="val 10101"/>
            </a:avLst>
          </a:prstGeom>
          <a:solidFill xmlns:a="http://schemas.openxmlformats.org/drawingml/2006/main">
            <a:srgbClr val="EAF0F6"/>
          </a:solidFill>
          <a:ln xmlns:a="http://schemas.openxmlformats.org/drawingml/2006/main" w="19050">
            <a:solidFill>
              <a:srgbClr val="63758A"/>
            </a:solidFill>
          </a:ln>
        </p:spPr>
        <p:txBody>
          <a:bodyPr xmlns:a="http://schemas.openxmlformats.org/drawingml/2006/main" lIns="95250" tIns="76200" rIns="9525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rPr>
              <a:t>S</a:t>
            </a:r>
          </a:p>
          <a:p xmlns:a="http://schemas.openxmlformats.org/drawingml/2006/main">
            <a:pPr algn="ctr">
              <a:defRPr sz="2175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rPr>
              <a:t>Compact dictionary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12BB824-AC80-4EE9-A6D3-703AE8AFA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8410575" y="2409825"/>
            <a:ext cx="7524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72C36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D532BAF-9BD7-4F0E-87AD-EED37B236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2371725"/>
            <a:ext cx="76200" cy="76200"/>
          </a:xfrm>
          <a:custGeom xmlns:a="http://schemas.openxmlformats.org/drawingml/2006/main">
            <a:pathLst>
              <a:path w="76200" h="76200">
                <a:moveTo>
                  <a:pt x="76200" y="38100"/>
                </a:moveTo>
                <a:lnTo>
                  <a:pt x="0" y="0"/>
                </a:lnTo>
                <a:lnTo>
                  <a:pt x="0" y="76200"/>
                </a:lnTo>
                <a:close/>
              </a:path>
            </a:pathLst>
          </a:custGeom>
          <a:solidFill xmlns:a="http://schemas.openxmlformats.org/drawingml/2006/main">
            <a:srgbClr val="172C36"/>
          </a:solidFill>
          <a:ln xmlns:a="http://schemas.openxmlformats.org/drawingml/2006/main" w="9525">
            <a:solidFill>
              <a:srgbClr val="172C36"/>
            </a:solidFill>
          </a:ln>
        </p:spPr>
      </p:sp>
      <p:sp>
        <p:nvSpPr>
          <p:cNvPr id="11" name="shape-62">
            <a:extLst xmlns:a="http://schemas.openxmlformats.org/drawingml/2006/main">
              <a:ext uri="{FF2B5EF4-FFF2-40B4-BE49-F238E27FC236}">
                <a16:creationId xmlns:a16="http://schemas.microsoft.com/office/drawing/2014/main" id="{C2558B2C-A483-4C13-ACE0-E3F1FBFC8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038350"/>
            <a:ext cx="4857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63758A"/>
            </a:solidFill>
          </a:ln>
        </p:spPr>
      </p:sp>
      <p:sp>
        <p:nvSpPr>
          <p:cNvPr id="12" name="shape-63">
            <a:extLst xmlns:a="http://schemas.openxmlformats.org/drawingml/2006/main">
              <a:ext uri="{FF2B5EF4-FFF2-40B4-BE49-F238E27FC236}">
                <a16:creationId xmlns:a16="http://schemas.microsoft.com/office/drawing/2014/main" id="{7E4A12EF-D49E-43EF-B9F2-5226479B8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2038350"/>
            <a:ext cx="152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0F6"/>
          </a:solidFill>
          <a:ln xmlns:a="http://schemas.openxmlformats.org/drawingml/2006/main" w="19050">
            <a:solidFill>
              <a:srgbClr val="63758A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DB990B5-C2EB-460A-A621-75F547960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9639300" y="2324100"/>
            <a:ext cx="2571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63758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23716A1-9906-46AA-85A3-AEDCCFC60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9639300" y="2438400"/>
            <a:ext cx="2571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63758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8177486-CE6A-4C6C-8423-3DE3222C4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9639300" y="2552700"/>
            <a:ext cx="2571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63758A"/>
            </a:solidFill>
            <a:prstDash val="solid"/>
          </a:ln>
        </p:spPr>
      </p:sp>
      <p:sp>
        <p:nvSpPr>
          <p:cNvPr id="16" name="text-64">
            <a:extLst xmlns:a="http://schemas.openxmlformats.org/drawingml/2006/main">
              <a:ext uri="{FF2B5EF4-FFF2-40B4-BE49-F238E27FC236}">
                <a16:creationId xmlns:a16="http://schemas.microsoft.com/office/drawing/2014/main" id="{86404D86-A812-4073-B798-F057BCB43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2228850"/>
            <a:ext cx="1400175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rPr>
              <a:t>Decode</a:t>
            </a:r>
          </a:p>
        </p:txBody>
      </p:sp>
      <p:sp>
        <p:nvSpPr>
          <p:cNvPr id="17" name="text-65">
            <a:extLst xmlns:a="http://schemas.openxmlformats.org/drawingml/2006/main">
              <a:ext uri="{FF2B5EF4-FFF2-40B4-BE49-F238E27FC236}">
                <a16:creationId xmlns:a16="http://schemas.microsoft.com/office/drawing/2014/main" id="{763AD715-5EA5-472C-9703-68FB8AE55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67100"/>
            <a:ext cx="37147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rPr>
              <a:t>Define once</a:t>
            </a:r>
          </a:p>
        </p:txBody>
      </p:sp>
      <p:sp>
        <p:nvSpPr>
          <p:cNvPr id="18" name="text-66">
            <a:extLst xmlns:a="http://schemas.openxmlformats.org/drawingml/2006/main">
              <a:ext uri="{FF2B5EF4-FFF2-40B4-BE49-F238E27FC236}">
                <a16:creationId xmlns:a16="http://schemas.microsoft.com/office/drawing/2014/main" id="{90E05995-5104-47F5-9128-7DA73F89D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90975"/>
            <a:ext cx="50101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C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172C36"/>
                </a:solidFill>
                <a:latin typeface="Helvetica Neue"/>
                <a:ea typeface="Helvetica Neue"/>
                <a:cs typeface="Helvetica Neue"/>
              </a:rPr>
              <a:t>P = receipt + full payment</a:t>
            </a:r>
          </a:p>
          <a:p xmlns:a="http://schemas.openxmlformats.org/drawingml/2006/main">
            <a:pPr algn="l">
              <a:defRPr sz="2025" b="0">
                <a:solidFill>
                  <a:srgbClr val="172C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172C36"/>
                </a:solidFill>
                <a:latin typeface="Helvetica Neue"/>
                <a:ea typeface="Helvetica Neue"/>
                <a:cs typeface="Helvetica Neue"/>
              </a:rPr>
              <a:t>for the same contract and debt</a:t>
            </a:r>
          </a:p>
        </p:txBody>
      </p:sp>
      <p:sp>
        <p:nvSpPr>
          <p:cNvPr id="19" name="text-67">
            <a:extLst xmlns:a="http://schemas.openxmlformats.org/drawingml/2006/main">
              <a:ext uri="{FF2B5EF4-FFF2-40B4-BE49-F238E27FC236}">
                <a16:creationId xmlns:a16="http://schemas.microsoft.com/office/drawing/2014/main" id="{AB66DDEB-7807-44C5-B04D-DD013D2F4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467100"/>
            <a:ext cx="521017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rPr>
              <a:t>Pay for every use</a:t>
            </a:r>
          </a:p>
        </p:txBody>
      </p:sp>
      <p:sp>
        <p:nvSpPr>
          <p:cNvPr id="20" name="text-68">
            <a:extLst xmlns:a="http://schemas.openxmlformats.org/drawingml/2006/main">
              <a:ext uri="{FF2B5EF4-FFF2-40B4-BE49-F238E27FC236}">
                <a16:creationId xmlns:a16="http://schemas.microsoft.com/office/drawing/2014/main" id="{4F2AB7F0-4C8E-496C-9893-0ECF2792A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990975"/>
            <a:ext cx="5210175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C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172C36"/>
                </a:solidFill>
                <a:latin typeface="Helvetica Neue"/>
                <a:ea typeface="Helvetica Neue"/>
                <a:cs typeface="Helvetica Neue"/>
              </a:rPr>
              <a:t>P(K1, D1, n1, p5, dates…)</a:t>
            </a:r>
          </a:p>
          <a:p xmlns:a="http://schemas.openxmlformats.org/drawingml/2006/main">
            <a:pPr algn="l">
              <a:defRPr sz="2025" b="0">
                <a:solidFill>
                  <a:srgbClr val="172C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172C36"/>
                </a:solidFill>
                <a:latin typeface="Helvetica Neue"/>
                <a:ea typeface="Helvetica Neue"/>
                <a:cs typeface="Helvetica Neue"/>
              </a:rPr>
              <a:t>+ source, status and residual fields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7058395-3814-45FF-86B6-335D49562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609600" y="51816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7E0E5"/>
            </a:solidFill>
            <a:prstDash val="solid"/>
          </a:ln>
        </p:spPr>
      </p:sp>
      <p:sp>
        <p:nvSpPr>
          <p:cNvPr id="22" name="text-69">
            <a:extLst xmlns:a="http://schemas.openxmlformats.org/drawingml/2006/main">
              <a:ext uri="{FF2B5EF4-FFF2-40B4-BE49-F238E27FC236}">
                <a16:creationId xmlns:a16="http://schemas.microsoft.com/office/drawing/2014/main" id="{8FB66E27-AA1A-4485-A52C-0D0FB6B1A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00675"/>
            <a:ext cx="1097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rPr>
              <a:t>Minimize  definition bits + use bits + remaining record bits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FFA80F4-322A-4977-B347-B96C0A25F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609600" y="60483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7E0E5"/>
            </a:solidFill>
            <a:prstDash val="solid"/>
          </a:ln>
        </p:spPr>
      </p:sp>
      <p:sp>
        <p:nvSpPr>
          <p:cNvPr id="24" name="text-70">
            <a:extLst xmlns:a="http://schemas.openxmlformats.org/drawingml/2006/main">
              <a:ext uri="{FF2B5EF4-FFF2-40B4-BE49-F238E27FC236}">
                <a16:creationId xmlns:a16="http://schemas.microsoft.com/office/drawing/2014/main" id="{B0E30C4D-0D70-4251-BA0E-9C4F51441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81725"/>
            <a:ext cx="101441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66B7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66B76"/>
                </a:solidFill>
                <a:latin typeface="Helvetica Neue"/>
                <a:ea typeface="Helvetica Neue"/>
                <a:cs typeface="Helvetica Neue"/>
              </a:rPr>
              <a:t>Each base record reconstructs once. Shared entity IDs are allowed. Rare legal conditions remain available to C.</a:t>
            </a:r>
          </a:p>
        </p:txBody>
      </p:sp>
    </p:spTree>
    <p:extLst>
      <p:ext uri="{BB962C8B-B14F-4D97-AF65-F5344CB8AC3E}">
        <p14:creationId xmlns:p14="http://schemas.microsoft.com/office/powerpoint/2010/main" val="193301983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text-71">
            <a:extLst xmlns:a="http://schemas.openxmlformats.org/drawingml/2006/main">
              <a:ext uri="{FF2B5EF4-FFF2-40B4-BE49-F238E27FC236}">
                <a16:creationId xmlns:a16="http://schemas.microsoft.com/office/drawing/2014/main" id="{C92BFF14-3CA8-4D05-96FF-AF90FE56B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972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rPr>
              <a:t>C. Legal rules require sourced bridges</a:t>
            </a:r>
          </a:p>
        </p:txBody>
      </p:sp>
      <p:sp>
        <p:nvSpPr>
          <p:cNvPr id="2" name="text-72">
            <a:extLst xmlns:a="http://schemas.openxmlformats.org/drawingml/2006/main">
              <a:ext uri="{FF2B5EF4-FFF2-40B4-BE49-F238E27FC236}">
                <a16:creationId xmlns:a16="http://schemas.microsoft.com/office/drawing/2014/main" id="{FC301431-1A83-41E7-A170-A6B8616F7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47750"/>
            <a:ext cx="1097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566B7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566B76"/>
                </a:solidFill>
                <a:latin typeface="Helvetica Neue"/>
                <a:ea typeface="Helvetica Neue"/>
                <a:cs typeface="Helvetica Neue"/>
              </a:rPr>
              <a:t>A descriptive event does not automatically satisfy a legal condition</a:t>
            </a:r>
          </a:p>
        </p:txBody>
      </p:sp>
      <p:sp>
        <p:nvSpPr>
          <p:cNvPr id="3" name="text-73">
            <a:extLst xmlns:a="http://schemas.openxmlformats.org/drawingml/2006/main">
              <a:ext uri="{FF2B5EF4-FFF2-40B4-BE49-F238E27FC236}">
                <a16:creationId xmlns:a16="http://schemas.microsoft.com/office/drawing/2014/main" id="{E1016879-48AB-4670-A022-0F9AF81E0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38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66B7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66B76"/>
                </a:solidFill>
                <a:latin typeface="Helvetica Neue"/>
                <a:ea typeface="Helvetica Neue"/>
                <a:cs typeface="Helvetica Neue"/>
              </a:rPr>
              <a:t>06</a:t>
            </a:r>
          </a:p>
        </p:txBody>
      </p:sp>
      <p:sp>
        <p:nvSpPr>
          <p:cNvPr id="4" name="shape-74">
            <a:extLst xmlns:a="http://schemas.openxmlformats.org/drawingml/2006/main">
              <a:ext uri="{FF2B5EF4-FFF2-40B4-BE49-F238E27FC236}">
                <a16:creationId xmlns:a16="http://schemas.microsoft.com/office/drawing/2014/main" id="{4B88D524-2274-4F75-9695-187668F1E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819275"/>
            <a:ext cx="3619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63758A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7A0B24E-D26E-45B3-9696-75402AE17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771525" y="1952625"/>
            <a:ext cx="209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63758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0F212E3-88FC-428B-8EBE-FFEC04019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771525" y="2057400"/>
            <a:ext cx="209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63758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7A5789D-E40A-4A34-8376-2D7CA6A85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771525" y="2162175"/>
            <a:ext cx="209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63758A"/>
            </a:solidFill>
            <a:prstDash val="solid"/>
          </a:ln>
        </p:spPr>
      </p:sp>
      <p:sp>
        <p:nvSpPr>
          <p:cNvPr id="8" name="shape-75">
            <a:extLst xmlns:a="http://schemas.openxmlformats.org/drawingml/2006/main">
              <a:ext uri="{FF2B5EF4-FFF2-40B4-BE49-F238E27FC236}">
                <a16:creationId xmlns:a16="http://schemas.microsoft.com/office/drawing/2014/main" id="{B7B3DC76-DBFE-41CB-871D-6E8A0A4F8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" y="1819275"/>
            <a:ext cx="3619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63758A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B027787-D7CD-4B41-9E85-8DCA40006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1133475" y="1952625"/>
            <a:ext cx="209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63758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06F3C32-57D7-44C5-8648-32C398D84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1133475" y="2057400"/>
            <a:ext cx="209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63758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92D01C8-EAC8-4CDB-894F-59FA82047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1133475" y="2162175"/>
            <a:ext cx="209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63758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3C1043A-7BFF-4350-AB6A-0EF58378C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1057275" y="1790700"/>
            <a:ext cx="0" cy="628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172C36"/>
            </a:solidFill>
            <a:prstDash val="solid"/>
          </a:ln>
        </p:spPr>
      </p:sp>
      <p:sp>
        <p:nvSpPr>
          <p:cNvPr id="13" name="text-76">
            <a:extLst xmlns:a="http://schemas.openxmlformats.org/drawingml/2006/main">
              <a:ext uri="{FF2B5EF4-FFF2-40B4-BE49-F238E27FC236}">
                <a16:creationId xmlns:a16="http://schemas.microsoft.com/office/drawing/2014/main" id="{CB810A38-7EC3-451F-8338-2F39772BE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7825" y="1733550"/>
            <a:ext cx="189547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rPr>
              <a:t>Authority</a:t>
            </a:r>
          </a:p>
          <a:p xmlns:a="http://schemas.openxmlformats.org/drawingml/2006/main">
            <a:pPr algn="l">
              <a:defRPr sz="2025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rPr>
              <a:t>with context</a:t>
            </a:r>
          </a:p>
        </p:txBody>
      </p:sp>
      <p:sp>
        <p:nvSpPr>
          <p:cNvPr id="14" name="shape-77">
            <a:extLst xmlns:a="http://schemas.openxmlformats.org/drawingml/2006/main">
              <a:ext uri="{FF2B5EF4-FFF2-40B4-BE49-F238E27FC236}">
                <a16:creationId xmlns:a16="http://schemas.microsoft.com/office/drawing/2014/main" id="{84812E11-4A0F-4F21-854D-131BBBF5F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1714500"/>
            <a:ext cx="3333750" cy="942975"/>
          </a:xfrm>
          <a:prstGeom xmlns:a="http://schemas.openxmlformats.org/drawingml/2006/main" prst="roundRect">
            <a:avLst>
              <a:gd name="adj" fmla="val 10101"/>
            </a:avLst>
          </a:prstGeom>
          <a:solidFill xmlns:a="http://schemas.openxmlformats.org/drawingml/2006/main">
            <a:srgbClr val="EAF0F6"/>
          </a:solidFill>
          <a:ln xmlns:a="http://schemas.openxmlformats.org/drawingml/2006/main" w="19050">
            <a:solidFill>
              <a:srgbClr val="63758A"/>
            </a:solidFill>
          </a:ln>
        </p:spPr>
        <p:txBody>
          <a:bodyPr xmlns:a="http://schemas.openxmlformats.org/drawingml/2006/main" lIns="95250" tIns="76200" rIns="9525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rPr>
              <a:t>Jointly draft</a:t>
            </a:r>
          </a:p>
          <a:p xmlns:a="http://schemas.openxmlformats.org/drawingml/2006/main">
            <a:pPr algn="ctr">
              <a:defRPr sz="2100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rPr>
              <a:t>rules and bridges</a:t>
            </a:r>
          </a:p>
        </p:txBody>
      </p:sp>
      <p:sp>
        <p:nvSpPr>
          <p:cNvPr id="15" name="shape-78">
            <a:extLst xmlns:a="http://schemas.openxmlformats.org/drawingml/2006/main">
              <a:ext uri="{FF2B5EF4-FFF2-40B4-BE49-F238E27FC236}">
                <a16:creationId xmlns:a16="http://schemas.microsoft.com/office/drawing/2014/main" id="{CCAC4D1D-EE04-46E5-8171-D56B62D9E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1714500"/>
            <a:ext cx="3257550" cy="942975"/>
          </a:xfrm>
          <a:prstGeom xmlns:a="http://schemas.openxmlformats.org/drawingml/2006/main" prst="roundRect">
            <a:avLst>
              <a:gd name="adj" fmla="val 10101"/>
            </a:avLst>
          </a:prstGeom>
          <a:solidFill xmlns:a="http://schemas.openxmlformats.org/drawingml/2006/main">
            <a:srgbClr val="F1D7D4"/>
          </a:solidFill>
          <a:ln xmlns:a="http://schemas.openxmlformats.org/drawingml/2006/main" w="19050">
            <a:solidFill>
              <a:srgbClr val="B44948"/>
            </a:solidFill>
          </a:ln>
        </p:spPr>
        <p:txBody>
          <a:bodyPr xmlns:a="http://schemas.openxmlformats.org/drawingml/2006/main" lIns="95250" tIns="76200" rIns="9525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rPr>
              <a:t>Test against source</a:t>
            </a:r>
          </a:p>
          <a:p xmlns:a="http://schemas.openxmlformats.org/drawingml/2006/main">
            <a:pPr algn="ctr">
              <a:defRPr sz="2025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rPr>
              <a:t>and review meaning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C4010DF-0A2F-4ABE-B8B4-741EC923A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3448050" y="2162175"/>
            <a:ext cx="5524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72C3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86EB9B1-96A2-4AC9-ABFC-69CA378FD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2124075"/>
            <a:ext cx="76200" cy="76200"/>
          </a:xfrm>
          <a:custGeom xmlns:a="http://schemas.openxmlformats.org/drawingml/2006/main">
            <a:pathLst>
              <a:path w="76200" h="76200">
                <a:moveTo>
                  <a:pt x="76200" y="38100"/>
                </a:moveTo>
                <a:lnTo>
                  <a:pt x="0" y="0"/>
                </a:lnTo>
                <a:lnTo>
                  <a:pt x="0" y="76200"/>
                </a:lnTo>
                <a:close/>
              </a:path>
            </a:pathLst>
          </a:custGeom>
          <a:solidFill xmlns:a="http://schemas.openxmlformats.org/drawingml/2006/main">
            <a:srgbClr val="172C36"/>
          </a:solidFill>
          <a:ln xmlns:a="http://schemas.openxmlformats.org/drawingml/2006/main" w="9525">
            <a:solidFill>
              <a:srgbClr val="172C36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7317673-5EA6-4F56-8654-862CD6C3E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7334250" y="2162175"/>
            <a:ext cx="990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72C3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BC97B9A-63F4-4375-9AE7-03EB36E85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124075"/>
            <a:ext cx="76200" cy="76200"/>
          </a:xfrm>
          <a:custGeom xmlns:a="http://schemas.openxmlformats.org/drawingml/2006/main">
            <a:pathLst>
              <a:path w="76200" h="76200">
                <a:moveTo>
                  <a:pt x="76200" y="38100"/>
                </a:moveTo>
                <a:lnTo>
                  <a:pt x="0" y="0"/>
                </a:lnTo>
                <a:lnTo>
                  <a:pt x="0" y="76200"/>
                </a:lnTo>
                <a:close/>
              </a:path>
            </a:pathLst>
          </a:custGeom>
          <a:solidFill xmlns:a="http://schemas.openxmlformats.org/drawingml/2006/main">
            <a:srgbClr val="172C36"/>
          </a:solidFill>
          <a:ln xmlns:a="http://schemas.openxmlformats.org/drawingml/2006/main" w="9525">
            <a:solidFill>
              <a:srgbClr val="172C36"/>
            </a:solidFill>
          </a:ln>
        </p:spPr>
      </p:sp>
      <p:sp>
        <p:nvSpPr>
          <p:cNvPr id="20" name="text-79">
            <a:extLst xmlns:a="http://schemas.openxmlformats.org/drawingml/2006/main">
              <a:ext uri="{FF2B5EF4-FFF2-40B4-BE49-F238E27FC236}">
                <a16:creationId xmlns:a16="http://schemas.microsoft.com/office/drawing/2014/main" id="{4AEDD65B-B799-4A1E-91FF-368EBFB2F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00400"/>
            <a:ext cx="18192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rPr>
              <a:t>Bridge</a:t>
            </a:r>
          </a:p>
        </p:txBody>
      </p:sp>
      <p:sp>
        <p:nvSpPr>
          <p:cNvPr id="21" name="text-80">
            <a:extLst xmlns:a="http://schemas.openxmlformats.org/drawingml/2006/main">
              <a:ext uri="{FF2B5EF4-FFF2-40B4-BE49-F238E27FC236}">
                <a16:creationId xmlns:a16="http://schemas.microsoft.com/office/drawing/2014/main" id="{2AD9AE9C-CD01-41C7-9A67-A9EED86E7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200400"/>
            <a:ext cx="91154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72C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172C36"/>
                </a:solidFill>
                <a:latin typeface="Helvetica Neue"/>
                <a:ea typeface="Helvetica Neue"/>
                <a:cs typeface="Helvetica Neue"/>
              </a:rPr>
              <a:t>Actual receipt + designated recipient + clear debt identity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0EC3936-D120-4746-96C5-9E1DEF797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6829425" y="3695700"/>
            <a:ext cx="0" cy="3524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72C36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3B50FAB-3475-4B9A-B9BD-BB9E5B271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3971925"/>
            <a:ext cx="76200" cy="76200"/>
          </a:xfrm>
          <a:custGeom xmlns:a="http://schemas.openxmlformats.org/drawingml/2006/main">
            <a:pathLst>
              <a:path w="76200" h="76200">
                <a:moveTo>
                  <a:pt x="38100" y="76200"/>
                </a:moveTo>
                <a:lnTo>
                  <a:pt x="0" y="0"/>
                </a:lnTo>
                <a:lnTo>
                  <a:pt x="76200" y="0"/>
                </a:lnTo>
                <a:close/>
              </a:path>
            </a:pathLst>
          </a:custGeom>
          <a:solidFill xmlns:a="http://schemas.openxmlformats.org/drawingml/2006/main">
            <a:srgbClr val="172C36"/>
          </a:solidFill>
          <a:ln xmlns:a="http://schemas.openxmlformats.org/drawingml/2006/main" w="9525">
            <a:solidFill>
              <a:srgbClr val="172C36"/>
            </a:solidFill>
          </a:ln>
        </p:spPr>
      </p:sp>
      <p:sp>
        <p:nvSpPr>
          <p:cNvPr id="24" name="shape-81">
            <a:extLst xmlns:a="http://schemas.openxmlformats.org/drawingml/2006/main">
              <a:ext uri="{FF2B5EF4-FFF2-40B4-BE49-F238E27FC236}">
                <a16:creationId xmlns:a16="http://schemas.microsoft.com/office/drawing/2014/main" id="{416C64DF-8005-4545-9A2D-5497041EC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43475" y="4048125"/>
            <a:ext cx="3781425" cy="647700"/>
          </a:xfrm>
          <a:prstGeom xmlns:a="http://schemas.openxmlformats.org/drawingml/2006/main" prst="roundRect">
            <a:avLst>
              <a:gd name="adj" fmla="val 14706"/>
            </a:avLst>
          </a:prstGeom>
          <a:solidFill xmlns:a="http://schemas.openxmlformats.org/drawingml/2006/main">
            <a:srgbClr val="EAF0F6"/>
          </a:solidFill>
          <a:ln xmlns:a="http://schemas.openxmlformats.org/drawingml/2006/main" w="19050">
            <a:solidFill>
              <a:srgbClr val="63758A"/>
            </a:solidFill>
          </a:ln>
        </p:spPr>
        <p:txBody>
          <a:bodyPr xmlns:a="http://schemas.openxmlformats.org/drawingml/2006/main" lIns="95250" tIns="76200" rIns="9525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rPr>
              <a:t>VALID NOTICE</a:t>
            </a:r>
          </a:p>
        </p:txBody>
      </p:sp>
      <p:sp>
        <p:nvSpPr>
          <p:cNvPr id="25" name="text-82">
            <a:extLst xmlns:a="http://schemas.openxmlformats.org/drawingml/2006/main">
              <a:ext uri="{FF2B5EF4-FFF2-40B4-BE49-F238E27FC236}">
                <a16:creationId xmlns:a16="http://schemas.microsoft.com/office/drawing/2014/main" id="{2A548EA7-A091-4E49-8290-CA30691A4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76825"/>
            <a:ext cx="17240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rPr>
              <a:t>Rule</a:t>
            </a:r>
          </a:p>
        </p:txBody>
      </p:sp>
      <p:sp>
        <p:nvSpPr>
          <p:cNvPr id="26" name="text-83">
            <a:extLst xmlns:a="http://schemas.openxmlformats.org/drawingml/2006/main">
              <a:ext uri="{FF2B5EF4-FFF2-40B4-BE49-F238E27FC236}">
                <a16:creationId xmlns:a16="http://schemas.microsoft.com/office/drawing/2014/main" id="{55415363-83F7-4DF7-A317-8292F23CB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4972050"/>
            <a:ext cx="9105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72C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172C36"/>
                </a:solidFill>
                <a:latin typeface="Helvetica Neue"/>
                <a:ea typeface="Helvetica Neue"/>
                <a:cs typeface="Helvetica Neue"/>
              </a:rPr>
              <a:t>Valid notice + full payment within the defined period</a:t>
            </a:r>
          </a:p>
        </p:txBody>
      </p:sp>
      <p:sp>
        <p:nvSpPr>
          <p:cNvPr id="27" name="text-84">
            <a:extLst xmlns:a="http://schemas.openxmlformats.org/drawingml/2006/main">
              <a:ext uri="{FF2B5EF4-FFF2-40B4-BE49-F238E27FC236}">
                <a16:creationId xmlns:a16="http://schemas.microsoft.com/office/drawing/2014/main" id="{3FB19B5B-D042-4F20-86FF-B1A515EC8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19725"/>
            <a:ext cx="9105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566B76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566B76"/>
                </a:solidFill>
                <a:latin typeface="Helvetica Neue"/>
                <a:ea typeface="Helvetica Neue"/>
                <a:cs typeface="Helvetica Neue"/>
              </a:rPr>
              <a:t>supports a specific protection, subject to exceptions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42A0BB3-E24E-412C-A7EB-729A4A7A2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609600" y="60483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7E0E5"/>
            </a:solidFill>
            <a:prstDash val="solid"/>
          </a:ln>
        </p:spPr>
      </p:sp>
      <p:sp>
        <p:nvSpPr>
          <p:cNvPr id="29" name="text-85">
            <a:extLst xmlns:a="http://schemas.openxmlformats.org/drawingml/2006/main">
              <a:ext uri="{FF2B5EF4-FFF2-40B4-BE49-F238E27FC236}">
                <a16:creationId xmlns:a16="http://schemas.microsoft.com/office/drawing/2014/main" id="{C88259D0-1752-4B6D-B32E-F81C1C3C7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81725"/>
            <a:ext cx="101441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66B7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66B76"/>
                </a:solidFill>
                <a:latin typeface="Helvetica Neue"/>
                <a:ea typeface="Helvetica Neue"/>
                <a:cs typeface="Helvetica Neue"/>
              </a:rPr>
              <a:t>Source tests check missing conditions, scope and exceptions. Legal review approves the interpretation.</a:t>
            </a:r>
          </a:p>
        </p:txBody>
      </p:sp>
    </p:spTree>
    <p:extLst>
      <p:ext uri="{BB962C8B-B14F-4D97-AF65-F5344CB8AC3E}">
        <p14:creationId xmlns:p14="http://schemas.microsoft.com/office/powerpoint/2010/main" val="102469445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text-86">
            <a:extLst xmlns:a="http://schemas.openxmlformats.org/drawingml/2006/main">
              <a:ext uri="{FF2B5EF4-FFF2-40B4-BE49-F238E27FC236}">
                <a16:creationId xmlns:a16="http://schemas.microsoft.com/office/drawing/2014/main" id="{A3244BBA-7B32-4A49-B8FD-73424B345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972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rPr>
              <a:t>C. One witness, two exception policies</a:t>
            </a:r>
          </a:p>
        </p:txBody>
      </p:sp>
      <p:sp>
        <p:nvSpPr>
          <p:cNvPr id="2" name="text-87">
            <a:extLst xmlns:a="http://schemas.openxmlformats.org/drawingml/2006/main">
              <a:ext uri="{FF2B5EF4-FFF2-40B4-BE49-F238E27FC236}">
                <a16:creationId xmlns:a16="http://schemas.microsoft.com/office/drawing/2014/main" id="{4A607169-7164-42AD-81A6-DD3D3C7F3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47750"/>
            <a:ext cx="1097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566B7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566B76"/>
                </a:solidFill>
                <a:latin typeface="Helvetica Neue"/>
                <a:ea typeface="Helvetica Neue"/>
                <a:cs typeface="Helvetica Neue"/>
              </a:rPr>
              <a:t>Hypothetical rule: protection for full payment within 10 days after valid receipt</a:t>
            </a:r>
          </a:p>
        </p:txBody>
      </p:sp>
      <p:sp>
        <p:nvSpPr>
          <p:cNvPr id="3" name="text-88">
            <a:extLst xmlns:a="http://schemas.openxmlformats.org/drawingml/2006/main">
              <a:ext uri="{FF2B5EF4-FFF2-40B4-BE49-F238E27FC236}">
                <a16:creationId xmlns:a16="http://schemas.microsoft.com/office/drawing/2014/main" id="{CF654767-10C4-4925-BD06-FB571EDE5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38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66B7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66B76"/>
                </a:solidFill>
                <a:latin typeface="Helvetica Neue"/>
                <a:ea typeface="Helvetica Neue"/>
                <a:cs typeface="Helvetica Neue"/>
              </a:rPr>
              <a:t>07</a:t>
            </a:r>
          </a:p>
        </p:txBody>
      </p:sp>
      <p:sp>
        <p:nvSpPr>
          <p:cNvPr id="4" name="text-89">
            <a:extLst xmlns:a="http://schemas.openxmlformats.org/drawingml/2006/main">
              <a:ext uri="{FF2B5EF4-FFF2-40B4-BE49-F238E27FC236}">
                <a16:creationId xmlns:a16="http://schemas.microsoft.com/office/drawing/2014/main" id="{95F0E053-FF7C-4165-B51D-132AE0F84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47825"/>
            <a:ext cx="1809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rPr>
              <a:t>K1 / D1</a:t>
            </a:r>
          </a:p>
        </p:txBody>
      </p:sp>
      <p:sp>
        <p:nvSpPr>
          <p:cNvPr id="5" name="text-90">
            <a:extLst xmlns:a="http://schemas.openxmlformats.org/drawingml/2006/main">
              <a:ext uri="{FF2B5EF4-FFF2-40B4-BE49-F238E27FC236}">
                <a16:creationId xmlns:a16="http://schemas.microsoft.com/office/drawing/2014/main" id="{5A20FBAF-8ED7-432A-8558-19CF6463D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1685925"/>
            <a:ext cx="22669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566B76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566B76"/>
                </a:solidFill>
                <a:latin typeface="Helvetica Neue"/>
                <a:ea typeface="Helvetica Neue"/>
                <a:cs typeface="Helvetica Neue"/>
              </a:rPr>
              <a:t>Sent May 1</a:t>
            </a:r>
          </a:p>
        </p:txBody>
      </p:sp>
      <p:sp>
        <p:nvSpPr>
          <p:cNvPr id="6" name="text-91">
            <a:extLst xmlns:a="http://schemas.openxmlformats.org/drawingml/2006/main">
              <a:ext uri="{FF2B5EF4-FFF2-40B4-BE49-F238E27FC236}">
                <a16:creationId xmlns:a16="http://schemas.microsoft.com/office/drawing/2014/main" id="{CB28C486-BA4D-4AF7-AB07-FD3E1C937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7325" y="1685925"/>
            <a:ext cx="2790825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rPr>
              <a:t>Received May 4</a:t>
            </a:r>
          </a:p>
        </p:txBody>
      </p:sp>
      <p:sp>
        <p:nvSpPr>
          <p:cNvPr id="7" name="text-92">
            <a:extLst xmlns:a="http://schemas.openxmlformats.org/drawingml/2006/main">
              <a:ext uri="{FF2B5EF4-FFF2-40B4-BE49-F238E27FC236}">
                <a16:creationId xmlns:a16="http://schemas.microsoft.com/office/drawing/2014/main" id="{5504C4A5-782D-4ACA-A11C-5E9A19FBA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4925" y="1685925"/>
            <a:ext cx="26670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rPr>
              <a:t>Paid May 13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9688224-CC62-466E-BDFF-FED5BDE78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7648575" y="2286000"/>
            <a:ext cx="23050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72C36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2BA8BB5-A0F2-4E64-B5FE-F19132A77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7425" y="2247900"/>
            <a:ext cx="76200" cy="76200"/>
          </a:xfrm>
          <a:custGeom xmlns:a="http://schemas.openxmlformats.org/drawingml/2006/main">
            <a:pathLst>
              <a:path w="76200" h="76200">
                <a:moveTo>
                  <a:pt x="76200" y="38100"/>
                </a:moveTo>
                <a:lnTo>
                  <a:pt x="0" y="0"/>
                </a:lnTo>
                <a:lnTo>
                  <a:pt x="0" y="76200"/>
                </a:lnTo>
                <a:close/>
              </a:path>
            </a:pathLst>
          </a:custGeom>
          <a:solidFill xmlns:a="http://schemas.openxmlformats.org/drawingml/2006/main">
            <a:srgbClr val="172C36"/>
          </a:solidFill>
          <a:ln xmlns:a="http://schemas.openxmlformats.org/drawingml/2006/main" w="9525">
            <a:solidFill>
              <a:srgbClr val="172C36"/>
            </a:solidFill>
          </a:ln>
        </p:spPr>
      </p:sp>
      <p:sp>
        <p:nvSpPr>
          <p:cNvPr id="10" name="text-93">
            <a:extLst xmlns:a="http://schemas.openxmlformats.org/drawingml/2006/main">
              <a:ext uri="{FF2B5EF4-FFF2-40B4-BE49-F238E27FC236}">
                <a16:creationId xmlns:a16="http://schemas.microsoft.com/office/drawing/2014/main" id="{5B2EB646-8ED2-436E-9951-1228BF9DF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2438400"/>
            <a:ext cx="193357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5A8A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5A8A55"/>
                </a:solidFill>
                <a:latin typeface="Helvetica Neue"/>
                <a:ea typeface="Helvetica Neue"/>
                <a:cs typeface="Helvetica Neue"/>
              </a:rPr>
              <a:t>9 days</a:t>
            </a:r>
          </a:p>
        </p:txBody>
      </p:sp>
      <p:graphicFrame>
        <p:nvGraphicFramePr>
          <p:cNvPr id="25" name=""/>
          <p:cNvGraphicFramePr/>
          <p:nvPr/>
        </p:nvGraphicFramePr>
        <p:xfrm>
          <a:off xmlns:a="http://schemas.openxmlformats.org/drawingml/2006/main" x="609600" y="3133725"/>
          <a:ext xmlns:a="http://schemas.openxmlformats.org/drawingml/2006/main" cx="10972800" cy="2238375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3295650"/>
                <a:gridCol w="4000500"/>
                <a:gridCol w="3676650"/>
              </a:tblGrid>
              <a:tr h="746125">
                <a:tc>
                  <a:txBody>
                    <a:bodyPr lIns="152400" tIns="114300" rIns="152400" bIns="114300"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172C3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Reviewed policy</a:t>
                      </a:r>
                    </a:p>
                  </a:txBody>
                  <a:tcPr marL="91440" marR="91440" marT="45720" marB="45720" anchor="ctr">
                    <a:solidFill>
                      <a:srgbClr val="EAF0F6"/>
                    </a:solidFill>
                  </a:tcPr>
                </a:tc>
                <a:tc>
                  <a:txBody>
                    <a:bodyPr lIns="152400" tIns="114300" rIns="152400" bIns="114300"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172C3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Revocation unknown</a:t>
                      </a:r>
                    </a:p>
                  </a:txBody>
                  <a:tcPr marL="91440" marR="91440" marT="45720" marB="45720" anchor="ctr">
                    <a:solidFill>
                      <a:srgbClr val="EAF0F6"/>
                    </a:solidFill>
                  </a:tcPr>
                </a:tc>
                <a:tc>
                  <a:txBody>
                    <a:bodyPr lIns="152400" tIns="114300" rIns="152400" bIns="114300"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172C3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Result for this route</a:t>
                      </a:r>
                    </a:p>
                  </a:txBody>
                  <a:tcPr marL="91440" marR="91440" marT="45720" marB="45720" anchor="ctr">
                    <a:solidFill>
                      <a:srgbClr val="EAF0F6"/>
                    </a:solidFill>
                  </a:tcPr>
                </a:tc>
              </a:tr>
              <a:tr h="746125">
                <a:tc>
                  <a:txBody>
                    <a:bodyPr lIns="152400" tIns="114300" rIns="152400" bIns="11430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72C3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Exception needs</a:t>
                      </a:r>
                    </a:p>
                    <a:p>
                      <a:r>
                        <a:rPr sz="1875" b="0">
                          <a:solidFill>
                            <a:srgbClr val="172C3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supporting evidence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52400" tIns="114300" rIns="152400" bIns="11430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72C3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No qualified exception</a:t>
                      </a:r>
                    </a:p>
                    <a:p>
                      <a:r>
                        <a:rPr sz="1875" b="0">
                          <a:solidFill>
                            <a:srgbClr val="172C3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argument available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52400" tIns="114300" rIns="152400" bIns="11430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72C3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Accepted under default*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746125">
                <a:tc>
                  <a:txBody>
                    <a:bodyPr lIns="152400" tIns="114300" rIns="152400" bIns="11430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72C3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Explicit absence</a:t>
                      </a:r>
                    </a:p>
                    <a:p>
                      <a:r>
                        <a:rPr sz="1875" b="0">
                          <a:solidFill>
                            <a:srgbClr val="172C3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is required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52400" tIns="114300" rIns="152400" bIns="11430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72C3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No evidence that payment</a:t>
                      </a:r>
                    </a:p>
                    <a:p>
                      <a:r>
                        <a:rPr sz="1875" b="0">
                          <a:solidFill>
                            <a:srgbClr val="172C3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was not revoked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52400" tIns="114300" rIns="152400" bIns="11430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72C3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Missing premise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-94">
            <a:extLst xmlns:a="http://schemas.openxmlformats.org/drawingml/2006/main">
              <a:ext uri="{FF2B5EF4-FFF2-40B4-BE49-F238E27FC236}">
                <a16:creationId xmlns:a16="http://schemas.microsoft.com/office/drawing/2014/main" id="{E8AA0136-0051-48D2-939A-C83B582B0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34025"/>
            <a:ext cx="10972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566B7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0">
                <a:solidFill>
                  <a:srgbClr val="566B76"/>
                </a:solidFill>
                <a:latin typeface="Helvetica Neue"/>
                <a:ea typeface="Helvetica Neue"/>
                <a:cs typeface="Helvetica Neue"/>
              </a:rPr>
              <a:t>* Report the default and the unknown exception together.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2B20E65-FEC2-46EE-AE86-B3521C5BB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609600" y="60483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7E0E5"/>
            </a:solidFill>
            <a:prstDash val="solid"/>
          </a:ln>
        </p:spPr>
      </p:sp>
      <p:sp>
        <p:nvSpPr>
          <p:cNvPr id="14" name="text-95">
            <a:extLst xmlns:a="http://schemas.openxmlformats.org/drawingml/2006/main">
              <a:ext uri="{FF2B5EF4-FFF2-40B4-BE49-F238E27FC236}">
                <a16:creationId xmlns:a16="http://schemas.microsoft.com/office/drawing/2014/main" id="{F2A54E3B-FABF-4B50-93A3-DDFC42D35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81725"/>
            <a:ext cx="101441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66B7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66B76"/>
                </a:solidFill>
                <a:latin typeface="Helvetica Neue"/>
                <a:ea typeface="Helvetica Neue"/>
                <a:cs typeface="Helvetica Neue"/>
              </a:rPr>
              <a:t>All other required premises hold in this example. The result concerns one termination ground, not the whole case.</a:t>
            </a:r>
          </a:p>
        </p:txBody>
      </p:sp>
    </p:spTree>
    <p:extLst>
      <p:ext uri="{BB962C8B-B14F-4D97-AF65-F5344CB8AC3E}">
        <p14:creationId xmlns:p14="http://schemas.microsoft.com/office/powerpoint/2010/main" val="97499747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96">
            <a:extLst xmlns:a="http://schemas.openxmlformats.org/drawingml/2006/main">
              <a:ext uri="{FF2B5EF4-FFF2-40B4-BE49-F238E27FC236}">
                <a16:creationId xmlns:a16="http://schemas.microsoft.com/office/drawing/2014/main" id="{4AE227D2-8767-4004-B852-DC1F09228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972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rPr>
              <a:t>First prototype and research hypothesis</a:t>
            </a:r>
          </a:p>
        </p:txBody>
      </p:sp>
      <p:sp>
        <p:nvSpPr>
          <p:cNvPr id="2" name="text-97">
            <a:extLst xmlns:a="http://schemas.openxmlformats.org/drawingml/2006/main">
              <a:ext uri="{FF2B5EF4-FFF2-40B4-BE49-F238E27FC236}">
                <a16:creationId xmlns:a16="http://schemas.microsoft.com/office/drawing/2014/main" id="{1945CD80-4311-4575-8A77-8FBD03550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47750"/>
            <a:ext cx="1097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566B7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566B76"/>
                </a:solidFill>
                <a:latin typeface="Helvetica Neue"/>
                <a:ea typeface="Helvetica Neue"/>
                <a:cs typeface="Helvetica Neue"/>
              </a:rPr>
              <a:t>Can use-specific checks preserve valid evidence while reducing semantic errors?</a:t>
            </a:r>
          </a:p>
        </p:txBody>
      </p:sp>
      <p:sp>
        <p:nvSpPr>
          <p:cNvPr id="3" name="text-98">
            <a:extLst xmlns:a="http://schemas.openxmlformats.org/drawingml/2006/main">
              <a:ext uri="{FF2B5EF4-FFF2-40B4-BE49-F238E27FC236}">
                <a16:creationId xmlns:a16="http://schemas.microsoft.com/office/drawing/2014/main" id="{4D9B345F-AD29-4CA3-B112-7DAAC9648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38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66B7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66B76"/>
                </a:solidFill>
                <a:latin typeface="Helvetica Neue"/>
                <a:ea typeface="Helvetica Neue"/>
                <a:cs typeface="Helvetica Neue"/>
              </a:rPr>
              <a:t>08</a:t>
            </a:r>
          </a:p>
        </p:txBody>
      </p:sp>
      <p:sp>
        <p:nvSpPr>
          <p:cNvPr id="4" name="text-99">
            <a:extLst xmlns:a="http://schemas.openxmlformats.org/drawingml/2006/main">
              <a:ext uri="{FF2B5EF4-FFF2-40B4-BE49-F238E27FC236}">
                <a16:creationId xmlns:a16="http://schemas.microsoft.com/office/drawing/2014/main" id="{FC93F848-5536-4F3A-AA14-59A758D12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71650"/>
            <a:ext cx="54768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2325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rPr>
              <a:t>First implementation</a:t>
            </a:r>
          </a:p>
        </p:txBody>
      </p:sp>
      <p:sp>
        <p:nvSpPr>
          <p:cNvPr id="5" name="text-100">
            <a:extLst xmlns:a="http://schemas.openxmlformats.org/drawingml/2006/main">
              <a:ext uri="{FF2B5EF4-FFF2-40B4-BE49-F238E27FC236}">
                <a16:creationId xmlns:a16="http://schemas.microsoft.com/office/drawing/2014/main" id="{B16338B0-889A-45FA-9FF5-872239094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05075"/>
            <a:ext cx="6296025" cy="144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72C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172C36"/>
                </a:solidFill>
                <a:latin typeface="Helvetica Neue"/>
                <a:ea typeface="Helvetica Neue"/>
                <a:cs typeface="Helvetica Neue"/>
              </a:rPr>
              <a:t>One issue and procedural stage</a:t>
            </a:r>
          </a:p>
          <a:p xmlns:a="http://schemas.openxmlformats.org/drawingml/2006/main">
            <a:pPr algn="l">
              <a:defRPr sz="2100" b="0">
                <a:solidFill>
                  <a:srgbClr val="172C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172C36"/>
                </a:solidFill>
                <a:latin typeface="Helvetica Neue"/>
                <a:ea typeface="Helvetica Neue"/>
                <a:cs typeface="Helvetica Neue"/>
              </a:rPr>
              <a:t>Shared facts, definitions and identities</a:t>
            </a:r>
          </a:p>
          <a:p xmlns:a="http://schemas.openxmlformats.org/drawingml/2006/main">
            <a:pPr algn="l">
              <a:defRPr sz="2100" b="0">
                <a:solidFill>
                  <a:srgbClr val="172C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172C36"/>
                </a:solidFill>
                <a:latin typeface="Helvetica Neue"/>
                <a:ea typeface="Helvetica Neue"/>
                <a:cs typeface="Helvetica Neue"/>
              </a:rPr>
              <a:t>Executable relations and a small rule package</a:t>
            </a:r>
          </a:p>
        </p:txBody>
      </p:sp>
      <p:sp>
        <p:nvSpPr>
          <p:cNvPr id="6" name="text-101">
            <a:extLst xmlns:a="http://schemas.openxmlformats.org/drawingml/2006/main">
              <a:ext uri="{FF2B5EF4-FFF2-40B4-BE49-F238E27FC236}">
                <a16:creationId xmlns:a16="http://schemas.microsoft.com/office/drawing/2014/main" id="{DF607313-C66C-4996-9B69-AC8FEF49B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8575" y="1771650"/>
            <a:ext cx="39338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2325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rPr>
              <a:t>Critical comparison</a:t>
            </a:r>
          </a:p>
        </p:txBody>
      </p:sp>
      <p:sp>
        <p:nvSpPr>
          <p:cNvPr id="7" name="text-102">
            <a:extLst xmlns:a="http://schemas.openxmlformats.org/drawingml/2006/main">
              <a:ext uri="{FF2B5EF4-FFF2-40B4-BE49-F238E27FC236}">
                <a16:creationId xmlns:a16="http://schemas.microsoft.com/office/drawing/2014/main" id="{4779BEFF-C89C-4A31-A201-E9ED012FA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8575" y="2505075"/>
            <a:ext cx="3933825" cy="144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C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172C36"/>
                </a:solidFill>
                <a:latin typeface="Helvetica Neue"/>
                <a:ea typeface="Helvetica Neue"/>
                <a:cs typeface="Helvetica Neue"/>
              </a:rPr>
              <a:t>Ignore the qualifier</a:t>
            </a:r>
          </a:p>
          <a:p xmlns:a="http://schemas.openxmlformats.org/drawingml/2006/main">
            <a:pPr algn="l">
              <a:defRPr sz="2025" b="0">
                <a:solidFill>
                  <a:srgbClr val="172C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172C36"/>
                </a:solidFill>
                <a:latin typeface="Helvetica Neue"/>
                <a:ea typeface="Helvetica Neue"/>
                <a:cs typeface="Helvetica Neue"/>
              </a:rPr>
              <a:t>Block the whole assertion</a:t>
            </a:r>
          </a:p>
          <a:p xmlns:a="http://schemas.openxmlformats.org/drawingml/2006/main">
            <a:pPr algn="l">
              <a:defRPr sz="2025" b="0">
                <a:solidFill>
                  <a:srgbClr val="172C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172C36"/>
                </a:solidFill>
                <a:latin typeface="Helvetica Neue"/>
                <a:ea typeface="Helvetica Neue"/>
                <a:cs typeface="Helvetica Neue"/>
              </a:rPr>
              <a:t>Block only affected uses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5999868-5FB5-436D-AED2-097B0609D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609600" y="44100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7E0E5"/>
            </a:solidFill>
            <a:prstDash val="solid"/>
          </a:ln>
        </p:spPr>
      </p:sp>
      <p:sp>
        <p:nvSpPr>
          <p:cNvPr id="9" name="text-103">
            <a:extLst xmlns:a="http://schemas.openxmlformats.org/drawingml/2006/main">
              <a:ext uri="{FF2B5EF4-FFF2-40B4-BE49-F238E27FC236}">
                <a16:creationId xmlns:a16="http://schemas.microsoft.com/office/drawing/2014/main" id="{AD056E15-CB54-4028-B544-69D8E597B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3429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rPr>
              <a:t>Evaluate together</a:t>
            </a:r>
          </a:p>
        </p:txBody>
      </p:sp>
      <p:sp>
        <p:nvSpPr>
          <p:cNvPr id="10" name="text-104">
            <a:extLst xmlns:a="http://schemas.openxmlformats.org/drawingml/2006/main">
              <a:ext uri="{FF2B5EF4-FFF2-40B4-BE49-F238E27FC236}">
                <a16:creationId xmlns:a16="http://schemas.microsoft.com/office/drawing/2014/main" id="{24A29B5E-38BF-46C6-B605-F36DBD560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4657725"/>
            <a:ext cx="7439025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72C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172C36"/>
                </a:solidFill>
                <a:latin typeface="Helvetica Neue"/>
                <a:ea typeface="Helvetica Neue"/>
                <a:cs typeface="Helvetica Neue"/>
              </a:rPr>
              <a:t>Incorrect uses, valid witnesses retained,</a:t>
            </a:r>
          </a:p>
          <a:p xmlns:a="http://schemas.openxmlformats.org/drawingml/2006/main">
            <a:pPr algn="l">
              <a:defRPr sz="2100" b="0">
                <a:solidFill>
                  <a:srgbClr val="172C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172C36"/>
                </a:solidFill>
                <a:latin typeface="Helvetica Neue"/>
                <a:ea typeface="Helvetica Neue"/>
                <a:cs typeface="Helvetica Neue"/>
              </a:rPr>
              <a:t>unresolved cases and review time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5CC8A73-A99C-4CF4-B689-CD7EDCCEA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609600" y="60483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7E0E5"/>
            </a:solidFill>
            <a:prstDash val="solid"/>
          </a:ln>
        </p:spPr>
      </p:sp>
      <p:sp>
        <p:nvSpPr>
          <p:cNvPr id="12" name="text-105">
            <a:extLst xmlns:a="http://schemas.openxmlformats.org/drawingml/2006/main">
              <a:ext uri="{FF2B5EF4-FFF2-40B4-BE49-F238E27FC236}">
                <a16:creationId xmlns:a16="http://schemas.microsoft.com/office/drawing/2014/main" id="{F8466FE7-A77F-4F5C-86D2-655B7A946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81725"/>
            <a:ext cx="101441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66B7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66B76"/>
                </a:solidFill>
                <a:latin typeface="Helvetica Neue"/>
                <a:ea typeface="Helvetica Neue"/>
                <a:cs typeface="Helvetica Neue"/>
              </a:rPr>
              <a:t>Freeze before confirmation. Outcome association requires audited labels. No empirical superiority or novelty claim yet.</a:t>
            </a:r>
          </a:p>
        </p:txBody>
      </p:sp>
    </p:spTree>
    <p:extLst>
      <p:ext uri="{BB962C8B-B14F-4D97-AF65-F5344CB8AC3E}">
        <p14:creationId xmlns:p14="http://schemas.microsoft.com/office/powerpoint/2010/main" val="1602868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2026-09-29T12:34:51.4340000Z</dcterms:created>
  <dcterms:modified xsi:type="dcterms:W3CDTF">2026-09-29T12:34:51.4340000Z</dcterms:modified>
</coreProperties>
</file>